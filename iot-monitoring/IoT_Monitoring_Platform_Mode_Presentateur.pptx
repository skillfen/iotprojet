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Bonjour à toutes et à tous. Je vais vous présenter notre plateforme de supervision IoT en temps réel. L'objectif est de construire une chaîne complète, depuis la mesure réalisée par des capteurs simulés dans Wokwi jusqu'à la visualisation dans Kibana. Le projet s'appuie sur un ESP32, le protocole MQTT, un traitement Python, Elasticsearch et Kibana. Pendant cette présentation, je vais expliquer l'architecture, la circulation des données, la détection d'anomalies et enfin une démonstration du fonctionnement.</a:t>
            </a:r>
          </a:p>
          <a:p>
            <a:r>
              <a:rPr lang="fr-FR"/>
              <a:t>Repère : environ 40 à 55 secondes.</a:t>
            </a:r>
          </a:p>
          <a:p>
            <a:r>
              <a:rPr lang="fr-FR"/>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problème de départ est simple : une mesure seule n'est pas vraiment exploitable. Il faut pouvoir l'observer, la conserver et réagir lorsqu'elle devient anormale. Notre solution poursuit donc trois objectifs. Premièrement, observer plusieurs paramètres environnementaux. Deuxièmement, détecter les dépassements grâce à des seuils configurables. Troisièmement, agir rapidement avec des alertes visuelles et sonores, tout en gardant un historique pour l'analyse. L'idée principale est de transformer des données brutes en informations utiles à la décision.</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Voici l'architecture globale. La première couche contient les capteurs reliés à l'ESP32. La deuxième couche transporte les messages avec MQTT sur le topic iot/sensors. Ensuite, un consommateur Python récupère les messages, vérifie leur format, ajoute un horodatage et calcule l'état d'anomalie. Les documents sont stockés dans Elasticsearch. Enfin, Kibana permet d'explorer les valeurs et de construire un dashboard. Cette séparation en couches rend la solution plus simple à comprendre, à tester et à faire évoluer.</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Dans Wokwi, l'ESP32 représente le nœud IoT. Le DHT22 mesure la température et l'humidité. Le PIR simule la détection de mouvement, le MQ2 représente le niveau de gaz et la LDR mesure la luminosité. Une LED et un buzzer donnent une alerte locale. Le programme lit périodiquement les capteurs, prépare un message JSON puis le publie. L'avantage de Wokwi est de tester le câblage et les scénarios sans disposer immédiatement du matériel physique.</a:t>
            </a:r>
          </a:p>
          <a:p>
            <a:r>
              <a:rPr lang="fr-FR"/>
              <a:t>Repère : environ 40 à 55 secondes.</a:t>
            </a:r>
          </a:p>
          <a:p>
            <a:r>
              <a:rPr lang="fr-FR"/>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pipeline de données utilise MQTT, un protocole léger adapté à l'IoT. L'ESP32 publie une mesure toutes les cinq secondes sur le topic iot/sensors. Le broker HiveMQ reçoit le message et le transmet aux consommateurs abonnés. Le message JSON contient l'identifiant de l'équipement, les valeurs des capteurs et les états utiles. Le consommateur Python reste indépendant de l'ESP32. Ce découplage permet d'ajouter plus tard plusieurs capteurs ou plusieurs consommateurs sans modifier toute l'architecture.</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La détection d'anomalies repose sur des règles faciles à expliquer. Une température supérieure à 35 degrés ou une humidité supérieure à 80 pour cent déclenche une anomalie. Le niveau de gaz est également comparé à un seuil. Lorsqu'une règle est dépassée, le document est marqué comme anormal et la raison est enregistrée. Une LED ou un buzzer peut aussi réagir localement. Cette méthode par seuils est simple, rapide et transparente, même si elle pourra ensuite évoluer vers une analyse statistique.</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Après traitement, chaque mesure est indexée dans Elasticsearch. Les champs principaux sont l'horodatage, l'identifiant du device, la température, l'humidité, le niveau de gaz, la lumière, le mouvement et le statut d'anomalie. Elasticsearch a été choisi pour sa capacité à indexer rapidement des événements et à effectuer des recherches temporelles. Une API peut ensuite exposer certaines données de manière contrôlée. Cette couche constitue l'historique central de la plateforme et facilite les analyses ultérieures.</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Kibana transforme les documents Elasticsearch en informations visuelles. La vue instantanée affiche les dernières valeurs reçues. La vue historique présente les courbes de température, d'humidité ou de gaz dans le temps. La vue anomalies indique le nombre d'événements anormaux et permet de consulter le document concerné. Pendant la démonstration, je modifierai une valeur dans Wokwi, puis nous observerons son arrivée dans Kibana après quelques secondes.</a:t>
            </a:r>
          </a:p>
          <a:p>
            <a:r>
              <a:rPr lang="fr-FR"/>
              <a:t>Repère : environ 40 à 55 secondes.</a:t>
            </a:r>
          </a:p>
          <a:p>
            <a:r>
              <a:rPr lang="fr-FR"/>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Pour simplifier l'installation, Elasticsearch, Kibana et les autres services locaux sont définis dans Docker Compose. Une seule commande, docker compose up -d, démarre la stack. Elasticsearch est exposé sur le port 9200 et Kibana sur le port 5601. Le consommateur Python peut être lancé séparément, ou ajouté comme service Docker. Cette approche garantit un environnement reproductible : une autre personne peut récupérer le projet et démarrer les mêmes composants avec la même configuration.</a:t>
            </a:r>
          </a:p>
          <a:p>
            <a:r>
              <a:rPr lang="fr-FR"/>
              <a:t>Repère : environ 40 à 55 secondes.</a:t>
            </a:r>
          </a:p>
          <a:p>
            <a:r>
              <a:rPr lang="fr-FR"/>
              <a:t>[Sources]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La stack technique reste volontairement simple. Wokwi assure la simulation. L'ESP32 et le code Arduino réalisent l'acquisition. MQTT transporte les messages. Python effectue la validation et l'enrichissement. Elasticsearch stocke et indexe les événements. Kibana fournit la visualisation. Docker Compose orchestre les services. Chaque outil a donc une responsabilité précise. Cette modularité facilite les tests, le diagnostic d'une erreur et le remplacement futur d'un composant sans reconstruire tout le projet.</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Voici le scénario de démonstration. Je démarre d'abord Docker et le consommateur Python. Ensuite, je lance la simulation Wokwi. Le moniteur série montre les valeurs et le JSON publié toutes les cinq secondes. Dans Kibana Discover, je vérifie que les documents arrivent dans l'index. Puis je règle la température à 40 degrés afin de dépasser le seuil. Le consommateur signale alors une anomalie, et le dashboard affiche la nouvelle valeur ainsi que le statut anormal. Ce scénario valide toute la chaîne de bout en bout.</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Pour conclure, ce projet démontre une chaîne IoT complète et fonctionnelle : acquisition, transport, traitement, stockage, visualisation et alerte. La solution est simple à présenter, mais elle reste extensible. Les améliorations possibles sont l'utilisation d'un broker privé sécurisé, l'ajout de Centreon, la détection d'une perte de connexion, l'envoi de notifications et une détection d'anomalies plus intelligente. Le principal résultat est d'avoir transformé des mesures simulées en une plateforme de supervision claire et exploitable. Merci pour votre attention.</a:t>
            </a:r>
          </a:p>
          <a:p>
            <a:r>
              <a:rPr lang="fr-FR"/>
              <a:t>Repère : environ 40 à 55 secondes.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9D3C5"/>
          </a:solidFill>
          <a:ln w="12700">
            <a:solidFill>
              <a:srgbClr val="19D3C5"/>
            </a:solidFill>
            <a:prstDash val="solid"/>
          </a:ln>
        </p:spPr>
      </p:sp>
      <p:sp>
        <p:nvSpPr>
          <p:cNvPr id="3" name="Text 1"/>
          <p:cNvSpPr/>
          <p:nvPr/>
        </p:nvSpPr>
        <p:spPr>
          <a:xfrm>
            <a:off x="502920" y="6510528"/>
            <a:ext cx="4023360" cy="164592"/>
          </a:xfrm>
          <a:prstGeom prst="rect">
            <a:avLst/>
          </a:prstGeom>
          <a:noFill/>
          <a:ln/>
        </p:spPr>
        <p:txBody>
          <a:bodyPr wrap="square" lIns="0" tIns="0" rIns="0" bIns="0" rtlCol="0" anchor="ctr"/>
          <a:lstStyle/>
          <a:p>
            <a:pPr marL="0" indent="0">
              <a:buNone/>
            </a:pPr>
            <a:r>
              <a:rPr lang="en-US" sz="800" kern="0" spc="130" dirty="0">
                <a:solidFill>
                  <a:srgbClr val="6F8299"/>
                </a:solidFill>
                <a:latin typeface="Aptos" pitchFamily="34" charset="0"/>
                <a:ea typeface="Aptos" pitchFamily="34" charset="-122"/>
                <a:cs typeface="Aptos" pitchFamily="34" charset="-120"/>
              </a:rPr>
              <a:t>IoT MONITORING PLATFORM</a:t>
            </a:r>
            <a:endParaRPr lang="en-US" sz="800" dirty="0"/>
          </a:p>
        </p:txBody>
      </p:sp>
      <p:sp>
        <p:nvSpPr>
          <p:cNvPr id="4" name="Text 2"/>
          <p:cNvSpPr/>
          <p:nvPr/>
        </p:nvSpPr>
        <p:spPr>
          <a:xfrm>
            <a:off x="9875520" y="6510528"/>
            <a:ext cx="1783080" cy="164592"/>
          </a:xfrm>
          <a:prstGeom prst="rect">
            <a:avLst/>
          </a:prstGeom>
          <a:noFill/>
          <a:ln/>
        </p:spPr>
        <p:txBody>
          <a:bodyPr wrap="square" lIns="0" tIns="0" rIns="0" bIns="0" rtlCol="0" anchor="ctr"/>
          <a:lstStyle/>
          <a:p>
            <a:pPr marL="0" indent="0" algn="r">
              <a:buNone/>
            </a:pPr>
            <a:r>
              <a:rPr lang="en-US" sz="800" kern="0" spc="110" dirty="0">
                <a:solidFill>
                  <a:srgbClr val="6F8299"/>
                </a:solidFill>
                <a:latin typeface="Aptos" pitchFamily="34" charset="0"/>
                <a:ea typeface="Aptos" pitchFamily="34" charset="-122"/>
                <a:cs typeface="Aptos" pitchFamily="34" charset="-120"/>
              </a:rPr>
              <a:t>PROJET ACADÉMIQUE</a:t>
            </a:r>
            <a:endParaRPr lang="en-US" sz="8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11F"/>
        </a:solidFill>
        <a:effectLst/>
      </p:bgPr>
    </p:bg>
    <p:spTree>
      <p:nvGrpSpPr>
        <p:cNvPr id="1" name=""/>
        <p:cNvGrpSpPr/>
        <p:nvPr/>
      </p:nvGrpSpPr>
      <p:grpSpPr>
        <a:xfrm>
          <a:off x="0" y="0"/>
          <a:ext cx="1" cy="1"/>
          <a:chOff x="0" y="0"/>
          <a:chExt cx="1" cy="1"/>
        </a:xfrm>
      </p:grpSpPr>
      <p:pic>
        <p:nvPicPr>
          <p:cNvPr id="2" name="Image 0" descr="/mnt/data/2f943cf230.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6101D">
              <a:alpha val="70000"/>
            </a:srgbClr>
          </a:solidFill>
          <a:ln w="12700">
            <a:solidFill>
              <a:srgbClr val="06101D">
                <a:alpha val="0"/>
              </a:srgbClr>
            </a:solidFill>
            <a:prstDash val="solid"/>
          </a:ln>
        </p:spPr>
      </p:sp>
      <p:sp>
        <p:nvSpPr>
          <p:cNvPr id="4" name="Shape 1"/>
          <p:cNvSpPr/>
          <p:nvPr/>
        </p:nvSpPr>
        <p:spPr>
          <a:xfrm>
            <a:off x="0" y="0"/>
            <a:ext cx="6949440" cy="6858000"/>
          </a:xfrm>
          <a:prstGeom prst="rect">
            <a:avLst/>
          </a:prstGeom>
          <a:solidFill>
            <a:srgbClr val="06101D">
              <a:alpha val="96000"/>
            </a:srgbClr>
          </a:solidFill>
          <a:ln w="12700">
            <a:solidFill>
              <a:srgbClr val="06101D">
                <a:alpha val="0"/>
              </a:srgbClr>
            </a:solidFill>
            <a:prstDash val="solid"/>
          </a:ln>
        </p:spPr>
      </p:sp>
      <p:sp>
        <p:nvSpPr>
          <p:cNvPr id="5" name="Text 2"/>
          <p:cNvSpPr/>
          <p:nvPr/>
        </p:nvSpPr>
        <p:spPr>
          <a:xfrm>
            <a:off x="658368" y="640080"/>
            <a:ext cx="5212080" cy="256032"/>
          </a:xfrm>
          <a:prstGeom prst="rect">
            <a:avLst/>
          </a:prstGeom>
          <a:noFill/>
          <a:ln/>
        </p:spPr>
        <p:txBody>
          <a:bodyPr wrap="square" lIns="0" tIns="0" rIns="0" bIns="0" rtlCol="0" anchor="ctr"/>
          <a:lstStyle/>
          <a:p>
            <a:pPr marL="0" indent="0">
              <a:buNone/>
            </a:pPr>
            <a:r>
              <a:rPr lang="en-US" sz="1100" b="1" kern="0" spc="220" dirty="0">
                <a:solidFill>
                  <a:srgbClr val="19D3C5"/>
                </a:solidFill>
              </a:rPr>
              <a:t>IOT MONITORING PLATFORM</a:t>
            </a:r>
            <a:endParaRPr lang="en-US" sz="1100" dirty="0"/>
          </a:p>
        </p:txBody>
      </p:sp>
      <p:sp>
        <p:nvSpPr>
          <p:cNvPr id="6" name="Text 3"/>
          <p:cNvSpPr/>
          <p:nvPr/>
        </p:nvSpPr>
        <p:spPr>
          <a:xfrm>
            <a:off x="640080" y="1143000"/>
            <a:ext cx="5715000" cy="1234440"/>
          </a:xfrm>
          <a:prstGeom prst="rect">
            <a:avLst/>
          </a:prstGeom>
          <a:noFill/>
          <a:ln/>
        </p:spPr>
        <p:txBody>
          <a:bodyPr wrap="square" lIns="0" tIns="0" rIns="0" bIns="0" rtlCol="0" anchor="ctr">
            <a:normAutofit/>
          </a:bodyPr>
          <a:lstStyle/>
          <a:p>
            <a:pPr marL="0" indent="0">
              <a:buNone/>
            </a:pPr>
            <a:r>
              <a:rPr lang="en-US" sz="3600" b="1" dirty="0">
                <a:solidFill>
                  <a:srgbClr val="F4F8FC"/>
                </a:solidFill>
              </a:rPr>
              <a:t>Surveillance environnementale intelligente</a:t>
            </a:r>
            <a:endParaRPr lang="en-US" sz="3600" dirty="0"/>
          </a:p>
        </p:txBody>
      </p:sp>
      <p:sp>
        <p:nvSpPr>
          <p:cNvPr id="7" name="Text 4"/>
          <p:cNvSpPr/>
          <p:nvPr/>
        </p:nvSpPr>
        <p:spPr>
          <a:xfrm>
            <a:off x="658368" y="2633472"/>
            <a:ext cx="5440680" cy="384048"/>
          </a:xfrm>
          <a:prstGeom prst="rect">
            <a:avLst/>
          </a:prstGeom>
          <a:noFill/>
          <a:ln/>
        </p:spPr>
        <p:txBody>
          <a:bodyPr wrap="square" lIns="0" tIns="0" rIns="0" bIns="0" rtlCol="0" anchor="ctr"/>
          <a:lstStyle/>
          <a:p>
            <a:pPr marL="0" indent="0">
              <a:buNone/>
            </a:pPr>
            <a:r>
              <a:rPr lang="en-US" sz="1700" b="1" dirty="0">
                <a:solidFill>
                  <a:srgbClr val="21C7E8"/>
                </a:solidFill>
              </a:rPr>
              <a:t>ESP32  •  MQTT  •  Elasticsearch  •  Kibana</a:t>
            </a:r>
            <a:endParaRPr lang="en-US" sz="1700" dirty="0"/>
          </a:p>
        </p:txBody>
      </p:sp>
      <p:sp>
        <p:nvSpPr>
          <p:cNvPr id="8" name="Text 5"/>
          <p:cNvSpPr/>
          <p:nvPr/>
        </p:nvSpPr>
        <p:spPr>
          <a:xfrm>
            <a:off x="658368" y="3246120"/>
            <a:ext cx="5257800" cy="685800"/>
          </a:xfrm>
          <a:prstGeom prst="rect">
            <a:avLst/>
          </a:prstGeom>
          <a:noFill/>
          <a:ln/>
        </p:spPr>
        <p:txBody>
          <a:bodyPr wrap="square" lIns="0" tIns="0" rIns="0" bIns="0" rtlCol="0" anchor="ctr"/>
          <a:lstStyle/>
          <a:p>
            <a:pPr marL="0" indent="0">
              <a:buNone/>
            </a:pPr>
            <a:r>
              <a:rPr lang="en-US" sz="1800" dirty="0">
                <a:solidFill>
                  <a:srgbClr val="C6D3E0"/>
                </a:solidFill>
              </a:rPr>
              <a:t>Une chaîne complète de la mesure terrain à la décision en temps réel.</a:t>
            </a:r>
            <a:endParaRPr lang="en-US" sz="1800" dirty="0"/>
          </a:p>
        </p:txBody>
      </p:sp>
      <p:sp>
        <p:nvSpPr>
          <p:cNvPr id="9" name="Shape 6"/>
          <p:cNvSpPr/>
          <p:nvPr/>
        </p:nvSpPr>
        <p:spPr>
          <a:xfrm>
            <a:off x="658368" y="4297680"/>
            <a:ext cx="1508760" cy="310896"/>
          </a:xfrm>
          <a:prstGeom prst="roundRect">
            <a:avLst>
              <a:gd name="adj" fmla="val 35294"/>
            </a:avLst>
          </a:prstGeom>
          <a:solidFill>
            <a:srgbClr val="19D3C5">
              <a:alpha val="16000"/>
            </a:srgbClr>
          </a:solidFill>
          <a:ln w="12700">
            <a:solidFill>
              <a:srgbClr val="19D3C5"/>
            </a:solidFill>
            <a:prstDash val="solid"/>
          </a:ln>
        </p:spPr>
      </p:sp>
      <p:sp>
        <p:nvSpPr>
          <p:cNvPr id="10" name="Text 7"/>
          <p:cNvSpPr/>
          <p:nvPr/>
        </p:nvSpPr>
        <p:spPr>
          <a:xfrm>
            <a:off x="658368" y="4357116"/>
            <a:ext cx="1508760" cy="137160"/>
          </a:xfrm>
          <a:prstGeom prst="rect">
            <a:avLst/>
          </a:prstGeom>
          <a:noFill/>
          <a:ln/>
        </p:spPr>
        <p:txBody>
          <a:bodyPr wrap="square" lIns="0" tIns="0" rIns="0" bIns="0" rtlCol="0" anchor="ctr"/>
          <a:lstStyle/>
          <a:p>
            <a:pPr marL="0" indent="0" algn="ctr">
              <a:buNone/>
            </a:pPr>
            <a:r>
              <a:rPr lang="en-US" sz="950" b="1" dirty="0">
                <a:solidFill>
                  <a:srgbClr val="19D3C5"/>
                </a:solidFill>
              </a:rPr>
              <a:t>SIMULATION WOKWI</a:t>
            </a:r>
            <a:endParaRPr lang="en-US" sz="950" dirty="0"/>
          </a:p>
        </p:txBody>
      </p:sp>
      <p:sp>
        <p:nvSpPr>
          <p:cNvPr id="11" name="Shape 8"/>
          <p:cNvSpPr/>
          <p:nvPr/>
        </p:nvSpPr>
        <p:spPr>
          <a:xfrm>
            <a:off x="2331720" y="4297680"/>
            <a:ext cx="1554480" cy="310896"/>
          </a:xfrm>
          <a:prstGeom prst="roundRect">
            <a:avLst>
              <a:gd name="adj" fmla="val 35294"/>
            </a:avLst>
          </a:prstGeom>
          <a:solidFill>
            <a:srgbClr val="FFB547">
              <a:alpha val="16000"/>
            </a:srgbClr>
          </a:solidFill>
          <a:ln w="12700">
            <a:solidFill>
              <a:srgbClr val="FFB547"/>
            </a:solidFill>
            <a:prstDash val="solid"/>
          </a:ln>
        </p:spPr>
      </p:sp>
      <p:sp>
        <p:nvSpPr>
          <p:cNvPr id="12" name="Text 9"/>
          <p:cNvSpPr/>
          <p:nvPr/>
        </p:nvSpPr>
        <p:spPr>
          <a:xfrm>
            <a:off x="2331720" y="4357116"/>
            <a:ext cx="1554480" cy="137160"/>
          </a:xfrm>
          <a:prstGeom prst="rect">
            <a:avLst/>
          </a:prstGeom>
          <a:noFill/>
          <a:ln/>
        </p:spPr>
        <p:txBody>
          <a:bodyPr wrap="square" lIns="0" tIns="0" rIns="0" bIns="0" rtlCol="0" anchor="ctr"/>
          <a:lstStyle/>
          <a:p>
            <a:pPr marL="0" indent="0" algn="ctr">
              <a:buNone/>
            </a:pPr>
            <a:r>
              <a:rPr lang="en-US" sz="950" b="1" dirty="0">
                <a:solidFill>
                  <a:srgbClr val="FFB547"/>
                </a:solidFill>
              </a:rPr>
              <a:t>TEMPS RÉEL</a:t>
            </a:r>
            <a:endParaRPr lang="en-US" sz="950" dirty="0"/>
          </a:p>
        </p:txBody>
      </p:sp>
      <p:sp>
        <p:nvSpPr>
          <p:cNvPr id="13" name="Shape 10"/>
          <p:cNvSpPr/>
          <p:nvPr/>
        </p:nvSpPr>
        <p:spPr>
          <a:xfrm>
            <a:off x="4050792" y="4297680"/>
            <a:ext cx="1508760" cy="310896"/>
          </a:xfrm>
          <a:prstGeom prst="roundRect">
            <a:avLst>
              <a:gd name="adj" fmla="val 35294"/>
            </a:avLst>
          </a:prstGeom>
          <a:solidFill>
            <a:srgbClr val="3DDC97">
              <a:alpha val="16000"/>
            </a:srgbClr>
          </a:solidFill>
          <a:ln w="12700">
            <a:solidFill>
              <a:srgbClr val="3DDC97"/>
            </a:solidFill>
            <a:prstDash val="solid"/>
          </a:ln>
        </p:spPr>
      </p:sp>
      <p:sp>
        <p:nvSpPr>
          <p:cNvPr id="14" name="Text 11"/>
          <p:cNvSpPr/>
          <p:nvPr/>
        </p:nvSpPr>
        <p:spPr>
          <a:xfrm>
            <a:off x="4050792" y="4357116"/>
            <a:ext cx="1508760" cy="137160"/>
          </a:xfrm>
          <a:prstGeom prst="rect">
            <a:avLst/>
          </a:prstGeom>
          <a:noFill/>
          <a:ln/>
        </p:spPr>
        <p:txBody>
          <a:bodyPr wrap="square" lIns="0" tIns="0" rIns="0" bIns="0" rtlCol="0" anchor="ctr"/>
          <a:lstStyle/>
          <a:p>
            <a:pPr marL="0" indent="0" algn="ctr">
              <a:buNone/>
            </a:pPr>
            <a:r>
              <a:rPr lang="en-US" sz="950" b="1" dirty="0">
                <a:solidFill>
                  <a:srgbClr val="3DDC97"/>
                </a:solidFill>
              </a:rPr>
              <a:t>STACK DOCKER</a:t>
            </a:r>
            <a:endParaRPr lang="en-US" sz="950" dirty="0"/>
          </a:p>
        </p:txBody>
      </p:sp>
      <p:sp>
        <p:nvSpPr>
          <p:cNvPr id="15" name="Text 12"/>
          <p:cNvSpPr/>
          <p:nvPr/>
        </p:nvSpPr>
        <p:spPr>
          <a:xfrm>
            <a:off x="658368" y="5989320"/>
            <a:ext cx="4023360" cy="274320"/>
          </a:xfrm>
          <a:prstGeom prst="rect">
            <a:avLst/>
          </a:prstGeom>
          <a:noFill/>
          <a:ln/>
        </p:spPr>
        <p:txBody>
          <a:bodyPr wrap="square" lIns="0" tIns="0" rIns="0" bIns="0" rtlCol="0" anchor="ctr"/>
          <a:lstStyle/>
          <a:p>
            <a:pPr marL="0" indent="0">
              <a:buNone/>
            </a:pPr>
            <a:r>
              <a:rPr lang="en-US" sz="1100" dirty="0">
                <a:solidFill>
                  <a:srgbClr val="9DB0C4"/>
                </a:solidFill>
              </a:rPr>
              <a:t>Projet académique • Démo technique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PROBLÉMATIQUE &amp; OBJECTIFS</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Pourquoi une surveillance environnementale intelligente ?</a:t>
            </a:r>
            <a:endParaRPr lang="en-US" sz="2700" dirty="0"/>
          </a:p>
        </p:txBody>
      </p:sp>
      <p:sp>
        <p:nvSpPr>
          <p:cNvPr id="4" name="Text 2"/>
          <p:cNvSpPr/>
          <p:nvPr/>
        </p:nvSpPr>
        <p:spPr>
          <a:xfrm>
            <a:off x="576072" y="1234440"/>
            <a:ext cx="7680960" cy="384048"/>
          </a:xfrm>
          <a:prstGeom prst="rect">
            <a:avLst/>
          </a:prstGeom>
          <a:noFill/>
          <a:ln/>
        </p:spPr>
        <p:txBody>
          <a:bodyPr wrap="square" lIns="0" tIns="0" rIns="0" bIns="0" rtlCol="0" anchor="ctr"/>
          <a:lstStyle/>
          <a:p>
            <a:pPr marL="0" indent="0">
              <a:buNone/>
            </a:pPr>
            <a:r>
              <a:rPr lang="en-US" sz="1600" dirty="0">
                <a:solidFill>
                  <a:srgbClr val="9DB0C4"/>
                </a:solidFill>
              </a:rPr>
              <a:t>Transformer des mesures isolées en signaux exploitables, visibles et actionnables.</a:t>
            </a:r>
            <a:endParaRPr lang="en-US" sz="1600" dirty="0"/>
          </a:p>
        </p:txBody>
      </p:sp>
      <p:sp>
        <p:nvSpPr>
          <p:cNvPr id="5" name="Shape 3"/>
          <p:cNvSpPr/>
          <p:nvPr/>
        </p:nvSpPr>
        <p:spPr>
          <a:xfrm>
            <a:off x="594360" y="1874520"/>
            <a:ext cx="3547872" cy="3246120"/>
          </a:xfrm>
          <a:prstGeom prst="roundRect">
            <a:avLst>
              <a:gd name="adj" fmla="val 2254"/>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6" name="Shape 4"/>
          <p:cNvSpPr/>
          <p:nvPr/>
        </p:nvSpPr>
        <p:spPr>
          <a:xfrm>
            <a:off x="594360" y="1874520"/>
            <a:ext cx="54864" cy="3246120"/>
          </a:xfrm>
          <a:prstGeom prst="rect">
            <a:avLst/>
          </a:prstGeom>
          <a:solidFill>
            <a:srgbClr val="21C7E8"/>
          </a:solidFill>
          <a:ln w="12700">
            <a:solidFill>
              <a:srgbClr val="21C7E8"/>
            </a:solidFill>
            <a:prstDash val="solid"/>
          </a:ln>
        </p:spPr>
      </p:sp>
      <p:sp>
        <p:nvSpPr>
          <p:cNvPr id="7" name="Text 5"/>
          <p:cNvSpPr/>
          <p:nvPr/>
        </p:nvSpPr>
        <p:spPr>
          <a:xfrm>
            <a:off x="822960" y="2075688"/>
            <a:ext cx="3136392" cy="256032"/>
          </a:xfrm>
          <a:prstGeom prst="rect">
            <a:avLst/>
          </a:prstGeom>
          <a:noFill/>
          <a:ln/>
        </p:spPr>
        <p:txBody>
          <a:bodyPr wrap="square" lIns="0" tIns="0" rIns="0" bIns="0" rtlCol="0" anchor="ctr"/>
          <a:lstStyle/>
          <a:p>
            <a:pPr marL="0" indent="0">
              <a:buNone/>
            </a:pPr>
            <a:r>
              <a:rPr lang="en-US" sz="1600" b="1" dirty="0">
                <a:solidFill>
                  <a:srgbClr val="F4F8FC"/>
                </a:solidFill>
              </a:rPr>
              <a:t>Observer</a:t>
            </a:r>
            <a:endParaRPr lang="en-US" sz="1600" dirty="0"/>
          </a:p>
        </p:txBody>
      </p:sp>
      <p:sp>
        <p:nvSpPr>
          <p:cNvPr id="8" name="Text 6"/>
          <p:cNvSpPr/>
          <p:nvPr/>
        </p:nvSpPr>
        <p:spPr>
          <a:xfrm>
            <a:off x="822960" y="2459736"/>
            <a:ext cx="3108960" cy="2487168"/>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 Mesurer température, humidité, gaz, lumière et mouvement</a:t>
            </a:r>
            <a:endParaRPr lang="en-US" sz="1150" dirty="0"/>
          </a:p>
          <a:p>
            <a:pPr marL="0" indent="0">
              <a:buNone/>
            </a:pPr>
            <a:r>
              <a:rPr lang="en-US" sz="1150" dirty="0">
                <a:solidFill>
                  <a:srgbClr val="9DB0C4"/>
                </a:solidFill>
              </a:rPr>
              <a:t>• Publier une télémétrie structurée toutes les 5 secondes</a:t>
            </a:r>
            <a:endParaRPr lang="en-US" sz="1150" dirty="0"/>
          </a:p>
          <a:p>
            <a:pPr marL="0" indent="0">
              <a:buNone/>
            </a:pPr>
            <a:r>
              <a:rPr lang="en-US" sz="1150" dirty="0">
                <a:solidFill>
                  <a:srgbClr val="9DB0C4"/>
                </a:solidFill>
              </a:rPr>
              <a:t>• Conserver un historique exploitable</a:t>
            </a:r>
            <a:endParaRPr lang="en-US" sz="1150" dirty="0"/>
          </a:p>
        </p:txBody>
      </p:sp>
      <p:sp>
        <p:nvSpPr>
          <p:cNvPr id="9" name="Shape 7"/>
          <p:cNvSpPr/>
          <p:nvPr/>
        </p:nvSpPr>
        <p:spPr>
          <a:xfrm>
            <a:off x="4325112" y="1874520"/>
            <a:ext cx="3547872" cy="3246120"/>
          </a:xfrm>
          <a:prstGeom prst="roundRect">
            <a:avLst>
              <a:gd name="adj" fmla="val 2254"/>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10" name="Shape 8"/>
          <p:cNvSpPr/>
          <p:nvPr/>
        </p:nvSpPr>
        <p:spPr>
          <a:xfrm>
            <a:off x="4325112" y="1874520"/>
            <a:ext cx="54864" cy="3246120"/>
          </a:xfrm>
          <a:prstGeom prst="rect">
            <a:avLst/>
          </a:prstGeom>
          <a:solidFill>
            <a:srgbClr val="FFB547"/>
          </a:solidFill>
          <a:ln w="12700">
            <a:solidFill>
              <a:srgbClr val="FFB547"/>
            </a:solidFill>
            <a:prstDash val="solid"/>
          </a:ln>
        </p:spPr>
      </p:sp>
      <p:sp>
        <p:nvSpPr>
          <p:cNvPr id="11" name="Text 9"/>
          <p:cNvSpPr/>
          <p:nvPr/>
        </p:nvSpPr>
        <p:spPr>
          <a:xfrm>
            <a:off x="4553712" y="2075688"/>
            <a:ext cx="3136392" cy="256032"/>
          </a:xfrm>
          <a:prstGeom prst="rect">
            <a:avLst/>
          </a:prstGeom>
          <a:noFill/>
          <a:ln/>
        </p:spPr>
        <p:txBody>
          <a:bodyPr wrap="square" lIns="0" tIns="0" rIns="0" bIns="0" rtlCol="0" anchor="ctr"/>
          <a:lstStyle/>
          <a:p>
            <a:pPr marL="0" indent="0">
              <a:buNone/>
            </a:pPr>
            <a:r>
              <a:rPr lang="en-US" sz="1600" b="1" dirty="0">
                <a:solidFill>
                  <a:srgbClr val="F4F8FC"/>
                </a:solidFill>
              </a:rPr>
              <a:t>Détecter</a:t>
            </a:r>
            <a:endParaRPr lang="en-US" sz="1600" dirty="0"/>
          </a:p>
        </p:txBody>
      </p:sp>
      <p:sp>
        <p:nvSpPr>
          <p:cNvPr id="12" name="Text 10"/>
          <p:cNvSpPr/>
          <p:nvPr/>
        </p:nvSpPr>
        <p:spPr>
          <a:xfrm>
            <a:off x="4553712" y="2459736"/>
            <a:ext cx="3108960" cy="2487168"/>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 Appliquer des seuils métier configurables</a:t>
            </a:r>
            <a:endParaRPr lang="en-US" sz="1150" dirty="0"/>
          </a:p>
          <a:p>
            <a:pPr marL="0" indent="0">
              <a:buNone/>
            </a:pPr>
            <a:r>
              <a:rPr lang="en-US" sz="1150" dirty="0">
                <a:solidFill>
                  <a:srgbClr val="9DB0C4"/>
                </a:solidFill>
              </a:rPr>
              <a:t>• Qualifier chaque mesure : normale ou anomalie</a:t>
            </a:r>
            <a:endParaRPr lang="en-US" sz="1150" dirty="0"/>
          </a:p>
          <a:p>
            <a:pPr marL="0" indent="0">
              <a:buNone/>
            </a:pPr>
            <a:r>
              <a:rPr lang="en-US" sz="1150" dirty="0">
                <a:solidFill>
                  <a:srgbClr val="9DB0C4"/>
                </a:solidFill>
              </a:rPr>
              <a:t>• Réduire le délai entre événement et réaction</a:t>
            </a:r>
            <a:endParaRPr lang="en-US" sz="1150" dirty="0"/>
          </a:p>
        </p:txBody>
      </p:sp>
      <p:sp>
        <p:nvSpPr>
          <p:cNvPr id="13" name="Shape 11"/>
          <p:cNvSpPr/>
          <p:nvPr/>
        </p:nvSpPr>
        <p:spPr>
          <a:xfrm>
            <a:off x="8055864" y="1874520"/>
            <a:ext cx="3547872" cy="3246120"/>
          </a:xfrm>
          <a:prstGeom prst="roundRect">
            <a:avLst>
              <a:gd name="adj" fmla="val 2254"/>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14" name="Shape 12"/>
          <p:cNvSpPr/>
          <p:nvPr/>
        </p:nvSpPr>
        <p:spPr>
          <a:xfrm>
            <a:off x="8055864" y="1874520"/>
            <a:ext cx="54864" cy="3246120"/>
          </a:xfrm>
          <a:prstGeom prst="rect">
            <a:avLst/>
          </a:prstGeom>
          <a:solidFill>
            <a:srgbClr val="3DDC97"/>
          </a:solidFill>
          <a:ln w="12700">
            <a:solidFill>
              <a:srgbClr val="3DDC97"/>
            </a:solidFill>
            <a:prstDash val="solid"/>
          </a:ln>
        </p:spPr>
      </p:sp>
      <p:sp>
        <p:nvSpPr>
          <p:cNvPr id="15" name="Text 13"/>
          <p:cNvSpPr/>
          <p:nvPr/>
        </p:nvSpPr>
        <p:spPr>
          <a:xfrm>
            <a:off x="8284464" y="2075688"/>
            <a:ext cx="3136392" cy="256032"/>
          </a:xfrm>
          <a:prstGeom prst="rect">
            <a:avLst/>
          </a:prstGeom>
          <a:noFill/>
          <a:ln/>
        </p:spPr>
        <p:txBody>
          <a:bodyPr wrap="square" lIns="0" tIns="0" rIns="0" bIns="0" rtlCol="0" anchor="ctr"/>
          <a:lstStyle/>
          <a:p>
            <a:pPr marL="0" indent="0">
              <a:buNone/>
            </a:pPr>
            <a:r>
              <a:rPr lang="en-US" sz="1600" b="1" dirty="0">
                <a:solidFill>
                  <a:srgbClr val="F4F8FC"/>
                </a:solidFill>
              </a:rPr>
              <a:t>Agir</a:t>
            </a:r>
            <a:endParaRPr lang="en-US" sz="1600" dirty="0"/>
          </a:p>
        </p:txBody>
      </p:sp>
      <p:sp>
        <p:nvSpPr>
          <p:cNvPr id="16" name="Text 14"/>
          <p:cNvSpPr/>
          <p:nvPr/>
        </p:nvSpPr>
        <p:spPr>
          <a:xfrm>
            <a:off x="8284464" y="2459736"/>
            <a:ext cx="3108960" cy="2487168"/>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 Déclencher LED et buzzer localement</a:t>
            </a:r>
            <a:endParaRPr lang="en-US" sz="1150" dirty="0"/>
          </a:p>
          <a:p>
            <a:pPr marL="0" indent="0">
              <a:buNone/>
            </a:pPr>
            <a:r>
              <a:rPr lang="en-US" sz="1150" dirty="0">
                <a:solidFill>
                  <a:srgbClr val="9DB0C4"/>
                </a:solidFill>
              </a:rPr>
              <a:t>• Envoyer une alerte vers Slack, Discord ou Teams</a:t>
            </a:r>
            <a:endParaRPr lang="en-US" sz="1150" dirty="0"/>
          </a:p>
          <a:p>
            <a:pPr marL="0" indent="0">
              <a:buNone/>
            </a:pPr>
            <a:r>
              <a:rPr lang="en-US" sz="1150" dirty="0">
                <a:solidFill>
                  <a:srgbClr val="9DB0C4"/>
                </a:solidFill>
              </a:rPr>
              <a:t>• Exposer l’état via API et dashboards</a:t>
            </a:r>
            <a:endParaRPr lang="en-US" sz="1150" dirty="0"/>
          </a:p>
        </p:txBody>
      </p:sp>
      <p:sp>
        <p:nvSpPr>
          <p:cNvPr id="17" name="Shape 15"/>
          <p:cNvSpPr/>
          <p:nvPr/>
        </p:nvSpPr>
        <p:spPr>
          <a:xfrm>
            <a:off x="1005840" y="5715000"/>
            <a:ext cx="10012680" cy="1"/>
          </a:xfrm>
          <a:prstGeom prst="line">
            <a:avLst/>
          </a:prstGeom>
          <a:noFill/>
          <a:ln w="25400">
            <a:solidFill>
              <a:srgbClr val="26435C"/>
            </a:solidFill>
            <a:prstDash val="solid"/>
          </a:ln>
        </p:spPr>
      </p:sp>
      <p:sp>
        <p:nvSpPr>
          <p:cNvPr id="18" name="Text 16"/>
          <p:cNvSpPr/>
          <p:nvPr/>
        </p:nvSpPr>
        <p:spPr>
          <a:xfrm>
            <a:off x="914400" y="5504688"/>
            <a:ext cx="1371600" cy="274320"/>
          </a:xfrm>
          <a:prstGeom prst="rect">
            <a:avLst/>
          </a:prstGeom>
          <a:noFill/>
          <a:ln/>
        </p:spPr>
        <p:txBody>
          <a:bodyPr wrap="square" lIns="0" tIns="0" rIns="0" bIns="0" rtlCol="0" anchor="ctr"/>
          <a:lstStyle/>
          <a:p>
            <a:pPr marL="0" indent="0" algn="ctr">
              <a:buNone/>
            </a:pPr>
            <a:r>
              <a:rPr lang="en-US" sz="1200" b="1" dirty="0">
                <a:solidFill>
                  <a:srgbClr val="21C7E8"/>
                </a:solidFill>
              </a:rPr>
              <a:t>MESURE</a:t>
            </a:r>
            <a:endParaRPr lang="en-US" sz="1200" dirty="0"/>
          </a:p>
        </p:txBody>
      </p:sp>
      <p:sp>
        <p:nvSpPr>
          <p:cNvPr id="19" name="Text 17"/>
          <p:cNvSpPr/>
          <p:nvPr/>
        </p:nvSpPr>
        <p:spPr>
          <a:xfrm>
            <a:off x="3657600" y="5504688"/>
            <a:ext cx="1371600" cy="274320"/>
          </a:xfrm>
          <a:prstGeom prst="rect">
            <a:avLst/>
          </a:prstGeom>
          <a:noFill/>
          <a:ln/>
        </p:spPr>
        <p:txBody>
          <a:bodyPr wrap="square" lIns="0" tIns="0" rIns="0" bIns="0" rtlCol="0" anchor="ctr"/>
          <a:lstStyle/>
          <a:p>
            <a:pPr marL="0" indent="0" algn="ctr">
              <a:buNone/>
            </a:pPr>
            <a:r>
              <a:rPr lang="en-US" sz="1200" b="1" dirty="0">
                <a:solidFill>
                  <a:srgbClr val="19D3C5"/>
                </a:solidFill>
              </a:rPr>
              <a:t>CONTEXTE</a:t>
            </a:r>
            <a:endParaRPr lang="en-US" sz="1200" dirty="0"/>
          </a:p>
        </p:txBody>
      </p:sp>
      <p:sp>
        <p:nvSpPr>
          <p:cNvPr id="20" name="Text 18"/>
          <p:cNvSpPr/>
          <p:nvPr/>
        </p:nvSpPr>
        <p:spPr>
          <a:xfrm>
            <a:off x="6400800" y="5504688"/>
            <a:ext cx="1371600" cy="274320"/>
          </a:xfrm>
          <a:prstGeom prst="rect">
            <a:avLst/>
          </a:prstGeom>
          <a:noFill/>
          <a:ln/>
        </p:spPr>
        <p:txBody>
          <a:bodyPr wrap="square" lIns="0" tIns="0" rIns="0" bIns="0" rtlCol="0" anchor="ctr"/>
          <a:lstStyle/>
          <a:p>
            <a:pPr marL="0" indent="0" algn="ctr">
              <a:buNone/>
            </a:pPr>
            <a:r>
              <a:rPr lang="en-US" sz="1200" b="1" dirty="0">
                <a:solidFill>
                  <a:srgbClr val="FFB547"/>
                </a:solidFill>
              </a:rPr>
              <a:t>ALERTE</a:t>
            </a:r>
            <a:endParaRPr lang="en-US" sz="1200" dirty="0"/>
          </a:p>
        </p:txBody>
      </p:sp>
      <p:sp>
        <p:nvSpPr>
          <p:cNvPr id="21" name="Text 19"/>
          <p:cNvSpPr/>
          <p:nvPr/>
        </p:nvSpPr>
        <p:spPr>
          <a:xfrm>
            <a:off x="9144000" y="5504688"/>
            <a:ext cx="1371600" cy="274320"/>
          </a:xfrm>
          <a:prstGeom prst="rect">
            <a:avLst/>
          </a:prstGeom>
          <a:noFill/>
          <a:ln/>
        </p:spPr>
        <p:txBody>
          <a:bodyPr wrap="square" lIns="0" tIns="0" rIns="0" bIns="0" rtlCol="0" anchor="ctr"/>
          <a:lstStyle/>
          <a:p>
            <a:pPr marL="0" indent="0" algn="ctr">
              <a:buNone/>
            </a:pPr>
            <a:r>
              <a:rPr lang="en-US" sz="1200" b="1" dirty="0">
                <a:solidFill>
                  <a:srgbClr val="3DDC97"/>
                </a:solidFill>
              </a:rPr>
              <a:t>DÉCISION</a:t>
            </a:r>
            <a:endParaRPr lang="en-US" sz="120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ARCHITECTURE GLOBALE</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Une architecture en couches, découplée et observable</a:t>
            </a:r>
            <a:endParaRPr lang="en-US" sz="2700" dirty="0"/>
          </a:p>
        </p:txBody>
      </p:sp>
      <p:sp>
        <p:nvSpPr>
          <p:cNvPr id="4" name="Shape 2"/>
          <p:cNvSpPr/>
          <p:nvPr/>
        </p:nvSpPr>
        <p:spPr>
          <a:xfrm>
            <a:off x="502920" y="1874520"/>
            <a:ext cx="1920240" cy="3108960"/>
          </a:xfrm>
          <a:prstGeom prst="roundRect">
            <a:avLst>
              <a:gd name="adj" fmla="val 3810"/>
            </a:avLst>
          </a:prstGeom>
          <a:solidFill>
            <a:srgbClr val="0D1B2A"/>
          </a:solidFill>
          <a:ln w="17780">
            <a:solidFill>
              <a:srgbClr val="21C7E8"/>
            </a:solidFill>
            <a:prstDash val="solid"/>
          </a:ln>
          <a:effectLst>
            <a:outerShdw blurRad="25400" dist="12700" dir="2700000" algn="bl" rotWithShape="0">
              <a:srgbClr val="000000">
                <a:alpha val="20000"/>
              </a:srgbClr>
            </a:outerShdw>
          </a:effectLst>
        </p:spPr>
      </p:sp>
      <p:sp>
        <p:nvSpPr>
          <p:cNvPr id="5" name="Shape 3"/>
          <p:cNvSpPr/>
          <p:nvPr/>
        </p:nvSpPr>
        <p:spPr>
          <a:xfrm>
            <a:off x="1188720" y="2194560"/>
            <a:ext cx="548640" cy="548640"/>
          </a:xfrm>
          <a:prstGeom prst="ellipse">
            <a:avLst/>
          </a:prstGeom>
          <a:solidFill>
            <a:srgbClr val="21C7E8">
              <a:alpha val="90000"/>
            </a:srgbClr>
          </a:solidFill>
          <a:ln w="12700">
            <a:solidFill>
              <a:srgbClr val="21C7E8"/>
            </a:solidFill>
            <a:prstDash val="solid"/>
          </a:ln>
        </p:spPr>
      </p:sp>
      <p:sp>
        <p:nvSpPr>
          <p:cNvPr id="6" name="Text 4"/>
          <p:cNvSpPr/>
          <p:nvPr/>
        </p:nvSpPr>
        <p:spPr>
          <a:xfrm>
            <a:off x="1188720" y="2350008"/>
            <a:ext cx="548640" cy="164592"/>
          </a:xfrm>
          <a:prstGeom prst="rect">
            <a:avLst/>
          </a:prstGeom>
          <a:noFill/>
          <a:ln/>
        </p:spPr>
        <p:txBody>
          <a:bodyPr wrap="square" lIns="0" tIns="0" rIns="0" bIns="0" rtlCol="0" anchor="ctr"/>
          <a:lstStyle/>
          <a:p>
            <a:pPr marL="0" indent="0" algn="ctr">
              <a:buNone/>
            </a:pPr>
            <a:r>
              <a:rPr lang="en-US" sz="1100" b="1" dirty="0">
                <a:solidFill>
                  <a:srgbClr val="07111F"/>
                </a:solidFill>
              </a:rPr>
              <a:t>01</a:t>
            </a:r>
            <a:endParaRPr lang="en-US" sz="1100" dirty="0"/>
          </a:p>
        </p:txBody>
      </p:sp>
      <p:sp>
        <p:nvSpPr>
          <p:cNvPr id="7" name="Text 5"/>
          <p:cNvSpPr/>
          <p:nvPr/>
        </p:nvSpPr>
        <p:spPr>
          <a:xfrm>
            <a:off x="640080" y="2971800"/>
            <a:ext cx="1645920" cy="274320"/>
          </a:xfrm>
          <a:prstGeom prst="rect">
            <a:avLst/>
          </a:prstGeom>
          <a:noFill/>
          <a:ln/>
        </p:spPr>
        <p:txBody>
          <a:bodyPr wrap="square" lIns="0" tIns="0" rIns="0" bIns="0" rtlCol="0" anchor="ctr"/>
          <a:lstStyle/>
          <a:p>
            <a:pPr marL="0" indent="0" algn="ctr">
              <a:buNone/>
            </a:pPr>
            <a:r>
              <a:rPr lang="en-US" sz="1400" b="1" dirty="0">
                <a:solidFill>
                  <a:srgbClr val="21C7E8"/>
                </a:solidFill>
              </a:rPr>
              <a:t>CAPTEURS</a:t>
            </a:r>
            <a:endParaRPr lang="en-US" sz="1400" dirty="0"/>
          </a:p>
        </p:txBody>
      </p:sp>
      <p:sp>
        <p:nvSpPr>
          <p:cNvPr id="8" name="Text 6"/>
          <p:cNvSpPr/>
          <p:nvPr/>
        </p:nvSpPr>
        <p:spPr>
          <a:xfrm>
            <a:off x="667512" y="3456432"/>
            <a:ext cx="1591056" cy="1051560"/>
          </a:xfrm>
          <a:prstGeom prst="rect">
            <a:avLst/>
          </a:prstGeom>
          <a:noFill/>
          <a:ln/>
        </p:spPr>
        <p:txBody>
          <a:bodyPr wrap="square" lIns="381" tIns="381" rIns="381" bIns="381" rtlCol="0" anchor="ctr"/>
          <a:lstStyle/>
          <a:p>
            <a:pPr marL="0" indent="0" algn="ctr">
              <a:buNone/>
            </a:pPr>
            <a:r>
              <a:rPr lang="en-US" sz="1150" dirty="0">
                <a:solidFill>
                  <a:srgbClr val="F4F8FC"/>
                </a:solidFill>
              </a:rPr>
              <a:t>DHT22 • PIR</a:t>
            </a:r>
            <a:endParaRPr lang="en-US" sz="1150" dirty="0"/>
          </a:p>
          <a:p>
            <a:pPr marL="0" indent="0" algn="ctr">
              <a:buNone/>
            </a:pPr>
            <a:r>
              <a:rPr lang="en-US" sz="1150" dirty="0">
                <a:solidFill>
                  <a:srgbClr val="F4F8FC"/>
                </a:solidFill>
              </a:rPr>
              <a:t>MQ2 • LDR</a:t>
            </a:r>
            <a:endParaRPr lang="en-US" sz="1150" dirty="0"/>
          </a:p>
          <a:p>
            <a:pPr marL="0" indent="0" algn="ctr">
              <a:buNone/>
            </a:pPr>
            <a:r>
              <a:rPr lang="en-US" sz="1150" dirty="0">
                <a:solidFill>
                  <a:srgbClr val="F4F8FC"/>
                </a:solidFill>
              </a:rPr>
              <a:t>LED + buzzer</a:t>
            </a:r>
            <a:endParaRPr lang="en-US" sz="1150" dirty="0"/>
          </a:p>
        </p:txBody>
      </p:sp>
      <p:sp>
        <p:nvSpPr>
          <p:cNvPr id="9" name="Shape 7"/>
          <p:cNvSpPr/>
          <p:nvPr/>
        </p:nvSpPr>
        <p:spPr>
          <a:xfrm>
            <a:off x="2450592" y="3246120"/>
            <a:ext cx="146304" cy="320040"/>
          </a:xfrm>
          <a:prstGeom prst="chevron">
            <a:avLst/>
          </a:prstGeom>
          <a:solidFill>
            <a:srgbClr val="21C7E8">
              <a:alpha val="90000"/>
            </a:srgbClr>
          </a:solidFill>
          <a:ln w="12700">
            <a:solidFill>
              <a:srgbClr val="21C7E8"/>
            </a:solidFill>
            <a:prstDash val="solid"/>
          </a:ln>
        </p:spPr>
      </p:sp>
      <p:sp>
        <p:nvSpPr>
          <p:cNvPr id="10" name="Shape 8"/>
          <p:cNvSpPr/>
          <p:nvPr/>
        </p:nvSpPr>
        <p:spPr>
          <a:xfrm>
            <a:off x="2788920" y="1874520"/>
            <a:ext cx="1691640" cy="3108960"/>
          </a:xfrm>
          <a:prstGeom prst="roundRect">
            <a:avLst>
              <a:gd name="adj" fmla="val 4324"/>
            </a:avLst>
          </a:prstGeom>
          <a:solidFill>
            <a:srgbClr val="0D1B2A"/>
          </a:solidFill>
          <a:ln w="17780">
            <a:solidFill>
              <a:srgbClr val="19D3C5"/>
            </a:solidFill>
            <a:prstDash val="solid"/>
          </a:ln>
          <a:effectLst>
            <a:outerShdw blurRad="25400" dist="12700" dir="2700000" algn="bl" rotWithShape="0">
              <a:srgbClr val="000000">
                <a:alpha val="20000"/>
              </a:srgbClr>
            </a:outerShdw>
          </a:effectLst>
        </p:spPr>
      </p:sp>
      <p:sp>
        <p:nvSpPr>
          <p:cNvPr id="11" name="Shape 9"/>
          <p:cNvSpPr/>
          <p:nvPr/>
        </p:nvSpPr>
        <p:spPr>
          <a:xfrm>
            <a:off x="3360420" y="2194560"/>
            <a:ext cx="548640" cy="548640"/>
          </a:xfrm>
          <a:prstGeom prst="ellipse">
            <a:avLst/>
          </a:prstGeom>
          <a:solidFill>
            <a:srgbClr val="19D3C5">
              <a:alpha val="90000"/>
            </a:srgbClr>
          </a:solidFill>
          <a:ln w="12700">
            <a:solidFill>
              <a:srgbClr val="19D3C5"/>
            </a:solidFill>
            <a:prstDash val="solid"/>
          </a:ln>
        </p:spPr>
      </p:sp>
      <p:sp>
        <p:nvSpPr>
          <p:cNvPr id="12" name="Text 10"/>
          <p:cNvSpPr/>
          <p:nvPr/>
        </p:nvSpPr>
        <p:spPr>
          <a:xfrm>
            <a:off x="3360420" y="2350008"/>
            <a:ext cx="548640" cy="164592"/>
          </a:xfrm>
          <a:prstGeom prst="rect">
            <a:avLst/>
          </a:prstGeom>
          <a:noFill/>
          <a:ln/>
        </p:spPr>
        <p:txBody>
          <a:bodyPr wrap="square" lIns="0" tIns="0" rIns="0" bIns="0" rtlCol="0" anchor="ctr"/>
          <a:lstStyle/>
          <a:p>
            <a:pPr marL="0" indent="0" algn="ctr">
              <a:buNone/>
            </a:pPr>
            <a:r>
              <a:rPr lang="en-US" sz="1100" b="1" dirty="0">
                <a:solidFill>
                  <a:srgbClr val="07111F"/>
                </a:solidFill>
              </a:rPr>
              <a:t>02</a:t>
            </a:r>
            <a:endParaRPr lang="en-US" sz="1100" dirty="0"/>
          </a:p>
        </p:txBody>
      </p:sp>
      <p:sp>
        <p:nvSpPr>
          <p:cNvPr id="13" name="Text 11"/>
          <p:cNvSpPr/>
          <p:nvPr/>
        </p:nvSpPr>
        <p:spPr>
          <a:xfrm>
            <a:off x="2926080" y="2971800"/>
            <a:ext cx="1417320" cy="274320"/>
          </a:xfrm>
          <a:prstGeom prst="rect">
            <a:avLst/>
          </a:prstGeom>
          <a:noFill/>
          <a:ln/>
        </p:spPr>
        <p:txBody>
          <a:bodyPr wrap="square" lIns="0" tIns="0" rIns="0" bIns="0" rtlCol="0" anchor="ctr"/>
          <a:lstStyle/>
          <a:p>
            <a:pPr marL="0" indent="0" algn="ctr">
              <a:buNone/>
            </a:pPr>
            <a:r>
              <a:rPr lang="en-US" sz="1400" b="1" dirty="0">
                <a:solidFill>
                  <a:srgbClr val="19D3C5"/>
                </a:solidFill>
              </a:rPr>
              <a:t>MQTT</a:t>
            </a:r>
            <a:endParaRPr lang="en-US" sz="1400" dirty="0"/>
          </a:p>
        </p:txBody>
      </p:sp>
      <p:sp>
        <p:nvSpPr>
          <p:cNvPr id="14" name="Text 12"/>
          <p:cNvSpPr/>
          <p:nvPr/>
        </p:nvSpPr>
        <p:spPr>
          <a:xfrm>
            <a:off x="2953512" y="3456432"/>
            <a:ext cx="1362456" cy="1051560"/>
          </a:xfrm>
          <a:prstGeom prst="rect">
            <a:avLst/>
          </a:prstGeom>
          <a:noFill/>
          <a:ln/>
        </p:spPr>
        <p:txBody>
          <a:bodyPr wrap="square" lIns="381" tIns="381" rIns="381" bIns="381" rtlCol="0" anchor="ctr"/>
          <a:lstStyle/>
          <a:p>
            <a:pPr marL="0" indent="0" algn="ctr">
              <a:buNone/>
            </a:pPr>
            <a:r>
              <a:rPr lang="en-US" sz="1150" dirty="0">
                <a:solidFill>
                  <a:srgbClr val="F4F8FC"/>
                </a:solidFill>
              </a:rPr>
              <a:t>Topic</a:t>
            </a:r>
            <a:endParaRPr lang="en-US" sz="1150" dirty="0"/>
          </a:p>
          <a:p>
            <a:pPr marL="0" indent="0" algn="ctr">
              <a:buNone/>
            </a:pPr>
            <a:r>
              <a:rPr lang="en-US" sz="1150" dirty="0">
                <a:solidFill>
                  <a:srgbClr val="F4F8FC"/>
                </a:solidFill>
              </a:rPr>
              <a:t>iot/sensors</a:t>
            </a:r>
            <a:endParaRPr lang="en-US" sz="1150" dirty="0"/>
          </a:p>
          <a:p>
            <a:pPr marL="0" indent="0" algn="ctr">
              <a:buNone/>
            </a:pPr>
            <a:r>
              <a:rPr lang="en-US" sz="1150" dirty="0">
                <a:solidFill>
                  <a:srgbClr val="F4F8FC"/>
                </a:solidFill>
              </a:rPr>
              <a:t>Broker public</a:t>
            </a:r>
            <a:endParaRPr lang="en-US" sz="1150" dirty="0"/>
          </a:p>
        </p:txBody>
      </p:sp>
      <p:sp>
        <p:nvSpPr>
          <p:cNvPr id="15" name="Shape 13"/>
          <p:cNvSpPr/>
          <p:nvPr/>
        </p:nvSpPr>
        <p:spPr>
          <a:xfrm>
            <a:off x="4507992" y="3246120"/>
            <a:ext cx="146304" cy="320040"/>
          </a:xfrm>
          <a:prstGeom prst="chevron">
            <a:avLst/>
          </a:prstGeom>
          <a:solidFill>
            <a:srgbClr val="19D3C5">
              <a:alpha val="90000"/>
            </a:srgbClr>
          </a:solidFill>
          <a:ln w="12700">
            <a:solidFill>
              <a:srgbClr val="19D3C5"/>
            </a:solidFill>
            <a:prstDash val="solid"/>
          </a:ln>
        </p:spPr>
      </p:sp>
      <p:sp>
        <p:nvSpPr>
          <p:cNvPr id="16" name="Shape 14"/>
          <p:cNvSpPr/>
          <p:nvPr/>
        </p:nvSpPr>
        <p:spPr>
          <a:xfrm>
            <a:off x="5074920" y="1874520"/>
            <a:ext cx="1874520" cy="3108960"/>
          </a:xfrm>
          <a:prstGeom prst="roundRect">
            <a:avLst>
              <a:gd name="adj" fmla="val 3902"/>
            </a:avLst>
          </a:prstGeom>
          <a:solidFill>
            <a:srgbClr val="0D1B2A"/>
          </a:solidFill>
          <a:ln w="17780">
            <a:solidFill>
              <a:srgbClr val="FFB547"/>
            </a:solidFill>
            <a:prstDash val="solid"/>
          </a:ln>
          <a:effectLst>
            <a:outerShdw blurRad="25400" dist="12700" dir="2700000" algn="bl" rotWithShape="0">
              <a:srgbClr val="000000">
                <a:alpha val="20000"/>
              </a:srgbClr>
            </a:outerShdw>
          </a:effectLst>
        </p:spPr>
      </p:sp>
      <p:sp>
        <p:nvSpPr>
          <p:cNvPr id="17" name="Shape 15"/>
          <p:cNvSpPr/>
          <p:nvPr/>
        </p:nvSpPr>
        <p:spPr>
          <a:xfrm>
            <a:off x="5737860" y="2194560"/>
            <a:ext cx="548640" cy="548640"/>
          </a:xfrm>
          <a:prstGeom prst="ellipse">
            <a:avLst/>
          </a:prstGeom>
          <a:solidFill>
            <a:srgbClr val="FFB547">
              <a:alpha val="90000"/>
            </a:srgbClr>
          </a:solidFill>
          <a:ln w="12700">
            <a:solidFill>
              <a:srgbClr val="FFB547"/>
            </a:solidFill>
            <a:prstDash val="solid"/>
          </a:ln>
        </p:spPr>
      </p:sp>
      <p:sp>
        <p:nvSpPr>
          <p:cNvPr id="18" name="Text 16"/>
          <p:cNvSpPr/>
          <p:nvPr/>
        </p:nvSpPr>
        <p:spPr>
          <a:xfrm>
            <a:off x="5737860" y="2350008"/>
            <a:ext cx="548640" cy="164592"/>
          </a:xfrm>
          <a:prstGeom prst="rect">
            <a:avLst/>
          </a:prstGeom>
          <a:noFill/>
          <a:ln/>
        </p:spPr>
        <p:txBody>
          <a:bodyPr wrap="square" lIns="0" tIns="0" rIns="0" bIns="0" rtlCol="0" anchor="ctr"/>
          <a:lstStyle/>
          <a:p>
            <a:pPr marL="0" indent="0" algn="ctr">
              <a:buNone/>
            </a:pPr>
            <a:r>
              <a:rPr lang="en-US" sz="1100" b="1" dirty="0">
                <a:solidFill>
                  <a:srgbClr val="07111F"/>
                </a:solidFill>
              </a:rPr>
              <a:t>03</a:t>
            </a:r>
            <a:endParaRPr lang="en-US" sz="1100" dirty="0"/>
          </a:p>
        </p:txBody>
      </p:sp>
      <p:sp>
        <p:nvSpPr>
          <p:cNvPr id="19" name="Text 17"/>
          <p:cNvSpPr/>
          <p:nvPr/>
        </p:nvSpPr>
        <p:spPr>
          <a:xfrm>
            <a:off x="5212080" y="2971800"/>
            <a:ext cx="1600200" cy="274320"/>
          </a:xfrm>
          <a:prstGeom prst="rect">
            <a:avLst/>
          </a:prstGeom>
          <a:noFill/>
          <a:ln/>
        </p:spPr>
        <p:txBody>
          <a:bodyPr wrap="square" lIns="0" tIns="0" rIns="0" bIns="0" rtlCol="0" anchor="ctr"/>
          <a:lstStyle/>
          <a:p>
            <a:pPr marL="0" indent="0" algn="ctr">
              <a:buNone/>
            </a:pPr>
            <a:r>
              <a:rPr lang="en-US" sz="1400" b="1" dirty="0">
                <a:solidFill>
                  <a:srgbClr val="FFB547"/>
                </a:solidFill>
              </a:rPr>
              <a:t>CONSUMER</a:t>
            </a:r>
            <a:endParaRPr lang="en-US" sz="1400" dirty="0"/>
          </a:p>
        </p:txBody>
      </p:sp>
      <p:sp>
        <p:nvSpPr>
          <p:cNvPr id="20" name="Text 18"/>
          <p:cNvSpPr/>
          <p:nvPr/>
        </p:nvSpPr>
        <p:spPr>
          <a:xfrm>
            <a:off x="5239512" y="3456432"/>
            <a:ext cx="1545336" cy="1051560"/>
          </a:xfrm>
          <a:prstGeom prst="rect">
            <a:avLst/>
          </a:prstGeom>
          <a:noFill/>
          <a:ln/>
        </p:spPr>
        <p:txBody>
          <a:bodyPr wrap="square" lIns="381" tIns="381" rIns="381" bIns="381" rtlCol="0" anchor="ctr"/>
          <a:lstStyle/>
          <a:p>
            <a:pPr marL="0" indent="0" algn="ctr">
              <a:buNone/>
            </a:pPr>
            <a:r>
              <a:rPr lang="en-US" sz="1150" dirty="0">
                <a:solidFill>
                  <a:srgbClr val="F4F8FC"/>
                </a:solidFill>
              </a:rPr>
              <a:t>Validation JSON</a:t>
            </a:r>
            <a:endParaRPr lang="en-US" sz="1150" dirty="0"/>
          </a:p>
          <a:p>
            <a:pPr marL="0" indent="0" algn="ctr">
              <a:buNone/>
            </a:pPr>
            <a:r>
              <a:rPr lang="en-US" sz="1150" dirty="0">
                <a:solidFill>
                  <a:srgbClr val="F4F8FC"/>
                </a:solidFill>
              </a:rPr>
              <a:t>Horodatage</a:t>
            </a:r>
            <a:endParaRPr lang="en-US" sz="1150" dirty="0"/>
          </a:p>
          <a:p>
            <a:pPr marL="0" indent="0" algn="ctr">
              <a:buNone/>
            </a:pPr>
            <a:r>
              <a:rPr lang="en-US" sz="1150" dirty="0">
                <a:solidFill>
                  <a:srgbClr val="F4F8FC"/>
                </a:solidFill>
              </a:rPr>
              <a:t>Seuils + cooldown</a:t>
            </a:r>
            <a:endParaRPr lang="en-US" sz="1150" dirty="0"/>
          </a:p>
        </p:txBody>
      </p:sp>
      <p:sp>
        <p:nvSpPr>
          <p:cNvPr id="21" name="Shape 19"/>
          <p:cNvSpPr/>
          <p:nvPr/>
        </p:nvSpPr>
        <p:spPr>
          <a:xfrm>
            <a:off x="6976872" y="3246120"/>
            <a:ext cx="146304" cy="320040"/>
          </a:xfrm>
          <a:prstGeom prst="chevron">
            <a:avLst/>
          </a:prstGeom>
          <a:solidFill>
            <a:srgbClr val="FFB547">
              <a:alpha val="90000"/>
            </a:srgbClr>
          </a:solidFill>
          <a:ln w="12700">
            <a:solidFill>
              <a:srgbClr val="FFB547"/>
            </a:solidFill>
            <a:prstDash val="solid"/>
          </a:ln>
        </p:spPr>
      </p:sp>
      <p:sp>
        <p:nvSpPr>
          <p:cNvPr id="22" name="Shape 20"/>
          <p:cNvSpPr/>
          <p:nvPr/>
        </p:nvSpPr>
        <p:spPr>
          <a:xfrm>
            <a:off x="7543800" y="1874520"/>
            <a:ext cx="1828800" cy="3108960"/>
          </a:xfrm>
          <a:prstGeom prst="roundRect">
            <a:avLst>
              <a:gd name="adj" fmla="val 4000"/>
            </a:avLst>
          </a:prstGeom>
          <a:solidFill>
            <a:srgbClr val="0D1B2A"/>
          </a:solidFill>
          <a:ln w="17780">
            <a:solidFill>
              <a:srgbClr val="FF6262"/>
            </a:solidFill>
            <a:prstDash val="solid"/>
          </a:ln>
          <a:effectLst>
            <a:outerShdw blurRad="25400" dist="12700" dir="2700000" algn="bl" rotWithShape="0">
              <a:srgbClr val="000000">
                <a:alpha val="20000"/>
              </a:srgbClr>
            </a:outerShdw>
          </a:effectLst>
        </p:spPr>
      </p:sp>
      <p:sp>
        <p:nvSpPr>
          <p:cNvPr id="23" name="Shape 21"/>
          <p:cNvSpPr/>
          <p:nvPr/>
        </p:nvSpPr>
        <p:spPr>
          <a:xfrm>
            <a:off x="8183880" y="2194560"/>
            <a:ext cx="548640" cy="548640"/>
          </a:xfrm>
          <a:prstGeom prst="ellipse">
            <a:avLst/>
          </a:prstGeom>
          <a:solidFill>
            <a:srgbClr val="FF6262">
              <a:alpha val="90000"/>
            </a:srgbClr>
          </a:solidFill>
          <a:ln w="12700">
            <a:solidFill>
              <a:srgbClr val="FF6262"/>
            </a:solidFill>
            <a:prstDash val="solid"/>
          </a:ln>
        </p:spPr>
      </p:sp>
      <p:sp>
        <p:nvSpPr>
          <p:cNvPr id="24" name="Text 22"/>
          <p:cNvSpPr/>
          <p:nvPr/>
        </p:nvSpPr>
        <p:spPr>
          <a:xfrm>
            <a:off x="8183880" y="2350008"/>
            <a:ext cx="548640" cy="164592"/>
          </a:xfrm>
          <a:prstGeom prst="rect">
            <a:avLst/>
          </a:prstGeom>
          <a:noFill/>
          <a:ln/>
        </p:spPr>
        <p:txBody>
          <a:bodyPr wrap="square" lIns="0" tIns="0" rIns="0" bIns="0" rtlCol="0" anchor="ctr"/>
          <a:lstStyle/>
          <a:p>
            <a:pPr marL="0" indent="0" algn="ctr">
              <a:buNone/>
            </a:pPr>
            <a:r>
              <a:rPr lang="en-US" sz="1100" b="1" dirty="0">
                <a:solidFill>
                  <a:srgbClr val="07111F"/>
                </a:solidFill>
              </a:rPr>
              <a:t>04</a:t>
            </a:r>
            <a:endParaRPr lang="en-US" sz="1100" dirty="0"/>
          </a:p>
        </p:txBody>
      </p:sp>
      <p:sp>
        <p:nvSpPr>
          <p:cNvPr id="25" name="Text 23"/>
          <p:cNvSpPr/>
          <p:nvPr/>
        </p:nvSpPr>
        <p:spPr>
          <a:xfrm>
            <a:off x="7680960" y="2971800"/>
            <a:ext cx="1554480" cy="274320"/>
          </a:xfrm>
          <a:prstGeom prst="rect">
            <a:avLst/>
          </a:prstGeom>
          <a:noFill/>
          <a:ln/>
        </p:spPr>
        <p:txBody>
          <a:bodyPr wrap="square" lIns="0" tIns="0" rIns="0" bIns="0" rtlCol="0" anchor="ctr"/>
          <a:lstStyle/>
          <a:p>
            <a:pPr marL="0" indent="0" algn="ctr">
              <a:buNone/>
            </a:pPr>
            <a:r>
              <a:rPr lang="en-US" sz="1400" b="1" dirty="0">
                <a:solidFill>
                  <a:srgbClr val="FF6262"/>
                </a:solidFill>
              </a:rPr>
              <a:t>DATA &amp; ALERT</a:t>
            </a:r>
            <a:endParaRPr lang="en-US" sz="1400" dirty="0"/>
          </a:p>
        </p:txBody>
      </p:sp>
      <p:sp>
        <p:nvSpPr>
          <p:cNvPr id="26" name="Text 24"/>
          <p:cNvSpPr/>
          <p:nvPr/>
        </p:nvSpPr>
        <p:spPr>
          <a:xfrm>
            <a:off x="7708392" y="3456432"/>
            <a:ext cx="1499616" cy="1051560"/>
          </a:xfrm>
          <a:prstGeom prst="rect">
            <a:avLst/>
          </a:prstGeom>
          <a:noFill/>
          <a:ln/>
        </p:spPr>
        <p:txBody>
          <a:bodyPr wrap="square" lIns="381" tIns="381" rIns="381" bIns="381" rtlCol="0" anchor="ctr"/>
          <a:lstStyle/>
          <a:p>
            <a:pPr marL="0" indent="0" algn="ctr">
              <a:buNone/>
            </a:pPr>
            <a:r>
              <a:rPr lang="en-US" sz="1150" dirty="0">
                <a:solidFill>
                  <a:srgbClr val="F4F8FC"/>
                </a:solidFill>
              </a:rPr>
              <a:t>Elasticsearch</a:t>
            </a:r>
            <a:endParaRPr lang="en-US" sz="1150" dirty="0"/>
          </a:p>
          <a:p>
            <a:pPr marL="0" indent="0" algn="ctr">
              <a:buNone/>
            </a:pPr>
            <a:r>
              <a:rPr lang="en-US" sz="1150" dirty="0">
                <a:solidFill>
                  <a:srgbClr val="F4F8FC"/>
                </a:solidFill>
              </a:rPr>
              <a:t>Webhook sortant</a:t>
            </a:r>
            <a:endParaRPr lang="en-US" sz="1150" dirty="0"/>
          </a:p>
          <a:p>
            <a:pPr marL="0" indent="0" algn="ctr">
              <a:buNone/>
            </a:pPr>
            <a:r>
              <a:rPr lang="en-US" sz="1150" dirty="0">
                <a:solidFill>
                  <a:srgbClr val="F4F8FC"/>
                </a:solidFill>
              </a:rPr>
              <a:t>Index iot-data</a:t>
            </a:r>
            <a:endParaRPr lang="en-US" sz="1150" dirty="0"/>
          </a:p>
        </p:txBody>
      </p:sp>
      <p:sp>
        <p:nvSpPr>
          <p:cNvPr id="27" name="Shape 25"/>
          <p:cNvSpPr/>
          <p:nvPr/>
        </p:nvSpPr>
        <p:spPr>
          <a:xfrm>
            <a:off x="9400032" y="3246120"/>
            <a:ext cx="146304" cy="320040"/>
          </a:xfrm>
          <a:prstGeom prst="chevron">
            <a:avLst/>
          </a:prstGeom>
          <a:solidFill>
            <a:srgbClr val="FF6262">
              <a:alpha val="90000"/>
            </a:srgbClr>
          </a:solidFill>
          <a:ln w="12700">
            <a:solidFill>
              <a:srgbClr val="FF6262"/>
            </a:solidFill>
            <a:prstDash val="solid"/>
          </a:ln>
        </p:spPr>
      </p:sp>
      <p:sp>
        <p:nvSpPr>
          <p:cNvPr id="28" name="Shape 26"/>
          <p:cNvSpPr/>
          <p:nvPr/>
        </p:nvSpPr>
        <p:spPr>
          <a:xfrm>
            <a:off x="9921240" y="1874520"/>
            <a:ext cx="1783080" cy="3108960"/>
          </a:xfrm>
          <a:prstGeom prst="roundRect">
            <a:avLst>
              <a:gd name="adj" fmla="val 4103"/>
            </a:avLst>
          </a:prstGeom>
          <a:solidFill>
            <a:srgbClr val="0D1B2A"/>
          </a:solidFill>
          <a:ln w="17780">
            <a:solidFill>
              <a:srgbClr val="3DDC97"/>
            </a:solidFill>
            <a:prstDash val="solid"/>
          </a:ln>
          <a:effectLst>
            <a:outerShdw blurRad="25400" dist="12700" dir="2700000" algn="bl" rotWithShape="0">
              <a:srgbClr val="000000">
                <a:alpha val="20000"/>
              </a:srgbClr>
            </a:outerShdw>
          </a:effectLst>
        </p:spPr>
      </p:sp>
      <p:sp>
        <p:nvSpPr>
          <p:cNvPr id="29" name="Shape 27"/>
          <p:cNvSpPr/>
          <p:nvPr/>
        </p:nvSpPr>
        <p:spPr>
          <a:xfrm>
            <a:off x="10538460" y="2194560"/>
            <a:ext cx="548640" cy="548640"/>
          </a:xfrm>
          <a:prstGeom prst="ellipse">
            <a:avLst/>
          </a:prstGeom>
          <a:solidFill>
            <a:srgbClr val="3DDC97">
              <a:alpha val="90000"/>
            </a:srgbClr>
          </a:solidFill>
          <a:ln w="12700">
            <a:solidFill>
              <a:srgbClr val="3DDC97"/>
            </a:solidFill>
            <a:prstDash val="solid"/>
          </a:ln>
        </p:spPr>
      </p:sp>
      <p:sp>
        <p:nvSpPr>
          <p:cNvPr id="30" name="Text 28"/>
          <p:cNvSpPr/>
          <p:nvPr/>
        </p:nvSpPr>
        <p:spPr>
          <a:xfrm>
            <a:off x="10538460" y="2350008"/>
            <a:ext cx="548640" cy="164592"/>
          </a:xfrm>
          <a:prstGeom prst="rect">
            <a:avLst/>
          </a:prstGeom>
          <a:noFill/>
          <a:ln/>
        </p:spPr>
        <p:txBody>
          <a:bodyPr wrap="square" lIns="0" tIns="0" rIns="0" bIns="0" rtlCol="0" anchor="ctr"/>
          <a:lstStyle/>
          <a:p>
            <a:pPr marL="0" indent="0" algn="ctr">
              <a:buNone/>
            </a:pPr>
            <a:r>
              <a:rPr lang="en-US" sz="1100" b="1" dirty="0">
                <a:solidFill>
                  <a:srgbClr val="07111F"/>
                </a:solidFill>
              </a:rPr>
              <a:t>05</a:t>
            </a:r>
            <a:endParaRPr lang="en-US" sz="1100" dirty="0"/>
          </a:p>
        </p:txBody>
      </p:sp>
      <p:sp>
        <p:nvSpPr>
          <p:cNvPr id="31" name="Text 29"/>
          <p:cNvSpPr/>
          <p:nvPr/>
        </p:nvSpPr>
        <p:spPr>
          <a:xfrm>
            <a:off x="10058400" y="2971800"/>
            <a:ext cx="1508760" cy="274320"/>
          </a:xfrm>
          <a:prstGeom prst="rect">
            <a:avLst/>
          </a:prstGeom>
          <a:noFill/>
          <a:ln/>
        </p:spPr>
        <p:txBody>
          <a:bodyPr wrap="square" lIns="0" tIns="0" rIns="0" bIns="0" rtlCol="0" anchor="ctr"/>
          <a:lstStyle/>
          <a:p>
            <a:pPr marL="0" indent="0" algn="ctr">
              <a:buNone/>
            </a:pPr>
            <a:r>
              <a:rPr lang="en-US" sz="1400" b="1" dirty="0">
                <a:solidFill>
                  <a:srgbClr val="3DDC97"/>
                </a:solidFill>
              </a:rPr>
              <a:t>EXPLOITATION</a:t>
            </a:r>
            <a:endParaRPr lang="en-US" sz="1400" dirty="0"/>
          </a:p>
        </p:txBody>
      </p:sp>
      <p:sp>
        <p:nvSpPr>
          <p:cNvPr id="32" name="Text 30"/>
          <p:cNvSpPr/>
          <p:nvPr/>
        </p:nvSpPr>
        <p:spPr>
          <a:xfrm>
            <a:off x="10085832" y="3456432"/>
            <a:ext cx="1453896" cy="1051560"/>
          </a:xfrm>
          <a:prstGeom prst="rect">
            <a:avLst/>
          </a:prstGeom>
          <a:noFill/>
          <a:ln/>
        </p:spPr>
        <p:txBody>
          <a:bodyPr wrap="square" lIns="381" tIns="381" rIns="381" bIns="381" rtlCol="0" anchor="ctr"/>
          <a:lstStyle/>
          <a:p>
            <a:pPr marL="0" indent="0" algn="ctr">
              <a:buNone/>
            </a:pPr>
            <a:r>
              <a:rPr lang="en-US" sz="1150" dirty="0">
                <a:solidFill>
                  <a:srgbClr val="F4F8FC"/>
                </a:solidFill>
              </a:rPr>
              <a:t>FastAPI</a:t>
            </a:r>
            <a:endParaRPr lang="en-US" sz="1150" dirty="0"/>
          </a:p>
          <a:p>
            <a:pPr marL="0" indent="0" algn="ctr">
              <a:buNone/>
            </a:pPr>
            <a:r>
              <a:rPr lang="en-US" sz="1150" dirty="0">
                <a:solidFill>
                  <a:srgbClr val="F4F8FC"/>
                </a:solidFill>
              </a:rPr>
              <a:t>Kibana</a:t>
            </a:r>
            <a:endParaRPr lang="en-US" sz="1150" dirty="0"/>
          </a:p>
          <a:p>
            <a:pPr marL="0" indent="0" algn="ctr">
              <a:buNone/>
            </a:pPr>
            <a:r>
              <a:rPr lang="en-US" sz="1150" dirty="0">
                <a:solidFill>
                  <a:srgbClr val="F4F8FC"/>
                </a:solidFill>
              </a:rPr>
              <a:t>Santé devices</a:t>
            </a:r>
            <a:endParaRPr lang="en-US" sz="1150" dirty="0"/>
          </a:p>
        </p:txBody>
      </p:sp>
      <p:sp>
        <p:nvSpPr>
          <p:cNvPr id="33" name="Text 31"/>
          <p:cNvSpPr/>
          <p:nvPr/>
        </p:nvSpPr>
        <p:spPr>
          <a:xfrm>
            <a:off x="2057400" y="5715000"/>
            <a:ext cx="8092440" cy="320040"/>
          </a:xfrm>
          <a:prstGeom prst="rect">
            <a:avLst/>
          </a:prstGeom>
          <a:noFill/>
          <a:ln/>
        </p:spPr>
        <p:txBody>
          <a:bodyPr wrap="square" lIns="0" tIns="0" rIns="0" bIns="0" rtlCol="0" anchor="ctr"/>
          <a:lstStyle/>
          <a:p>
            <a:pPr marL="0" indent="0" algn="ctr">
              <a:buNone/>
            </a:pPr>
            <a:r>
              <a:rPr lang="en-US" sz="1300" dirty="0">
                <a:solidFill>
                  <a:srgbClr val="9DB0C4"/>
                </a:solidFill>
              </a:rPr>
              <a:t>Flux principal : télémétrie JSON  |  Flux secondaire : alertes et consultation</a:t>
            </a:r>
            <a:endParaRPr lang="en-US" sz="1300" dirty="0"/>
          </a:p>
        </p:txBody>
      </p:sp>
      <p:sp>
        <p:nvSpPr>
          <p:cNvPr id="34"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ESP32 &amp; WOKWI</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Le nœud capteur : mesurer, décider localement, publier</a:t>
            </a:r>
            <a:endParaRPr lang="en-US" sz="2700" dirty="0"/>
          </a:p>
        </p:txBody>
      </p:sp>
      <p:pic>
        <p:nvPicPr>
          <p:cNvPr id="4" name="Image 0" descr="/mnt/data/6b2c1f2469.png"/>
          <p:cNvPicPr>
            <a:picLocks noChangeAspect="1"/>
          </p:cNvPicPr>
          <p:nvPr/>
        </p:nvPicPr>
        <p:blipFill>
          <a:blip r:embed="rId3"/>
          <a:srcRect l="8900" r="8900"/>
          <a:stretch/>
        </p:blipFill>
        <p:spPr>
          <a:xfrm>
            <a:off x="566928" y="1325880"/>
            <a:ext cx="5806440" cy="4709160"/>
          </a:xfrm>
          <a:prstGeom prst="rect">
            <a:avLst/>
          </a:prstGeom>
        </p:spPr>
      </p:pic>
      <p:sp>
        <p:nvSpPr>
          <p:cNvPr id="5" name="Shape 2"/>
          <p:cNvSpPr/>
          <p:nvPr/>
        </p:nvSpPr>
        <p:spPr>
          <a:xfrm>
            <a:off x="6629400" y="1325880"/>
            <a:ext cx="4965192" cy="4709160"/>
          </a:xfrm>
          <a:prstGeom prst="roundRect">
            <a:avLst>
              <a:gd name="adj" fmla="val 1553"/>
            </a:avLst>
          </a:prstGeom>
          <a:solidFill>
            <a:srgbClr val="0D1B2A">
              <a:alpha val="99000"/>
            </a:srgbClr>
          </a:solidFill>
          <a:ln w="12700">
            <a:solidFill>
              <a:srgbClr val="26435C"/>
            </a:solidFill>
            <a:prstDash val="solid"/>
          </a:ln>
        </p:spPr>
      </p:sp>
      <p:sp>
        <p:nvSpPr>
          <p:cNvPr id="6" name="Shape 3"/>
          <p:cNvSpPr/>
          <p:nvPr/>
        </p:nvSpPr>
        <p:spPr>
          <a:xfrm>
            <a:off x="6967728" y="1673352"/>
            <a:ext cx="310896" cy="310896"/>
          </a:xfrm>
          <a:prstGeom prst="ellipse">
            <a:avLst/>
          </a:prstGeom>
          <a:solidFill>
            <a:srgbClr val="21C7E8"/>
          </a:solidFill>
          <a:ln w="12700">
            <a:solidFill>
              <a:srgbClr val="21C7E8"/>
            </a:solidFill>
            <a:prstDash val="solid"/>
          </a:ln>
        </p:spPr>
      </p:sp>
      <p:sp>
        <p:nvSpPr>
          <p:cNvPr id="7" name="Text 4"/>
          <p:cNvSpPr/>
          <p:nvPr/>
        </p:nvSpPr>
        <p:spPr>
          <a:xfrm>
            <a:off x="7434072" y="1664208"/>
            <a:ext cx="960120" cy="256032"/>
          </a:xfrm>
          <a:prstGeom prst="rect">
            <a:avLst/>
          </a:prstGeom>
          <a:noFill/>
          <a:ln/>
        </p:spPr>
        <p:txBody>
          <a:bodyPr wrap="square" lIns="0" tIns="0" rIns="0" bIns="0" rtlCol="0" anchor="ctr"/>
          <a:lstStyle/>
          <a:p>
            <a:pPr marL="0" indent="0">
              <a:buNone/>
            </a:pPr>
            <a:r>
              <a:rPr lang="en-US" sz="1320" b="1" dirty="0">
                <a:solidFill>
                  <a:srgbClr val="F4F8FC"/>
                </a:solidFill>
              </a:rPr>
              <a:t>DHT22</a:t>
            </a:r>
            <a:endParaRPr lang="en-US" sz="1320" dirty="0"/>
          </a:p>
        </p:txBody>
      </p:sp>
      <p:sp>
        <p:nvSpPr>
          <p:cNvPr id="8" name="Text 5"/>
          <p:cNvSpPr/>
          <p:nvPr/>
        </p:nvSpPr>
        <p:spPr>
          <a:xfrm>
            <a:off x="8485632" y="1673352"/>
            <a:ext cx="2651760" cy="228600"/>
          </a:xfrm>
          <a:prstGeom prst="rect">
            <a:avLst/>
          </a:prstGeom>
          <a:noFill/>
          <a:ln/>
        </p:spPr>
        <p:txBody>
          <a:bodyPr wrap="square" lIns="0" tIns="0" rIns="0" bIns="0" rtlCol="0" anchor="ctr"/>
          <a:lstStyle/>
          <a:p>
            <a:pPr marL="0" indent="0">
              <a:buNone/>
            </a:pPr>
            <a:r>
              <a:rPr lang="en-US" sz="1150" dirty="0">
                <a:solidFill>
                  <a:srgbClr val="9DB0C4"/>
                </a:solidFill>
              </a:rPr>
              <a:t>Température + humidité</a:t>
            </a:r>
            <a:endParaRPr lang="en-US" sz="1150" dirty="0"/>
          </a:p>
        </p:txBody>
      </p:sp>
      <p:sp>
        <p:nvSpPr>
          <p:cNvPr id="9" name="Shape 6"/>
          <p:cNvSpPr/>
          <p:nvPr/>
        </p:nvSpPr>
        <p:spPr>
          <a:xfrm>
            <a:off x="6967728" y="2423160"/>
            <a:ext cx="310896" cy="310896"/>
          </a:xfrm>
          <a:prstGeom prst="ellipse">
            <a:avLst/>
          </a:prstGeom>
          <a:solidFill>
            <a:srgbClr val="19D3C5"/>
          </a:solidFill>
          <a:ln w="12700">
            <a:solidFill>
              <a:srgbClr val="19D3C5"/>
            </a:solidFill>
            <a:prstDash val="solid"/>
          </a:ln>
        </p:spPr>
      </p:sp>
      <p:sp>
        <p:nvSpPr>
          <p:cNvPr id="10" name="Text 7"/>
          <p:cNvSpPr/>
          <p:nvPr/>
        </p:nvSpPr>
        <p:spPr>
          <a:xfrm>
            <a:off x="7434072" y="2414016"/>
            <a:ext cx="960120" cy="256032"/>
          </a:xfrm>
          <a:prstGeom prst="rect">
            <a:avLst/>
          </a:prstGeom>
          <a:noFill/>
          <a:ln/>
        </p:spPr>
        <p:txBody>
          <a:bodyPr wrap="square" lIns="0" tIns="0" rIns="0" bIns="0" rtlCol="0" anchor="ctr"/>
          <a:lstStyle/>
          <a:p>
            <a:pPr marL="0" indent="0">
              <a:buNone/>
            </a:pPr>
            <a:r>
              <a:rPr lang="en-US" sz="1320" b="1" dirty="0">
                <a:solidFill>
                  <a:srgbClr val="F4F8FC"/>
                </a:solidFill>
              </a:rPr>
              <a:t>PIR</a:t>
            </a:r>
            <a:endParaRPr lang="en-US" sz="1320" dirty="0"/>
          </a:p>
        </p:txBody>
      </p:sp>
      <p:sp>
        <p:nvSpPr>
          <p:cNvPr id="11" name="Text 8"/>
          <p:cNvSpPr/>
          <p:nvPr/>
        </p:nvSpPr>
        <p:spPr>
          <a:xfrm>
            <a:off x="8485632" y="2423160"/>
            <a:ext cx="2651760" cy="228600"/>
          </a:xfrm>
          <a:prstGeom prst="rect">
            <a:avLst/>
          </a:prstGeom>
          <a:noFill/>
          <a:ln/>
        </p:spPr>
        <p:txBody>
          <a:bodyPr wrap="square" lIns="0" tIns="0" rIns="0" bIns="0" rtlCol="0" anchor="ctr"/>
          <a:lstStyle/>
          <a:p>
            <a:pPr marL="0" indent="0">
              <a:buNone/>
            </a:pPr>
            <a:r>
              <a:rPr lang="en-US" sz="1150" dirty="0">
                <a:solidFill>
                  <a:srgbClr val="9DB0C4"/>
                </a:solidFill>
              </a:rPr>
              <a:t>Détection de mouvement</a:t>
            </a:r>
            <a:endParaRPr lang="en-US" sz="1150" dirty="0"/>
          </a:p>
        </p:txBody>
      </p:sp>
      <p:sp>
        <p:nvSpPr>
          <p:cNvPr id="12" name="Shape 9"/>
          <p:cNvSpPr/>
          <p:nvPr/>
        </p:nvSpPr>
        <p:spPr>
          <a:xfrm>
            <a:off x="6967728" y="3172968"/>
            <a:ext cx="310896" cy="310896"/>
          </a:xfrm>
          <a:prstGeom prst="ellipse">
            <a:avLst/>
          </a:prstGeom>
          <a:solidFill>
            <a:srgbClr val="FFB547"/>
          </a:solidFill>
          <a:ln w="12700">
            <a:solidFill>
              <a:srgbClr val="FFB547"/>
            </a:solidFill>
            <a:prstDash val="solid"/>
          </a:ln>
        </p:spPr>
      </p:sp>
      <p:sp>
        <p:nvSpPr>
          <p:cNvPr id="13" name="Text 10"/>
          <p:cNvSpPr/>
          <p:nvPr/>
        </p:nvSpPr>
        <p:spPr>
          <a:xfrm>
            <a:off x="7434072" y="3163824"/>
            <a:ext cx="960120" cy="256032"/>
          </a:xfrm>
          <a:prstGeom prst="rect">
            <a:avLst/>
          </a:prstGeom>
          <a:noFill/>
          <a:ln/>
        </p:spPr>
        <p:txBody>
          <a:bodyPr wrap="square" lIns="0" tIns="0" rIns="0" bIns="0" rtlCol="0" anchor="ctr"/>
          <a:lstStyle/>
          <a:p>
            <a:pPr marL="0" indent="0">
              <a:buNone/>
            </a:pPr>
            <a:r>
              <a:rPr lang="en-US" sz="1320" b="1" dirty="0">
                <a:solidFill>
                  <a:srgbClr val="F4F8FC"/>
                </a:solidFill>
              </a:rPr>
              <a:t>MQ2</a:t>
            </a:r>
            <a:endParaRPr lang="en-US" sz="1320" dirty="0"/>
          </a:p>
        </p:txBody>
      </p:sp>
      <p:sp>
        <p:nvSpPr>
          <p:cNvPr id="14" name="Text 11"/>
          <p:cNvSpPr/>
          <p:nvPr/>
        </p:nvSpPr>
        <p:spPr>
          <a:xfrm>
            <a:off x="8485632" y="3172968"/>
            <a:ext cx="2651760" cy="228600"/>
          </a:xfrm>
          <a:prstGeom prst="rect">
            <a:avLst/>
          </a:prstGeom>
          <a:noFill/>
          <a:ln/>
        </p:spPr>
        <p:txBody>
          <a:bodyPr wrap="square" lIns="0" tIns="0" rIns="0" bIns="0" rtlCol="0" anchor="ctr"/>
          <a:lstStyle/>
          <a:p>
            <a:pPr marL="0" indent="0">
              <a:buNone/>
            </a:pPr>
            <a:r>
              <a:rPr lang="en-US" sz="1150" dirty="0">
                <a:solidFill>
                  <a:srgbClr val="9DB0C4"/>
                </a:solidFill>
              </a:rPr>
              <a:t>Niveau de gaz simulé</a:t>
            </a:r>
            <a:endParaRPr lang="en-US" sz="1150" dirty="0"/>
          </a:p>
        </p:txBody>
      </p:sp>
      <p:sp>
        <p:nvSpPr>
          <p:cNvPr id="15" name="Shape 12"/>
          <p:cNvSpPr/>
          <p:nvPr/>
        </p:nvSpPr>
        <p:spPr>
          <a:xfrm>
            <a:off x="6967728" y="3922776"/>
            <a:ext cx="310896" cy="310896"/>
          </a:xfrm>
          <a:prstGeom prst="ellipse">
            <a:avLst/>
          </a:prstGeom>
          <a:solidFill>
            <a:srgbClr val="3DDC97"/>
          </a:solidFill>
          <a:ln w="12700">
            <a:solidFill>
              <a:srgbClr val="3DDC97"/>
            </a:solidFill>
            <a:prstDash val="solid"/>
          </a:ln>
        </p:spPr>
      </p:sp>
      <p:sp>
        <p:nvSpPr>
          <p:cNvPr id="16" name="Text 13"/>
          <p:cNvSpPr/>
          <p:nvPr/>
        </p:nvSpPr>
        <p:spPr>
          <a:xfrm>
            <a:off x="7434072" y="3913632"/>
            <a:ext cx="960120" cy="256032"/>
          </a:xfrm>
          <a:prstGeom prst="rect">
            <a:avLst/>
          </a:prstGeom>
          <a:noFill/>
          <a:ln/>
        </p:spPr>
        <p:txBody>
          <a:bodyPr wrap="square" lIns="0" tIns="0" rIns="0" bIns="0" rtlCol="0" anchor="ctr"/>
          <a:lstStyle/>
          <a:p>
            <a:pPr marL="0" indent="0">
              <a:buNone/>
            </a:pPr>
            <a:r>
              <a:rPr lang="en-US" sz="1320" b="1" dirty="0">
                <a:solidFill>
                  <a:srgbClr val="F4F8FC"/>
                </a:solidFill>
              </a:rPr>
              <a:t>LDR</a:t>
            </a:r>
            <a:endParaRPr lang="en-US" sz="1320" dirty="0"/>
          </a:p>
        </p:txBody>
      </p:sp>
      <p:sp>
        <p:nvSpPr>
          <p:cNvPr id="17" name="Text 14"/>
          <p:cNvSpPr/>
          <p:nvPr/>
        </p:nvSpPr>
        <p:spPr>
          <a:xfrm>
            <a:off x="8485632" y="3922776"/>
            <a:ext cx="2651760" cy="228600"/>
          </a:xfrm>
          <a:prstGeom prst="rect">
            <a:avLst/>
          </a:prstGeom>
          <a:noFill/>
          <a:ln/>
        </p:spPr>
        <p:txBody>
          <a:bodyPr wrap="square" lIns="0" tIns="0" rIns="0" bIns="0" rtlCol="0" anchor="ctr"/>
          <a:lstStyle/>
          <a:p>
            <a:pPr marL="0" indent="0">
              <a:buNone/>
            </a:pPr>
            <a:r>
              <a:rPr lang="en-US" sz="1150" dirty="0">
                <a:solidFill>
                  <a:srgbClr val="9DB0C4"/>
                </a:solidFill>
              </a:rPr>
              <a:t>Luminosité ambiante</a:t>
            </a:r>
            <a:endParaRPr lang="en-US" sz="1150" dirty="0"/>
          </a:p>
        </p:txBody>
      </p:sp>
      <p:sp>
        <p:nvSpPr>
          <p:cNvPr id="18" name="Shape 15"/>
          <p:cNvSpPr/>
          <p:nvPr/>
        </p:nvSpPr>
        <p:spPr>
          <a:xfrm>
            <a:off x="6967728" y="4672584"/>
            <a:ext cx="310896" cy="310896"/>
          </a:xfrm>
          <a:prstGeom prst="ellipse">
            <a:avLst/>
          </a:prstGeom>
          <a:solidFill>
            <a:srgbClr val="FF6262"/>
          </a:solidFill>
          <a:ln w="12700">
            <a:solidFill>
              <a:srgbClr val="FF6262"/>
            </a:solidFill>
            <a:prstDash val="solid"/>
          </a:ln>
        </p:spPr>
      </p:sp>
      <p:sp>
        <p:nvSpPr>
          <p:cNvPr id="19" name="Text 16"/>
          <p:cNvSpPr/>
          <p:nvPr/>
        </p:nvSpPr>
        <p:spPr>
          <a:xfrm>
            <a:off x="7434072" y="4663440"/>
            <a:ext cx="960120" cy="256032"/>
          </a:xfrm>
          <a:prstGeom prst="rect">
            <a:avLst/>
          </a:prstGeom>
          <a:noFill/>
          <a:ln/>
        </p:spPr>
        <p:txBody>
          <a:bodyPr wrap="square" lIns="0" tIns="0" rIns="0" bIns="0" rtlCol="0" anchor="ctr"/>
          <a:lstStyle/>
          <a:p>
            <a:pPr marL="0" indent="0">
              <a:buNone/>
            </a:pPr>
            <a:r>
              <a:rPr lang="en-US" sz="1320" b="1" dirty="0">
                <a:solidFill>
                  <a:srgbClr val="F4F8FC"/>
                </a:solidFill>
              </a:rPr>
              <a:t>LED + buzzer</a:t>
            </a:r>
            <a:endParaRPr lang="en-US" sz="1320" dirty="0"/>
          </a:p>
        </p:txBody>
      </p:sp>
      <p:sp>
        <p:nvSpPr>
          <p:cNvPr id="20" name="Text 17"/>
          <p:cNvSpPr/>
          <p:nvPr/>
        </p:nvSpPr>
        <p:spPr>
          <a:xfrm>
            <a:off x="8485632" y="4672584"/>
            <a:ext cx="2651760" cy="228600"/>
          </a:xfrm>
          <a:prstGeom prst="rect">
            <a:avLst/>
          </a:prstGeom>
          <a:noFill/>
          <a:ln/>
        </p:spPr>
        <p:txBody>
          <a:bodyPr wrap="square" lIns="0" tIns="0" rIns="0" bIns="0" rtlCol="0" anchor="ctr"/>
          <a:lstStyle/>
          <a:p>
            <a:pPr marL="0" indent="0">
              <a:buNone/>
            </a:pPr>
            <a:r>
              <a:rPr lang="en-US" sz="1150" dirty="0">
                <a:solidFill>
                  <a:srgbClr val="9DB0C4"/>
                </a:solidFill>
              </a:rPr>
              <a:t>Alerte locale immédiate</a:t>
            </a:r>
            <a:endParaRPr lang="en-US" sz="1150" dirty="0"/>
          </a:p>
        </p:txBody>
      </p:sp>
      <p:sp>
        <p:nvSpPr>
          <p:cNvPr id="21" name="Shape 18"/>
          <p:cNvSpPr/>
          <p:nvPr/>
        </p:nvSpPr>
        <p:spPr>
          <a:xfrm>
            <a:off x="6967728" y="5477256"/>
            <a:ext cx="4160520" cy="1"/>
          </a:xfrm>
          <a:prstGeom prst="line">
            <a:avLst/>
          </a:prstGeom>
          <a:noFill/>
          <a:ln w="12700">
            <a:solidFill>
              <a:srgbClr val="26435C"/>
            </a:solidFill>
            <a:prstDash val="solid"/>
          </a:ln>
        </p:spPr>
      </p:sp>
      <p:sp>
        <p:nvSpPr>
          <p:cNvPr id="22" name="Text 19"/>
          <p:cNvSpPr/>
          <p:nvPr/>
        </p:nvSpPr>
        <p:spPr>
          <a:xfrm>
            <a:off x="6967728" y="5559552"/>
            <a:ext cx="1417320" cy="228600"/>
          </a:xfrm>
          <a:prstGeom prst="rect">
            <a:avLst/>
          </a:prstGeom>
          <a:noFill/>
          <a:ln/>
        </p:spPr>
        <p:txBody>
          <a:bodyPr wrap="square" lIns="0" tIns="0" rIns="0" bIns="0" rtlCol="0" anchor="ctr"/>
          <a:lstStyle/>
          <a:p>
            <a:pPr marL="0" indent="0">
              <a:buNone/>
            </a:pPr>
            <a:r>
              <a:rPr lang="en-US" sz="1200" b="1" dirty="0">
                <a:solidFill>
                  <a:srgbClr val="19D3C5"/>
                </a:solidFill>
              </a:rPr>
              <a:t>Simulation Wokwi</a:t>
            </a:r>
            <a:endParaRPr lang="en-US" sz="1200" dirty="0"/>
          </a:p>
        </p:txBody>
      </p:sp>
      <p:sp>
        <p:nvSpPr>
          <p:cNvPr id="23" name="Text 20"/>
          <p:cNvSpPr/>
          <p:nvPr/>
        </p:nvSpPr>
        <p:spPr>
          <a:xfrm>
            <a:off x="8549640" y="5559552"/>
            <a:ext cx="2697480" cy="274320"/>
          </a:xfrm>
          <a:prstGeom prst="rect">
            <a:avLst/>
          </a:prstGeom>
          <a:noFill/>
          <a:ln/>
        </p:spPr>
        <p:txBody>
          <a:bodyPr wrap="square" lIns="0" tIns="0" rIns="0" bIns="0" rtlCol="0" anchor="ctr"/>
          <a:lstStyle/>
          <a:p>
            <a:pPr marL="0" indent="0">
              <a:buNone/>
            </a:pPr>
            <a:r>
              <a:rPr lang="en-US" sz="1050" dirty="0">
                <a:solidFill>
                  <a:srgbClr val="9DB0C4"/>
                </a:solidFill>
              </a:rPr>
              <a:t>Reproductible • Sans matériel physique • Scénarios contrôlés</a:t>
            </a:r>
            <a:endParaRPr lang="en-US" sz="10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PIPELINE DE DONNÉES</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Un flux MQTT léger, asynchrone et interopérable</a:t>
            </a:r>
            <a:endParaRPr lang="en-US" sz="2700" dirty="0"/>
          </a:p>
        </p:txBody>
      </p:sp>
      <p:sp>
        <p:nvSpPr>
          <p:cNvPr id="4" name="Shape 2"/>
          <p:cNvSpPr/>
          <p:nvPr/>
        </p:nvSpPr>
        <p:spPr>
          <a:xfrm>
            <a:off x="640080" y="1508760"/>
            <a:ext cx="1874520" cy="1097280"/>
          </a:xfrm>
          <a:prstGeom prst="roundRect">
            <a:avLst>
              <a:gd name="adj" fmla="val 5000"/>
            </a:avLst>
          </a:prstGeom>
          <a:solidFill>
            <a:srgbClr val="0D1B2A"/>
          </a:solidFill>
          <a:ln w="16510">
            <a:solidFill>
              <a:srgbClr val="21C7E8"/>
            </a:solidFill>
            <a:prstDash val="solid"/>
          </a:ln>
        </p:spPr>
      </p:sp>
      <p:sp>
        <p:nvSpPr>
          <p:cNvPr id="5" name="Text 3"/>
          <p:cNvSpPr/>
          <p:nvPr/>
        </p:nvSpPr>
        <p:spPr>
          <a:xfrm>
            <a:off x="731520" y="1783080"/>
            <a:ext cx="1691640" cy="228600"/>
          </a:xfrm>
          <a:prstGeom prst="rect">
            <a:avLst/>
          </a:prstGeom>
          <a:noFill/>
          <a:ln/>
        </p:spPr>
        <p:txBody>
          <a:bodyPr wrap="square" lIns="0" tIns="0" rIns="0" bIns="0" rtlCol="0" anchor="ctr"/>
          <a:lstStyle/>
          <a:p>
            <a:pPr marL="0" indent="0" algn="ctr">
              <a:buNone/>
            </a:pPr>
            <a:r>
              <a:rPr lang="en-US" sz="1600" b="1" dirty="0">
                <a:solidFill>
                  <a:srgbClr val="21C7E8"/>
                </a:solidFill>
              </a:rPr>
              <a:t>ESP32</a:t>
            </a:r>
            <a:endParaRPr lang="en-US" sz="1600" dirty="0"/>
          </a:p>
        </p:txBody>
      </p:sp>
      <p:sp>
        <p:nvSpPr>
          <p:cNvPr id="6" name="Text 4"/>
          <p:cNvSpPr/>
          <p:nvPr/>
        </p:nvSpPr>
        <p:spPr>
          <a:xfrm>
            <a:off x="731520" y="2148840"/>
            <a:ext cx="1691640" cy="182880"/>
          </a:xfrm>
          <a:prstGeom prst="rect">
            <a:avLst/>
          </a:prstGeom>
          <a:noFill/>
          <a:ln/>
        </p:spPr>
        <p:txBody>
          <a:bodyPr wrap="square" lIns="0" tIns="0" rIns="0" bIns="0" rtlCol="0" anchor="ctr"/>
          <a:lstStyle/>
          <a:p>
            <a:pPr marL="0" indent="0" algn="ctr">
              <a:buNone/>
            </a:pPr>
            <a:r>
              <a:rPr lang="en-US" sz="1050" dirty="0">
                <a:solidFill>
                  <a:srgbClr val="9DB0C4"/>
                </a:solidFill>
              </a:rPr>
              <a:t>Publication / 5 s</a:t>
            </a:r>
            <a:endParaRPr lang="en-US" sz="1050" dirty="0"/>
          </a:p>
        </p:txBody>
      </p:sp>
      <p:sp>
        <p:nvSpPr>
          <p:cNvPr id="7" name="Shape 5"/>
          <p:cNvSpPr/>
          <p:nvPr/>
        </p:nvSpPr>
        <p:spPr>
          <a:xfrm>
            <a:off x="2578608" y="1874520"/>
            <a:ext cx="347472" cy="320040"/>
          </a:xfrm>
          <a:prstGeom prst="chevron">
            <a:avLst/>
          </a:prstGeom>
          <a:solidFill>
            <a:srgbClr val="21C7E8">
              <a:alpha val="90000"/>
            </a:srgbClr>
          </a:solidFill>
          <a:ln w="12700">
            <a:solidFill>
              <a:srgbClr val="21C7E8"/>
            </a:solidFill>
            <a:prstDash val="solid"/>
          </a:ln>
        </p:spPr>
      </p:sp>
      <p:sp>
        <p:nvSpPr>
          <p:cNvPr id="8" name="Shape 6"/>
          <p:cNvSpPr/>
          <p:nvPr/>
        </p:nvSpPr>
        <p:spPr>
          <a:xfrm>
            <a:off x="3017520" y="1508760"/>
            <a:ext cx="1874520" cy="1097280"/>
          </a:xfrm>
          <a:prstGeom prst="roundRect">
            <a:avLst>
              <a:gd name="adj" fmla="val 5000"/>
            </a:avLst>
          </a:prstGeom>
          <a:solidFill>
            <a:srgbClr val="0D1B2A"/>
          </a:solidFill>
          <a:ln w="16510">
            <a:solidFill>
              <a:srgbClr val="19D3C5"/>
            </a:solidFill>
            <a:prstDash val="solid"/>
          </a:ln>
        </p:spPr>
      </p:sp>
      <p:sp>
        <p:nvSpPr>
          <p:cNvPr id="9" name="Text 7"/>
          <p:cNvSpPr/>
          <p:nvPr/>
        </p:nvSpPr>
        <p:spPr>
          <a:xfrm>
            <a:off x="3108960" y="1783080"/>
            <a:ext cx="1691640" cy="228600"/>
          </a:xfrm>
          <a:prstGeom prst="rect">
            <a:avLst/>
          </a:prstGeom>
          <a:noFill/>
          <a:ln/>
        </p:spPr>
        <p:txBody>
          <a:bodyPr wrap="square" lIns="0" tIns="0" rIns="0" bIns="0" rtlCol="0" anchor="ctr"/>
          <a:lstStyle/>
          <a:p>
            <a:pPr marL="0" indent="0" algn="ctr">
              <a:buNone/>
            </a:pPr>
            <a:r>
              <a:rPr lang="en-US" sz="1600" b="1" dirty="0">
                <a:solidFill>
                  <a:srgbClr val="19D3C5"/>
                </a:solidFill>
              </a:rPr>
              <a:t>HiveMQ</a:t>
            </a:r>
            <a:endParaRPr lang="en-US" sz="1600" dirty="0"/>
          </a:p>
        </p:txBody>
      </p:sp>
      <p:sp>
        <p:nvSpPr>
          <p:cNvPr id="10" name="Text 8"/>
          <p:cNvSpPr/>
          <p:nvPr/>
        </p:nvSpPr>
        <p:spPr>
          <a:xfrm>
            <a:off x="3108960" y="2148840"/>
            <a:ext cx="1691640" cy="182880"/>
          </a:xfrm>
          <a:prstGeom prst="rect">
            <a:avLst/>
          </a:prstGeom>
          <a:noFill/>
          <a:ln/>
        </p:spPr>
        <p:txBody>
          <a:bodyPr wrap="square" lIns="0" tIns="0" rIns="0" bIns="0" rtlCol="0" anchor="ctr"/>
          <a:lstStyle/>
          <a:p>
            <a:pPr marL="0" indent="0" algn="ctr">
              <a:buNone/>
            </a:pPr>
            <a:r>
              <a:rPr lang="en-US" sz="1050" dirty="0">
                <a:solidFill>
                  <a:srgbClr val="9DB0C4"/>
                </a:solidFill>
              </a:rPr>
              <a:t>broker.hivemq.com:1883</a:t>
            </a:r>
            <a:endParaRPr lang="en-US" sz="1050" dirty="0"/>
          </a:p>
        </p:txBody>
      </p:sp>
      <p:sp>
        <p:nvSpPr>
          <p:cNvPr id="11" name="Shape 9"/>
          <p:cNvSpPr/>
          <p:nvPr/>
        </p:nvSpPr>
        <p:spPr>
          <a:xfrm>
            <a:off x="4956048" y="1874520"/>
            <a:ext cx="347472" cy="320040"/>
          </a:xfrm>
          <a:prstGeom prst="chevron">
            <a:avLst/>
          </a:prstGeom>
          <a:solidFill>
            <a:srgbClr val="19D3C5">
              <a:alpha val="90000"/>
            </a:srgbClr>
          </a:solidFill>
          <a:ln w="12700">
            <a:solidFill>
              <a:srgbClr val="19D3C5"/>
            </a:solidFill>
            <a:prstDash val="solid"/>
          </a:ln>
        </p:spPr>
      </p:sp>
      <p:sp>
        <p:nvSpPr>
          <p:cNvPr id="12" name="Shape 10"/>
          <p:cNvSpPr/>
          <p:nvPr/>
        </p:nvSpPr>
        <p:spPr>
          <a:xfrm>
            <a:off x="5760720" y="1508760"/>
            <a:ext cx="1874520" cy="1097280"/>
          </a:xfrm>
          <a:prstGeom prst="roundRect">
            <a:avLst>
              <a:gd name="adj" fmla="val 5000"/>
            </a:avLst>
          </a:prstGeom>
          <a:solidFill>
            <a:srgbClr val="0D1B2A"/>
          </a:solidFill>
          <a:ln w="16510">
            <a:solidFill>
              <a:srgbClr val="FFB547"/>
            </a:solidFill>
            <a:prstDash val="solid"/>
          </a:ln>
        </p:spPr>
      </p:sp>
      <p:sp>
        <p:nvSpPr>
          <p:cNvPr id="13" name="Text 11"/>
          <p:cNvSpPr/>
          <p:nvPr/>
        </p:nvSpPr>
        <p:spPr>
          <a:xfrm>
            <a:off x="5852160" y="1783080"/>
            <a:ext cx="1691640" cy="228600"/>
          </a:xfrm>
          <a:prstGeom prst="rect">
            <a:avLst/>
          </a:prstGeom>
          <a:noFill/>
          <a:ln/>
        </p:spPr>
        <p:txBody>
          <a:bodyPr wrap="square" lIns="0" tIns="0" rIns="0" bIns="0" rtlCol="0" anchor="ctr"/>
          <a:lstStyle/>
          <a:p>
            <a:pPr marL="0" indent="0" algn="ctr">
              <a:buNone/>
            </a:pPr>
            <a:r>
              <a:rPr lang="en-US" sz="1600" b="1" dirty="0">
                <a:solidFill>
                  <a:srgbClr val="FFB547"/>
                </a:solidFill>
              </a:rPr>
              <a:t>Topic</a:t>
            </a:r>
            <a:endParaRPr lang="en-US" sz="1600" dirty="0"/>
          </a:p>
        </p:txBody>
      </p:sp>
      <p:sp>
        <p:nvSpPr>
          <p:cNvPr id="14" name="Text 12"/>
          <p:cNvSpPr/>
          <p:nvPr/>
        </p:nvSpPr>
        <p:spPr>
          <a:xfrm>
            <a:off x="5852160" y="2148840"/>
            <a:ext cx="1691640" cy="182880"/>
          </a:xfrm>
          <a:prstGeom prst="rect">
            <a:avLst/>
          </a:prstGeom>
          <a:noFill/>
          <a:ln/>
        </p:spPr>
        <p:txBody>
          <a:bodyPr wrap="square" lIns="0" tIns="0" rIns="0" bIns="0" rtlCol="0" anchor="ctr"/>
          <a:lstStyle/>
          <a:p>
            <a:pPr marL="0" indent="0" algn="ctr">
              <a:buNone/>
            </a:pPr>
            <a:r>
              <a:rPr lang="en-US" sz="1050" dirty="0">
                <a:solidFill>
                  <a:srgbClr val="9DB0C4"/>
                </a:solidFill>
              </a:rPr>
              <a:t>iot/sensors</a:t>
            </a:r>
            <a:endParaRPr lang="en-US" sz="1050" dirty="0"/>
          </a:p>
        </p:txBody>
      </p:sp>
      <p:sp>
        <p:nvSpPr>
          <p:cNvPr id="15" name="Shape 13"/>
          <p:cNvSpPr/>
          <p:nvPr/>
        </p:nvSpPr>
        <p:spPr>
          <a:xfrm>
            <a:off x="7699248" y="1874520"/>
            <a:ext cx="347472" cy="320040"/>
          </a:xfrm>
          <a:prstGeom prst="chevron">
            <a:avLst/>
          </a:prstGeom>
          <a:solidFill>
            <a:srgbClr val="FFB547">
              <a:alpha val="90000"/>
            </a:srgbClr>
          </a:solidFill>
          <a:ln w="12700">
            <a:solidFill>
              <a:srgbClr val="FFB547"/>
            </a:solidFill>
            <a:prstDash val="solid"/>
          </a:ln>
        </p:spPr>
      </p:sp>
      <p:sp>
        <p:nvSpPr>
          <p:cNvPr id="16" name="Shape 14"/>
          <p:cNvSpPr/>
          <p:nvPr/>
        </p:nvSpPr>
        <p:spPr>
          <a:xfrm>
            <a:off x="8321040" y="1508760"/>
            <a:ext cx="1874520" cy="1097280"/>
          </a:xfrm>
          <a:prstGeom prst="roundRect">
            <a:avLst>
              <a:gd name="adj" fmla="val 5000"/>
            </a:avLst>
          </a:prstGeom>
          <a:solidFill>
            <a:srgbClr val="0D1B2A"/>
          </a:solidFill>
          <a:ln w="16510">
            <a:solidFill>
              <a:srgbClr val="3DDC97"/>
            </a:solidFill>
            <a:prstDash val="solid"/>
          </a:ln>
        </p:spPr>
      </p:sp>
      <p:sp>
        <p:nvSpPr>
          <p:cNvPr id="17" name="Text 15"/>
          <p:cNvSpPr/>
          <p:nvPr/>
        </p:nvSpPr>
        <p:spPr>
          <a:xfrm>
            <a:off x="8412480" y="1783080"/>
            <a:ext cx="1691640" cy="228600"/>
          </a:xfrm>
          <a:prstGeom prst="rect">
            <a:avLst/>
          </a:prstGeom>
          <a:noFill/>
          <a:ln/>
        </p:spPr>
        <p:txBody>
          <a:bodyPr wrap="square" lIns="0" tIns="0" rIns="0" bIns="0" rtlCol="0" anchor="ctr"/>
          <a:lstStyle/>
          <a:p>
            <a:pPr marL="0" indent="0" algn="ctr">
              <a:buNone/>
            </a:pPr>
            <a:r>
              <a:rPr lang="en-US" sz="1600" b="1" dirty="0">
                <a:solidFill>
                  <a:srgbClr val="3DDC97"/>
                </a:solidFill>
              </a:rPr>
              <a:t>Consumer</a:t>
            </a:r>
            <a:endParaRPr lang="en-US" sz="1600" dirty="0"/>
          </a:p>
        </p:txBody>
      </p:sp>
      <p:sp>
        <p:nvSpPr>
          <p:cNvPr id="18" name="Text 16"/>
          <p:cNvSpPr/>
          <p:nvPr/>
        </p:nvSpPr>
        <p:spPr>
          <a:xfrm>
            <a:off x="8412480" y="2148840"/>
            <a:ext cx="1691640" cy="182880"/>
          </a:xfrm>
          <a:prstGeom prst="rect">
            <a:avLst/>
          </a:prstGeom>
          <a:noFill/>
          <a:ln/>
        </p:spPr>
        <p:txBody>
          <a:bodyPr wrap="square" lIns="0" tIns="0" rIns="0" bIns="0" rtlCol="0" anchor="ctr"/>
          <a:lstStyle/>
          <a:p>
            <a:pPr marL="0" indent="0" algn="ctr">
              <a:buNone/>
            </a:pPr>
            <a:r>
              <a:rPr lang="en-US" sz="1050" dirty="0">
                <a:solidFill>
                  <a:srgbClr val="9DB0C4"/>
                </a:solidFill>
              </a:rPr>
              <a:t>Abonnement continu</a:t>
            </a:r>
            <a:endParaRPr lang="en-US" sz="1050" dirty="0"/>
          </a:p>
        </p:txBody>
      </p:sp>
      <p:sp>
        <p:nvSpPr>
          <p:cNvPr id="19" name="Text 17"/>
          <p:cNvSpPr/>
          <p:nvPr/>
        </p:nvSpPr>
        <p:spPr>
          <a:xfrm>
            <a:off x="658368" y="3127248"/>
            <a:ext cx="1920240" cy="292608"/>
          </a:xfrm>
          <a:prstGeom prst="rect">
            <a:avLst/>
          </a:prstGeom>
          <a:noFill/>
          <a:ln/>
        </p:spPr>
        <p:txBody>
          <a:bodyPr wrap="square" lIns="0" tIns="0" rIns="0" bIns="0" rtlCol="0" anchor="ctr"/>
          <a:lstStyle/>
          <a:p>
            <a:pPr marL="0" indent="0">
              <a:buNone/>
            </a:pPr>
            <a:r>
              <a:rPr lang="en-US" sz="1400" b="1" dirty="0">
                <a:solidFill>
                  <a:srgbClr val="F4F8FC"/>
                </a:solidFill>
              </a:rPr>
              <a:t>Message publié</a:t>
            </a:r>
            <a:endParaRPr lang="en-US" sz="1400" dirty="0"/>
          </a:p>
        </p:txBody>
      </p:sp>
      <p:sp>
        <p:nvSpPr>
          <p:cNvPr id="20" name="Shape 18"/>
          <p:cNvSpPr/>
          <p:nvPr/>
        </p:nvSpPr>
        <p:spPr>
          <a:xfrm>
            <a:off x="640080" y="3538728"/>
            <a:ext cx="5394960" cy="2240280"/>
          </a:xfrm>
          <a:prstGeom prst="roundRect">
            <a:avLst>
              <a:gd name="adj" fmla="val 2041"/>
            </a:avLst>
          </a:prstGeom>
          <a:solidFill>
            <a:srgbClr val="06101A"/>
          </a:solidFill>
          <a:ln w="12700">
            <a:solidFill>
              <a:srgbClr val="26435C"/>
            </a:solidFill>
            <a:prstDash val="solid"/>
          </a:ln>
        </p:spPr>
      </p:sp>
      <p:sp>
        <p:nvSpPr>
          <p:cNvPr id="21" name="Text 19"/>
          <p:cNvSpPr/>
          <p:nvPr/>
        </p:nvSpPr>
        <p:spPr>
          <a:xfrm>
            <a:off x="896112" y="3730752"/>
            <a:ext cx="4846320" cy="1783080"/>
          </a:xfrm>
          <a:prstGeom prst="rect">
            <a:avLst/>
          </a:prstGeom>
          <a:noFill/>
          <a:ln/>
        </p:spPr>
        <p:txBody>
          <a:bodyPr wrap="square" lIns="381" tIns="381" rIns="381" bIns="381" rtlCol="0" anchor="ct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92672"/>
                </a:solidFill>
                <a:latin typeface="Consolas" pitchFamily="34" charset="0"/>
                <a:ea typeface="Consolas" pitchFamily="34" charset="-122"/>
                <a:cs typeface="Consolas" pitchFamily="34" charset="-120"/>
              </a:rPr>
              <a:t>"device_id"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"esp32-01"</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92672"/>
                </a:solidFill>
                <a:latin typeface="Consolas" pitchFamily="34" charset="0"/>
                <a:ea typeface="Consolas" pitchFamily="34" charset="-122"/>
                <a:cs typeface="Consolas" pitchFamily="34" charset="-120"/>
              </a:rPr>
              <a:t>"temperature"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27.4</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92672"/>
                </a:solidFill>
                <a:latin typeface="Consolas" pitchFamily="34" charset="0"/>
                <a:ea typeface="Consolas" pitchFamily="34" charset="-122"/>
                <a:cs typeface="Consolas" pitchFamily="34" charset="-120"/>
              </a:rPr>
              <a:t>"humidity"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61.2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92672"/>
                </a:solidFill>
                <a:latin typeface="Consolas" pitchFamily="34" charset="0"/>
                <a:ea typeface="Consolas" pitchFamily="34" charset="-122"/>
                <a:cs typeface="Consolas" pitchFamily="34" charset="-120"/>
              </a:rPr>
              <a:t>"gas_ppm"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420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92672"/>
                </a:solidFill>
                <a:latin typeface="Consolas" pitchFamily="34" charset="0"/>
                <a:ea typeface="Consolas" pitchFamily="34" charset="-122"/>
                <a:cs typeface="Consolas" pitchFamily="34" charset="-120"/>
              </a:rPr>
              <a:t>"motion"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false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92672"/>
                </a:solidFill>
                <a:latin typeface="Consolas" pitchFamily="34" charset="0"/>
                <a:ea typeface="Consolas" pitchFamily="34" charset="-122"/>
                <a:cs typeface="Consolas" pitchFamily="34" charset="-120"/>
              </a:rPr>
              <a:t>"light"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735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8F8F2"/>
                </a:solidFill>
                <a:latin typeface="Consolas" pitchFamily="34" charset="0"/>
                <a:ea typeface="Consolas" pitchFamily="34" charset="-122"/>
                <a:cs typeface="Consolas" pitchFamily="34" charset="-120"/>
              </a:rPr>
              <a:t>}</a:t>
            </a:r>
            <a:endParaRPr lang="en-US" sz="1200" dirty="0"/>
          </a:p>
        </p:txBody>
      </p:sp>
      <p:sp>
        <p:nvSpPr>
          <p:cNvPr id="22" name="Shape 20"/>
          <p:cNvSpPr/>
          <p:nvPr/>
        </p:nvSpPr>
        <p:spPr>
          <a:xfrm>
            <a:off x="6400800" y="3538728"/>
            <a:ext cx="2331720" cy="2240280"/>
          </a:xfrm>
          <a:prstGeom prst="roundRect">
            <a:avLst>
              <a:gd name="adj" fmla="val 3265"/>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23" name="Shape 21"/>
          <p:cNvSpPr/>
          <p:nvPr/>
        </p:nvSpPr>
        <p:spPr>
          <a:xfrm>
            <a:off x="6400800" y="3538728"/>
            <a:ext cx="54864" cy="2240280"/>
          </a:xfrm>
          <a:prstGeom prst="rect">
            <a:avLst/>
          </a:prstGeom>
          <a:solidFill>
            <a:srgbClr val="19D3C5"/>
          </a:solidFill>
          <a:ln w="12700">
            <a:solidFill>
              <a:srgbClr val="19D3C5"/>
            </a:solidFill>
            <a:prstDash val="solid"/>
          </a:ln>
        </p:spPr>
      </p:sp>
      <p:sp>
        <p:nvSpPr>
          <p:cNvPr id="24" name="Text 22"/>
          <p:cNvSpPr/>
          <p:nvPr/>
        </p:nvSpPr>
        <p:spPr>
          <a:xfrm>
            <a:off x="6629400" y="3739896"/>
            <a:ext cx="1920240" cy="256032"/>
          </a:xfrm>
          <a:prstGeom prst="rect">
            <a:avLst/>
          </a:prstGeom>
          <a:noFill/>
          <a:ln/>
        </p:spPr>
        <p:txBody>
          <a:bodyPr wrap="square" lIns="0" tIns="0" rIns="0" bIns="0" rtlCol="0" anchor="ctr"/>
          <a:lstStyle/>
          <a:p>
            <a:pPr marL="0" indent="0">
              <a:buNone/>
            </a:pPr>
            <a:r>
              <a:rPr lang="en-US" sz="1600" b="1" dirty="0">
                <a:solidFill>
                  <a:srgbClr val="F4F8FC"/>
                </a:solidFill>
              </a:rPr>
              <a:t>Découplage</a:t>
            </a:r>
            <a:endParaRPr lang="en-US" sz="1600" dirty="0"/>
          </a:p>
        </p:txBody>
      </p:sp>
      <p:sp>
        <p:nvSpPr>
          <p:cNvPr id="25" name="Text 23"/>
          <p:cNvSpPr/>
          <p:nvPr/>
        </p:nvSpPr>
        <p:spPr>
          <a:xfrm>
            <a:off x="6629400" y="4123944"/>
            <a:ext cx="1892808" cy="1481328"/>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Le producteur ignore le stockage final. Le consumer peut évoluer indépendamment.</a:t>
            </a:r>
            <a:endParaRPr lang="en-US" sz="1150" dirty="0"/>
          </a:p>
        </p:txBody>
      </p:sp>
      <p:sp>
        <p:nvSpPr>
          <p:cNvPr id="26" name="Shape 24"/>
          <p:cNvSpPr/>
          <p:nvPr/>
        </p:nvSpPr>
        <p:spPr>
          <a:xfrm>
            <a:off x="8961120" y="3538728"/>
            <a:ext cx="2331720" cy="2240280"/>
          </a:xfrm>
          <a:prstGeom prst="roundRect">
            <a:avLst>
              <a:gd name="adj" fmla="val 3265"/>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27" name="Shape 25"/>
          <p:cNvSpPr/>
          <p:nvPr/>
        </p:nvSpPr>
        <p:spPr>
          <a:xfrm>
            <a:off x="8961120" y="3538728"/>
            <a:ext cx="54864" cy="2240280"/>
          </a:xfrm>
          <a:prstGeom prst="rect">
            <a:avLst/>
          </a:prstGeom>
          <a:solidFill>
            <a:srgbClr val="FFB547"/>
          </a:solidFill>
          <a:ln w="12700">
            <a:solidFill>
              <a:srgbClr val="FFB547"/>
            </a:solidFill>
            <a:prstDash val="solid"/>
          </a:ln>
        </p:spPr>
      </p:sp>
      <p:sp>
        <p:nvSpPr>
          <p:cNvPr id="28" name="Text 26"/>
          <p:cNvSpPr/>
          <p:nvPr/>
        </p:nvSpPr>
        <p:spPr>
          <a:xfrm>
            <a:off x="9189720" y="3739896"/>
            <a:ext cx="1920240" cy="256032"/>
          </a:xfrm>
          <a:prstGeom prst="rect">
            <a:avLst/>
          </a:prstGeom>
          <a:noFill/>
          <a:ln/>
        </p:spPr>
        <p:txBody>
          <a:bodyPr wrap="square" lIns="0" tIns="0" rIns="0" bIns="0" rtlCol="0" anchor="ctr"/>
          <a:lstStyle/>
          <a:p>
            <a:pPr marL="0" indent="0">
              <a:buNone/>
            </a:pPr>
            <a:r>
              <a:rPr lang="en-US" sz="1600" b="1" dirty="0">
                <a:solidFill>
                  <a:srgbClr val="F4F8FC"/>
                </a:solidFill>
              </a:rPr>
              <a:t>Résilience</a:t>
            </a:r>
            <a:endParaRPr lang="en-US" sz="1600" dirty="0"/>
          </a:p>
        </p:txBody>
      </p:sp>
      <p:sp>
        <p:nvSpPr>
          <p:cNvPr id="29" name="Text 27"/>
          <p:cNvSpPr/>
          <p:nvPr/>
        </p:nvSpPr>
        <p:spPr>
          <a:xfrm>
            <a:off x="9189720" y="4123944"/>
            <a:ext cx="1892808" cy="1481328"/>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Reconnexion automatique, validation du JSON et journalisation des erreurs.</a:t>
            </a:r>
            <a:endParaRPr lang="en-US" sz="1150" dirty="0"/>
          </a:p>
        </p:txBody>
      </p:sp>
      <p:sp>
        <p:nvSpPr>
          <p:cNvPr id="30"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ANOMALIES &amp; ALERTING</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Détecter vite sans saturer les canaux d’alerte</a:t>
            </a:r>
            <a:endParaRPr lang="en-US" sz="2700" dirty="0"/>
          </a:p>
        </p:txBody>
      </p:sp>
      <p:sp>
        <p:nvSpPr>
          <p:cNvPr id="4" name="Shape 2"/>
          <p:cNvSpPr/>
          <p:nvPr/>
        </p:nvSpPr>
        <p:spPr>
          <a:xfrm>
            <a:off x="658368" y="1417320"/>
            <a:ext cx="2148840" cy="1234440"/>
          </a:xfrm>
          <a:prstGeom prst="roundRect">
            <a:avLst>
              <a:gd name="adj" fmla="val 5185"/>
            </a:avLst>
          </a:prstGeom>
          <a:solidFill>
            <a:srgbClr val="0D1B2A"/>
          </a:solidFill>
          <a:ln w="17780">
            <a:solidFill>
              <a:srgbClr val="FF6262"/>
            </a:solidFill>
            <a:prstDash val="solid"/>
          </a:ln>
        </p:spPr>
      </p:sp>
      <p:sp>
        <p:nvSpPr>
          <p:cNvPr id="5" name="Text 3"/>
          <p:cNvSpPr/>
          <p:nvPr/>
        </p:nvSpPr>
        <p:spPr>
          <a:xfrm>
            <a:off x="795528" y="1664208"/>
            <a:ext cx="1874520" cy="228600"/>
          </a:xfrm>
          <a:prstGeom prst="rect">
            <a:avLst/>
          </a:prstGeom>
          <a:noFill/>
          <a:ln/>
        </p:spPr>
        <p:txBody>
          <a:bodyPr wrap="square" lIns="0" tIns="0" rIns="0" bIns="0" rtlCol="0" anchor="ctr"/>
          <a:lstStyle/>
          <a:p>
            <a:pPr marL="0" indent="0" algn="ctr">
              <a:buNone/>
            </a:pPr>
            <a:r>
              <a:rPr lang="en-US" sz="1300" b="1" dirty="0">
                <a:solidFill>
                  <a:srgbClr val="F4F8FC"/>
                </a:solidFill>
              </a:rPr>
              <a:t>Température</a:t>
            </a:r>
            <a:endParaRPr lang="en-US" sz="1300" dirty="0"/>
          </a:p>
        </p:txBody>
      </p:sp>
      <p:sp>
        <p:nvSpPr>
          <p:cNvPr id="6" name="Text 4"/>
          <p:cNvSpPr/>
          <p:nvPr/>
        </p:nvSpPr>
        <p:spPr>
          <a:xfrm>
            <a:off x="795528" y="2029968"/>
            <a:ext cx="1874520" cy="320040"/>
          </a:xfrm>
          <a:prstGeom prst="rect">
            <a:avLst/>
          </a:prstGeom>
          <a:noFill/>
          <a:ln/>
        </p:spPr>
        <p:txBody>
          <a:bodyPr wrap="square" lIns="0" tIns="0" rIns="0" bIns="0" rtlCol="0" anchor="ctr"/>
          <a:lstStyle/>
          <a:p>
            <a:pPr marL="0" indent="0" algn="ctr">
              <a:buNone/>
            </a:pPr>
            <a:r>
              <a:rPr lang="en-US" sz="2200" b="1" dirty="0">
                <a:solidFill>
                  <a:srgbClr val="FF6262"/>
                </a:solidFill>
              </a:rPr>
              <a:t>&gt; 35 °C</a:t>
            </a:r>
            <a:endParaRPr lang="en-US" sz="2200" dirty="0"/>
          </a:p>
        </p:txBody>
      </p:sp>
      <p:sp>
        <p:nvSpPr>
          <p:cNvPr id="7" name="Shape 5"/>
          <p:cNvSpPr/>
          <p:nvPr/>
        </p:nvSpPr>
        <p:spPr>
          <a:xfrm>
            <a:off x="3081528" y="1417320"/>
            <a:ext cx="2148840" cy="1234440"/>
          </a:xfrm>
          <a:prstGeom prst="roundRect">
            <a:avLst>
              <a:gd name="adj" fmla="val 5185"/>
            </a:avLst>
          </a:prstGeom>
          <a:solidFill>
            <a:srgbClr val="0D1B2A"/>
          </a:solidFill>
          <a:ln w="17780">
            <a:solidFill>
              <a:srgbClr val="21C7E8"/>
            </a:solidFill>
            <a:prstDash val="solid"/>
          </a:ln>
        </p:spPr>
      </p:sp>
      <p:sp>
        <p:nvSpPr>
          <p:cNvPr id="8" name="Text 6"/>
          <p:cNvSpPr/>
          <p:nvPr/>
        </p:nvSpPr>
        <p:spPr>
          <a:xfrm>
            <a:off x="3218688" y="1664208"/>
            <a:ext cx="1874520" cy="228600"/>
          </a:xfrm>
          <a:prstGeom prst="rect">
            <a:avLst/>
          </a:prstGeom>
          <a:noFill/>
          <a:ln/>
        </p:spPr>
        <p:txBody>
          <a:bodyPr wrap="square" lIns="0" tIns="0" rIns="0" bIns="0" rtlCol="0" anchor="ctr"/>
          <a:lstStyle/>
          <a:p>
            <a:pPr marL="0" indent="0" algn="ctr">
              <a:buNone/>
            </a:pPr>
            <a:r>
              <a:rPr lang="en-US" sz="1300" b="1" dirty="0">
                <a:solidFill>
                  <a:srgbClr val="F4F8FC"/>
                </a:solidFill>
              </a:rPr>
              <a:t>Humidité</a:t>
            </a:r>
            <a:endParaRPr lang="en-US" sz="1300" dirty="0"/>
          </a:p>
        </p:txBody>
      </p:sp>
      <p:sp>
        <p:nvSpPr>
          <p:cNvPr id="9" name="Text 7"/>
          <p:cNvSpPr/>
          <p:nvPr/>
        </p:nvSpPr>
        <p:spPr>
          <a:xfrm>
            <a:off x="3218688" y="2029968"/>
            <a:ext cx="1874520" cy="320040"/>
          </a:xfrm>
          <a:prstGeom prst="rect">
            <a:avLst/>
          </a:prstGeom>
          <a:noFill/>
          <a:ln/>
        </p:spPr>
        <p:txBody>
          <a:bodyPr wrap="square" lIns="0" tIns="0" rIns="0" bIns="0" rtlCol="0" anchor="ctr"/>
          <a:lstStyle/>
          <a:p>
            <a:pPr marL="0" indent="0" algn="ctr">
              <a:buNone/>
            </a:pPr>
            <a:r>
              <a:rPr lang="en-US" sz="2200" b="1" dirty="0">
                <a:solidFill>
                  <a:srgbClr val="21C7E8"/>
                </a:solidFill>
              </a:rPr>
              <a:t>&gt; 80 %</a:t>
            </a:r>
            <a:endParaRPr lang="en-US" sz="2200" dirty="0"/>
          </a:p>
        </p:txBody>
      </p:sp>
      <p:sp>
        <p:nvSpPr>
          <p:cNvPr id="10" name="Shape 8"/>
          <p:cNvSpPr/>
          <p:nvPr/>
        </p:nvSpPr>
        <p:spPr>
          <a:xfrm>
            <a:off x="5504688" y="1417320"/>
            <a:ext cx="2148840" cy="1234440"/>
          </a:xfrm>
          <a:prstGeom prst="roundRect">
            <a:avLst>
              <a:gd name="adj" fmla="val 5185"/>
            </a:avLst>
          </a:prstGeom>
          <a:solidFill>
            <a:srgbClr val="0D1B2A"/>
          </a:solidFill>
          <a:ln w="17780">
            <a:solidFill>
              <a:srgbClr val="FFB547"/>
            </a:solidFill>
            <a:prstDash val="solid"/>
          </a:ln>
        </p:spPr>
      </p:sp>
      <p:sp>
        <p:nvSpPr>
          <p:cNvPr id="11" name="Text 9"/>
          <p:cNvSpPr/>
          <p:nvPr/>
        </p:nvSpPr>
        <p:spPr>
          <a:xfrm>
            <a:off x="5641848" y="1664208"/>
            <a:ext cx="1874520" cy="228600"/>
          </a:xfrm>
          <a:prstGeom prst="rect">
            <a:avLst/>
          </a:prstGeom>
          <a:noFill/>
          <a:ln/>
        </p:spPr>
        <p:txBody>
          <a:bodyPr wrap="square" lIns="0" tIns="0" rIns="0" bIns="0" rtlCol="0" anchor="ctr"/>
          <a:lstStyle/>
          <a:p>
            <a:pPr marL="0" indent="0" algn="ctr">
              <a:buNone/>
            </a:pPr>
            <a:r>
              <a:rPr lang="en-US" sz="1300" b="1" dirty="0">
                <a:solidFill>
                  <a:srgbClr val="F4F8FC"/>
                </a:solidFill>
              </a:rPr>
              <a:t>Gaz</a:t>
            </a:r>
            <a:endParaRPr lang="en-US" sz="1300" dirty="0"/>
          </a:p>
        </p:txBody>
      </p:sp>
      <p:sp>
        <p:nvSpPr>
          <p:cNvPr id="12" name="Text 10"/>
          <p:cNvSpPr/>
          <p:nvPr/>
        </p:nvSpPr>
        <p:spPr>
          <a:xfrm>
            <a:off x="5641848" y="2029968"/>
            <a:ext cx="1874520" cy="320040"/>
          </a:xfrm>
          <a:prstGeom prst="rect">
            <a:avLst/>
          </a:prstGeom>
          <a:noFill/>
          <a:ln/>
        </p:spPr>
        <p:txBody>
          <a:bodyPr wrap="square" lIns="0" tIns="0" rIns="0" bIns="0" rtlCol="0" anchor="ctr"/>
          <a:lstStyle/>
          <a:p>
            <a:pPr marL="0" indent="0" algn="ctr">
              <a:buNone/>
            </a:pPr>
            <a:r>
              <a:rPr lang="en-US" sz="2200" b="1" dirty="0">
                <a:solidFill>
                  <a:srgbClr val="FFB547"/>
                </a:solidFill>
              </a:rPr>
              <a:t>&gt; 1000 ppm</a:t>
            </a:r>
            <a:endParaRPr lang="en-US" sz="2200" dirty="0"/>
          </a:p>
        </p:txBody>
      </p:sp>
      <p:sp>
        <p:nvSpPr>
          <p:cNvPr id="13" name="Shape 11"/>
          <p:cNvSpPr/>
          <p:nvPr/>
        </p:nvSpPr>
        <p:spPr>
          <a:xfrm>
            <a:off x="8092440" y="1417320"/>
            <a:ext cx="3456432" cy="1234440"/>
          </a:xfrm>
          <a:prstGeom prst="roundRect">
            <a:avLst>
              <a:gd name="adj" fmla="val 5185"/>
            </a:avLst>
          </a:prstGeom>
          <a:solidFill>
            <a:srgbClr val="10263A"/>
          </a:solidFill>
          <a:ln w="17780">
            <a:solidFill>
              <a:srgbClr val="3DDC97"/>
            </a:solidFill>
            <a:prstDash val="solid"/>
          </a:ln>
        </p:spPr>
      </p:sp>
      <p:sp>
        <p:nvSpPr>
          <p:cNvPr id="14" name="Text 12"/>
          <p:cNvSpPr/>
          <p:nvPr/>
        </p:nvSpPr>
        <p:spPr>
          <a:xfrm>
            <a:off x="8321040" y="1682496"/>
            <a:ext cx="2999232" cy="256032"/>
          </a:xfrm>
          <a:prstGeom prst="rect">
            <a:avLst/>
          </a:prstGeom>
          <a:noFill/>
          <a:ln/>
        </p:spPr>
        <p:txBody>
          <a:bodyPr wrap="square" lIns="0" tIns="0" rIns="0" bIns="0" rtlCol="0" anchor="ctr"/>
          <a:lstStyle/>
          <a:p>
            <a:pPr marL="0" indent="0" algn="ctr">
              <a:buNone/>
            </a:pPr>
            <a:r>
              <a:rPr lang="en-US" sz="1500" b="1" dirty="0">
                <a:solidFill>
                  <a:srgbClr val="3DDC97"/>
                </a:solidFill>
              </a:rPr>
              <a:t>Seuils configurables</a:t>
            </a:r>
            <a:endParaRPr lang="en-US" sz="1500" dirty="0"/>
          </a:p>
        </p:txBody>
      </p:sp>
      <p:sp>
        <p:nvSpPr>
          <p:cNvPr id="15" name="Text 13"/>
          <p:cNvSpPr/>
          <p:nvPr/>
        </p:nvSpPr>
        <p:spPr>
          <a:xfrm>
            <a:off x="8321040" y="2084832"/>
            <a:ext cx="2999232" cy="228600"/>
          </a:xfrm>
          <a:prstGeom prst="rect">
            <a:avLst/>
          </a:prstGeom>
          <a:noFill/>
          <a:ln/>
        </p:spPr>
        <p:txBody>
          <a:bodyPr wrap="square" lIns="0" tIns="0" rIns="0" bIns="0" rtlCol="0" anchor="ctr"/>
          <a:lstStyle/>
          <a:p>
            <a:pPr marL="0" indent="0" algn="ctr">
              <a:buNone/>
            </a:pPr>
            <a:r>
              <a:rPr lang="en-US" sz="1050" dirty="0">
                <a:solidFill>
                  <a:srgbClr val="9DB0C4"/>
                </a:solidFill>
              </a:rPr>
              <a:t>Variables d’environnement • Sans recompilation</a:t>
            </a:r>
            <a:endParaRPr lang="en-US" sz="1050" dirty="0"/>
          </a:p>
        </p:txBody>
      </p:sp>
      <p:sp>
        <p:nvSpPr>
          <p:cNvPr id="16" name="Shape 14"/>
          <p:cNvSpPr/>
          <p:nvPr/>
        </p:nvSpPr>
        <p:spPr>
          <a:xfrm>
            <a:off x="658368" y="3657600"/>
            <a:ext cx="1737360" cy="749808"/>
          </a:xfrm>
          <a:prstGeom prst="roundRect">
            <a:avLst>
              <a:gd name="adj" fmla="val 7317"/>
            </a:avLst>
          </a:prstGeom>
          <a:solidFill>
            <a:srgbClr val="0D1B2A"/>
          </a:solidFill>
          <a:ln w="15240">
            <a:solidFill>
              <a:srgbClr val="21C7E8"/>
            </a:solidFill>
            <a:prstDash val="solid"/>
          </a:ln>
        </p:spPr>
      </p:sp>
      <p:sp>
        <p:nvSpPr>
          <p:cNvPr id="17" name="Text 15"/>
          <p:cNvSpPr/>
          <p:nvPr/>
        </p:nvSpPr>
        <p:spPr>
          <a:xfrm>
            <a:off x="749808" y="3886200"/>
            <a:ext cx="1554480" cy="228600"/>
          </a:xfrm>
          <a:prstGeom prst="rect">
            <a:avLst/>
          </a:prstGeom>
          <a:noFill/>
          <a:ln/>
        </p:spPr>
        <p:txBody>
          <a:bodyPr wrap="square" lIns="0" tIns="0" rIns="0" bIns="0" rtlCol="0" anchor="ctr"/>
          <a:lstStyle/>
          <a:p>
            <a:pPr marL="0" indent="0" algn="ctr">
              <a:buNone/>
            </a:pPr>
            <a:r>
              <a:rPr lang="en-US" sz="1200" b="1" dirty="0">
                <a:solidFill>
                  <a:srgbClr val="21C7E8"/>
                </a:solidFill>
              </a:rPr>
              <a:t>Mesure reçue</a:t>
            </a:r>
            <a:endParaRPr lang="en-US" sz="1200" dirty="0"/>
          </a:p>
        </p:txBody>
      </p:sp>
      <p:sp>
        <p:nvSpPr>
          <p:cNvPr id="18" name="Shape 16"/>
          <p:cNvSpPr/>
          <p:nvPr/>
        </p:nvSpPr>
        <p:spPr>
          <a:xfrm>
            <a:off x="2459736" y="3867912"/>
            <a:ext cx="347472" cy="320040"/>
          </a:xfrm>
          <a:prstGeom prst="chevron">
            <a:avLst/>
          </a:prstGeom>
          <a:solidFill>
            <a:srgbClr val="21C7E8">
              <a:alpha val="90000"/>
            </a:srgbClr>
          </a:solidFill>
          <a:ln w="12700">
            <a:solidFill>
              <a:srgbClr val="21C7E8"/>
            </a:solidFill>
            <a:prstDash val="solid"/>
          </a:ln>
        </p:spPr>
      </p:sp>
      <p:sp>
        <p:nvSpPr>
          <p:cNvPr id="19" name="Shape 17"/>
          <p:cNvSpPr/>
          <p:nvPr/>
        </p:nvSpPr>
        <p:spPr>
          <a:xfrm>
            <a:off x="2926080" y="3657600"/>
            <a:ext cx="1737360" cy="749808"/>
          </a:xfrm>
          <a:prstGeom prst="roundRect">
            <a:avLst>
              <a:gd name="adj" fmla="val 7317"/>
            </a:avLst>
          </a:prstGeom>
          <a:solidFill>
            <a:srgbClr val="0D1B2A"/>
          </a:solidFill>
          <a:ln w="15240">
            <a:solidFill>
              <a:srgbClr val="19D3C5"/>
            </a:solidFill>
            <a:prstDash val="solid"/>
          </a:ln>
        </p:spPr>
      </p:sp>
      <p:sp>
        <p:nvSpPr>
          <p:cNvPr id="20" name="Text 18"/>
          <p:cNvSpPr/>
          <p:nvPr/>
        </p:nvSpPr>
        <p:spPr>
          <a:xfrm>
            <a:off x="3017520" y="3886200"/>
            <a:ext cx="1554480" cy="228600"/>
          </a:xfrm>
          <a:prstGeom prst="rect">
            <a:avLst/>
          </a:prstGeom>
          <a:noFill/>
          <a:ln/>
        </p:spPr>
        <p:txBody>
          <a:bodyPr wrap="square" lIns="0" tIns="0" rIns="0" bIns="0" rtlCol="0" anchor="ctr"/>
          <a:lstStyle/>
          <a:p>
            <a:pPr marL="0" indent="0" algn="ctr">
              <a:buNone/>
            </a:pPr>
            <a:r>
              <a:rPr lang="en-US" sz="1200" b="1" dirty="0">
                <a:solidFill>
                  <a:srgbClr val="19D3C5"/>
                </a:solidFill>
              </a:rPr>
              <a:t>Évaluation</a:t>
            </a:r>
            <a:endParaRPr lang="en-US" sz="1200" dirty="0"/>
          </a:p>
        </p:txBody>
      </p:sp>
      <p:sp>
        <p:nvSpPr>
          <p:cNvPr id="21" name="Shape 19"/>
          <p:cNvSpPr/>
          <p:nvPr/>
        </p:nvSpPr>
        <p:spPr>
          <a:xfrm>
            <a:off x="4727448" y="3867912"/>
            <a:ext cx="347472" cy="320040"/>
          </a:xfrm>
          <a:prstGeom prst="chevron">
            <a:avLst/>
          </a:prstGeom>
          <a:solidFill>
            <a:srgbClr val="19D3C5">
              <a:alpha val="90000"/>
            </a:srgbClr>
          </a:solidFill>
          <a:ln w="12700">
            <a:solidFill>
              <a:srgbClr val="19D3C5"/>
            </a:solidFill>
            <a:prstDash val="solid"/>
          </a:ln>
        </p:spPr>
      </p:sp>
      <p:sp>
        <p:nvSpPr>
          <p:cNvPr id="22" name="Shape 20"/>
          <p:cNvSpPr/>
          <p:nvPr/>
        </p:nvSpPr>
        <p:spPr>
          <a:xfrm>
            <a:off x="5193792" y="3657600"/>
            <a:ext cx="1737360" cy="749808"/>
          </a:xfrm>
          <a:prstGeom prst="roundRect">
            <a:avLst>
              <a:gd name="adj" fmla="val 7317"/>
            </a:avLst>
          </a:prstGeom>
          <a:solidFill>
            <a:srgbClr val="0D1B2A"/>
          </a:solidFill>
          <a:ln w="15240">
            <a:solidFill>
              <a:srgbClr val="FFB547"/>
            </a:solidFill>
            <a:prstDash val="solid"/>
          </a:ln>
        </p:spPr>
      </p:sp>
      <p:sp>
        <p:nvSpPr>
          <p:cNvPr id="23" name="Text 21"/>
          <p:cNvSpPr/>
          <p:nvPr/>
        </p:nvSpPr>
        <p:spPr>
          <a:xfrm>
            <a:off x="5285232" y="3886200"/>
            <a:ext cx="1554480" cy="228600"/>
          </a:xfrm>
          <a:prstGeom prst="rect">
            <a:avLst/>
          </a:prstGeom>
          <a:noFill/>
          <a:ln/>
        </p:spPr>
        <p:txBody>
          <a:bodyPr wrap="square" lIns="0" tIns="0" rIns="0" bIns="0" rtlCol="0" anchor="ctr"/>
          <a:lstStyle/>
          <a:p>
            <a:pPr marL="0" indent="0" algn="ctr">
              <a:buNone/>
            </a:pPr>
            <a:r>
              <a:rPr lang="en-US" sz="1200" b="1" dirty="0">
                <a:solidFill>
                  <a:srgbClr val="FFB547"/>
                </a:solidFill>
              </a:rPr>
              <a:t>Anomalie ?</a:t>
            </a:r>
            <a:endParaRPr lang="en-US" sz="1200" dirty="0"/>
          </a:p>
        </p:txBody>
      </p:sp>
      <p:sp>
        <p:nvSpPr>
          <p:cNvPr id="24" name="Shape 22"/>
          <p:cNvSpPr/>
          <p:nvPr/>
        </p:nvSpPr>
        <p:spPr>
          <a:xfrm>
            <a:off x="6995160" y="3867912"/>
            <a:ext cx="347472" cy="320040"/>
          </a:xfrm>
          <a:prstGeom prst="chevron">
            <a:avLst/>
          </a:prstGeom>
          <a:solidFill>
            <a:srgbClr val="FFB547">
              <a:alpha val="90000"/>
            </a:srgbClr>
          </a:solidFill>
          <a:ln w="12700">
            <a:solidFill>
              <a:srgbClr val="FFB547"/>
            </a:solidFill>
            <a:prstDash val="solid"/>
          </a:ln>
        </p:spPr>
      </p:sp>
      <p:sp>
        <p:nvSpPr>
          <p:cNvPr id="25" name="Shape 23"/>
          <p:cNvSpPr/>
          <p:nvPr/>
        </p:nvSpPr>
        <p:spPr>
          <a:xfrm>
            <a:off x="7461504" y="3657600"/>
            <a:ext cx="1737360" cy="749808"/>
          </a:xfrm>
          <a:prstGeom prst="roundRect">
            <a:avLst>
              <a:gd name="adj" fmla="val 7317"/>
            </a:avLst>
          </a:prstGeom>
          <a:solidFill>
            <a:srgbClr val="0D1B2A"/>
          </a:solidFill>
          <a:ln w="15240">
            <a:solidFill>
              <a:srgbClr val="FF6262"/>
            </a:solidFill>
            <a:prstDash val="solid"/>
          </a:ln>
        </p:spPr>
      </p:sp>
      <p:sp>
        <p:nvSpPr>
          <p:cNvPr id="26" name="Text 24"/>
          <p:cNvSpPr/>
          <p:nvPr/>
        </p:nvSpPr>
        <p:spPr>
          <a:xfrm>
            <a:off x="7552944" y="3886200"/>
            <a:ext cx="1554480" cy="228600"/>
          </a:xfrm>
          <a:prstGeom prst="rect">
            <a:avLst/>
          </a:prstGeom>
          <a:noFill/>
          <a:ln/>
        </p:spPr>
        <p:txBody>
          <a:bodyPr wrap="square" lIns="0" tIns="0" rIns="0" bIns="0" rtlCol="0" anchor="ctr"/>
          <a:lstStyle/>
          <a:p>
            <a:pPr marL="0" indent="0" algn="ctr">
              <a:buNone/>
            </a:pPr>
            <a:r>
              <a:rPr lang="en-US" sz="1200" b="1" dirty="0">
                <a:solidFill>
                  <a:srgbClr val="FF6262"/>
                </a:solidFill>
              </a:rPr>
              <a:t>Cooldown OK ?</a:t>
            </a:r>
            <a:endParaRPr lang="en-US" sz="1200" dirty="0"/>
          </a:p>
        </p:txBody>
      </p:sp>
      <p:sp>
        <p:nvSpPr>
          <p:cNvPr id="27" name="Shape 25"/>
          <p:cNvSpPr/>
          <p:nvPr/>
        </p:nvSpPr>
        <p:spPr>
          <a:xfrm>
            <a:off x="9262872" y="3867912"/>
            <a:ext cx="347472" cy="320040"/>
          </a:xfrm>
          <a:prstGeom prst="chevron">
            <a:avLst/>
          </a:prstGeom>
          <a:solidFill>
            <a:srgbClr val="FF6262">
              <a:alpha val="90000"/>
            </a:srgbClr>
          </a:solidFill>
          <a:ln w="12700">
            <a:solidFill>
              <a:srgbClr val="FF6262"/>
            </a:solidFill>
            <a:prstDash val="solid"/>
          </a:ln>
        </p:spPr>
      </p:sp>
      <p:sp>
        <p:nvSpPr>
          <p:cNvPr id="28" name="Shape 26"/>
          <p:cNvSpPr/>
          <p:nvPr/>
        </p:nvSpPr>
        <p:spPr>
          <a:xfrm>
            <a:off x="9729216" y="3657600"/>
            <a:ext cx="1737360" cy="749808"/>
          </a:xfrm>
          <a:prstGeom prst="roundRect">
            <a:avLst>
              <a:gd name="adj" fmla="val 7317"/>
            </a:avLst>
          </a:prstGeom>
          <a:solidFill>
            <a:srgbClr val="0D1B2A"/>
          </a:solidFill>
          <a:ln w="15240">
            <a:solidFill>
              <a:srgbClr val="3DDC97"/>
            </a:solidFill>
            <a:prstDash val="solid"/>
          </a:ln>
        </p:spPr>
      </p:sp>
      <p:sp>
        <p:nvSpPr>
          <p:cNvPr id="29" name="Text 27"/>
          <p:cNvSpPr/>
          <p:nvPr/>
        </p:nvSpPr>
        <p:spPr>
          <a:xfrm>
            <a:off x="9820656" y="3886200"/>
            <a:ext cx="1554480" cy="228600"/>
          </a:xfrm>
          <a:prstGeom prst="rect">
            <a:avLst/>
          </a:prstGeom>
          <a:noFill/>
          <a:ln/>
        </p:spPr>
        <p:txBody>
          <a:bodyPr wrap="square" lIns="0" tIns="0" rIns="0" bIns="0" rtlCol="0" anchor="ctr"/>
          <a:lstStyle/>
          <a:p>
            <a:pPr marL="0" indent="0" algn="ctr">
              <a:buNone/>
            </a:pPr>
            <a:r>
              <a:rPr lang="en-US" sz="1200" b="1" dirty="0">
                <a:solidFill>
                  <a:srgbClr val="3DDC97"/>
                </a:solidFill>
              </a:rPr>
              <a:t>Webhook</a:t>
            </a:r>
            <a:endParaRPr lang="en-US" sz="1200" dirty="0"/>
          </a:p>
        </p:txBody>
      </p:sp>
      <p:sp>
        <p:nvSpPr>
          <p:cNvPr id="30" name="Shape 28"/>
          <p:cNvSpPr/>
          <p:nvPr/>
        </p:nvSpPr>
        <p:spPr>
          <a:xfrm>
            <a:off x="2331720" y="4983480"/>
            <a:ext cx="7543800" cy="621792"/>
          </a:xfrm>
          <a:prstGeom prst="roundRect">
            <a:avLst>
              <a:gd name="adj" fmla="val 7353"/>
            </a:avLst>
          </a:prstGeom>
          <a:solidFill>
            <a:srgbClr val="FFB547">
              <a:alpha val="14000"/>
            </a:srgbClr>
          </a:solidFill>
          <a:ln w="12700">
            <a:solidFill>
              <a:srgbClr val="FFB547"/>
            </a:solidFill>
            <a:prstDash val="solid"/>
          </a:ln>
        </p:spPr>
      </p:sp>
      <p:sp>
        <p:nvSpPr>
          <p:cNvPr id="31" name="Text 29"/>
          <p:cNvSpPr/>
          <p:nvPr/>
        </p:nvSpPr>
        <p:spPr>
          <a:xfrm>
            <a:off x="2560320" y="5184648"/>
            <a:ext cx="7086600" cy="201168"/>
          </a:xfrm>
          <a:prstGeom prst="rect">
            <a:avLst/>
          </a:prstGeom>
          <a:noFill/>
          <a:ln/>
        </p:spPr>
        <p:txBody>
          <a:bodyPr wrap="square" lIns="0" tIns="0" rIns="0" bIns="0" rtlCol="0" anchor="ctr"/>
          <a:lstStyle/>
          <a:p>
            <a:pPr marL="0" indent="0" algn="ctr">
              <a:buNone/>
            </a:pPr>
            <a:r>
              <a:rPr lang="en-US" sz="1150" dirty="0">
                <a:solidFill>
                  <a:srgbClr val="FFB547"/>
                </a:solidFill>
              </a:rPr>
              <a:t>Cooldown anti-spam : une même alerte n’est pas renvoyée avant l’expiration de la fenêtre configurée.</a:t>
            </a:r>
            <a:endParaRPr lang="en-US" sz="1150" dirty="0"/>
          </a:p>
        </p:txBody>
      </p:sp>
      <p:sp>
        <p:nvSpPr>
          <p:cNvPr id="32"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STOCKAGE &amp; API</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Une donnée indexée, puis exposée de façon contrôlée</a:t>
            </a:r>
            <a:endParaRPr lang="en-US" sz="2700" dirty="0"/>
          </a:p>
        </p:txBody>
      </p:sp>
      <p:sp>
        <p:nvSpPr>
          <p:cNvPr id="4" name="Shape 2"/>
          <p:cNvSpPr/>
          <p:nvPr/>
        </p:nvSpPr>
        <p:spPr>
          <a:xfrm>
            <a:off x="594360" y="1353312"/>
            <a:ext cx="5257800" cy="4526280"/>
          </a:xfrm>
          <a:prstGeom prst="roundRect">
            <a:avLst>
              <a:gd name="adj" fmla="val 1616"/>
            </a:avLst>
          </a:prstGeom>
          <a:solidFill>
            <a:srgbClr val="0D1B2A"/>
          </a:solidFill>
          <a:ln w="15240">
            <a:solidFill>
              <a:srgbClr val="21C7E8"/>
            </a:solidFill>
            <a:prstDash val="solid"/>
          </a:ln>
        </p:spPr>
      </p:sp>
      <p:sp>
        <p:nvSpPr>
          <p:cNvPr id="5" name="Text 3"/>
          <p:cNvSpPr/>
          <p:nvPr/>
        </p:nvSpPr>
        <p:spPr>
          <a:xfrm>
            <a:off x="896112" y="1673352"/>
            <a:ext cx="2194560" cy="320040"/>
          </a:xfrm>
          <a:prstGeom prst="rect">
            <a:avLst/>
          </a:prstGeom>
          <a:noFill/>
          <a:ln/>
        </p:spPr>
        <p:txBody>
          <a:bodyPr wrap="square" lIns="0" tIns="0" rIns="0" bIns="0" rtlCol="0" anchor="ctr"/>
          <a:lstStyle/>
          <a:p>
            <a:pPr marL="0" indent="0">
              <a:buNone/>
            </a:pPr>
            <a:r>
              <a:rPr lang="en-US" sz="2100" b="1" dirty="0">
                <a:solidFill>
                  <a:srgbClr val="21C7E8"/>
                </a:solidFill>
              </a:rPr>
              <a:t>Elasticsearch</a:t>
            </a:r>
            <a:endParaRPr lang="en-US" sz="2100" dirty="0"/>
          </a:p>
        </p:txBody>
      </p:sp>
      <p:sp>
        <p:nvSpPr>
          <p:cNvPr id="6" name="Text 4"/>
          <p:cNvSpPr/>
          <p:nvPr/>
        </p:nvSpPr>
        <p:spPr>
          <a:xfrm>
            <a:off x="3657600" y="1737360"/>
            <a:ext cx="1737360" cy="228600"/>
          </a:xfrm>
          <a:prstGeom prst="rect">
            <a:avLst/>
          </a:prstGeom>
          <a:noFill/>
          <a:ln/>
        </p:spPr>
        <p:txBody>
          <a:bodyPr wrap="square" lIns="0" tIns="0" rIns="0" bIns="0" rtlCol="0" anchor="ctr"/>
          <a:lstStyle/>
          <a:p>
            <a:pPr marL="0" indent="0" algn="r">
              <a:buNone/>
            </a:pPr>
            <a:r>
              <a:rPr lang="en-US" sz="1150" dirty="0">
                <a:solidFill>
                  <a:srgbClr val="9DB0C4"/>
                </a:solidFill>
              </a:rPr>
              <a:t>Index : iot-data-*</a:t>
            </a:r>
            <a:endParaRPr lang="en-US" sz="1150" dirty="0"/>
          </a:p>
        </p:txBody>
      </p:sp>
      <p:sp>
        <p:nvSpPr>
          <p:cNvPr id="7" name="Shape 5"/>
          <p:cNvSpPr/>
          <p:nvPr/>
        </p:nvSpPr>
        <p:spPr>
          <a:xfrm>
            <a:off x="914400" y="2331720"/>
            <a:ext cx="4526280" cy="384048"/>
          </a:xfrm>
          <a:prstGeom prst="roundRect">
            <a:avLst>
              <a:gd name="adj" fmla="val 9524"/>
            </a:avLst>
          </a:prstGeom>
          <a:solidFill>
            <a:srgbClr val="10263A"/>
          </a:solidFill>
          <a:ln w="12700">
            <a:solidFill>
              <a:srgbClr val="26435C"/>
            </a:solidFill>
            <a:prstDash val="solid"/>
          </a:ln>
        </p:spPr>
      </p:sp>
      <p:sp>
        <p:nvSpPr>
          <p:cNvPr id="8" name="Text 6"/>
          <p:cNvSpPr/>
          <p:nvPr/>
        </p:nvSpPr>
        <p:spPr>
          <a:xfrm>
            <a:off x="1115568" y="2432304"/>
            <a:ext cx="4114800" cy="164592"/>
          </a:xfrm>
          <a:prstGeom prst="rect">
            <a:avLst/>
          </a:prstGeom>
          <a:noFill/>
          <a:ln/>
        </p:spPr>
        <p:txBody>
          <a:bodyPr wrap="square" lIns="0" tIns="0" rIns="0" bIns="0" rtlCol="0" anchor="ctr"/>
          <a:lstStyle/>
          <a:p>
            <a:pPr marL="0" indent="0">
              <a:buNone/>
            </a:pPr>
            <a:r>
              <a:rPr lang="en-US" sz="1150" dirty="0">
                <a:solidFill>
                  <a:srgbClr val="19D3C5"/>
                </a:solidFill>
              </a:rPr>
              <a:t>@timestamp</a:t>
            </a:r>
            <a:endParaRPr lang="en-US" sz="1150" dirty="0"/>
          </a:p>
        </p:txBody>
      </p:sp>
      <p:sp>
        <p:nvSpPr>
          <p:cNvPr id="9" name="Shape 7"/>
          <p:cNvSpPr/>
          <p:nvPr/>
        </p:nvSpPr>
        <p:spPr>
          <a:xfrm>
            <a:off x="914400" y="2916936"/>
            <a:ext cx="4526280" cy="384048"/>
          </a:xfrm>
          <a:prstGeom prst="roundRect">
            <a:avLst>
              <a:gd name="adj" fmla="val 9524"/>
            </a:avLst>
          </a:prstGeom>
          <a:solidFill>
            <a:srgbClr val="10263A"/>
          </a:solidFill>
          <a:ln w="12700">
            <a:solidFill>
              <a:srgbClr val="26435C"/>
            </a:solidFill>
            <a:prstDash val="solid"/>
          </a:ln>
        </p:spPr>
      </p:sp>
      <p:sp>
        <p:nvSpPr>
          <p:cNvPr id="10" name="Text 8"/>
          <p:cNvSpPr/>
          <p:nvPr/>
        </p:nvSpPr>
        <p:spPr>
          <a:xfrm>
            <a:off x="1115568" y="3017520"/>
            <a:ext cx="4114800" cy="164592"/>
          </a:xfrm>
          <a:prstGeom prst="rect">
            <a:avLst/>
          </a:prstGeom>
          <a:noFill/>
          <a:ln/>
        </p:spPr>
        <p:txBody>
          <a:bodyPr wrap="square" lIns="0" tIns="0" rIns="0" bIns="0" rtlCol="0" anchor="ctr"/>
          <a:lstStyle/>
          <a:p>
            <a:pPr marL="0" indent="0">
              <a:buNone/>
            </a:pPr>
            <a:r>
              <a:rPr lang="en-US" sz="1150" dirty="0">
                <a:solidFill>
                  <a:srgbClr val="F4F8FC"/>
                </a:solidFill>
              </a:rPr>
              <a:t>device_id</a:t>
            </a:r>
            <a:endParaRPr lang="en-US" sz="1150" dirty="0"/>
          </a:p>
        </p:txBody>
      </p:sp>
      <p:sp>
        <p:nvSpPr>
          <p:cNvPr id="11" name="Shape 9"/>
          <p:cNvSpPr/>
          <p:nvPr/>
        </p:nvSpPr>
        <p:spPr>
          <a:xfrm>
            <a:off x="914400" y="3502152"/>
            <a:ext cx="4526280" cy="384048"/>
          </a:xfrm>
          <a:prstGeom prst="roundRect">
            <a:avLst>
              <a:gd name="adj" fmla="val 9524"/>
            </a:avLst>
          </a:prstGeom>
          <a:solidFill>
            <a:srgbClr val="10263A"/>
          </a:solidFill>
          <a:ln w="12700">
            <a:solidFill>
              <a:srgbClr val="26435C"/>
            </a:solidFill>
            <a:prstDash val="solid"/>
          </a:ln>
        </p:spPr>
      </p:sp>
      <p:sp>
        <p:nvSpPr>
          <p:cNvPr id="12" name="Text 10"/>
          <p:cNvSpPr/>
          <p:nvPr/>
        </p:nvSpPr>
        <p:spPr>
          <a:xfrm>
            <a:off x="1115568" y="3602736"/>
            <a:ext cx="4114800" cy="164592"/>
          </a:xfrm>
          <a:prstGeom prst="rect">
            <a:avLst/>
          </a:prstGeom>
          <a:noFill/>
          <a:ln/>
        </p:spPr>
        <p:txBody>
          <a:bodyPr wrap="square" lIns="0" tIns="0" rIns="0" bIns="0" rtlCol="0" anchor="ctr"/>
          <a:lstStyle/>
          <a:p>
            <a:pPr marL="0" indent="0">
              <a:buNone/>
            </a:pPr>
            <a:r>
              <a:rPr lang="en-US" sz="1150" dirty="0">
                <a:solidFill>
                  <a:srgbClr val="F4F8FC"/>
                </a:solidFill>
              </a:rPr>
              <a:t>temperature / humidity</a:t>
            </a:r>
            <a:endParaRPr lang="en-US" sz="1150" dirty="0"/>
          </a:p>
        </p:txBody>
      </p:sp>
      <p:sp>
        <p:nvSpPr>
          <p:cNvPr id="13" name="Shape 11"/>
          <p:cNvSpPr/>
          <p:nvPr/>
        </p:nvSpPr>
        <p:spPr>
          <a:xfrm>
            <a:off x="914400" y="4087368"/>
            <a:ext cx="4526280" cy="384048"/>
          </a:xfrm>
          <a:prstGeom prst="roundRect">
            <a:avLst>
              <a:gd name="adj" fmla="val 9524"/>
            </a:avLst>
          </a:prstGeom>
          <a:solidFill>
            <a:srgbClr val="10263A"/>
          </a:solidFill>
          <a:ln w="12700">
            <a:solidFill>
              <a:srgbClr val="26435C"/>
            </a:solidFill>
            <a:prstDash val="solid"/>
          </a:ln>
        </p:spPr>
      </p:sp>
      <p:sp>
        <p:nvSpPr>
          <p:cNvPr id="14" name="Text 12"/>
          <p:cNvSpPr/>
          <p:nvPr/>
        </p:nvSpPr>
        <p:spPr>
          <a:xfrm>
            <a:off x="1115568" y="4187952"/>
            <a:ext cx="4114800" cy="164592"/>
          </a:xfrm>
          <a:prstGeom prst="rect">
            <a:avLst/>
          </a:prstGeom>
          <a:noFill/>
          <a:ln/>
        </p:spPr>
        <p:txBody>
          <a:bodyPr wrap="square" lIns="0" tIns="0" rIns="0" bIns="0" rtlCol="0" anchor="ctr"/>
          <a:lstStyle/>
          <a:p>
            <a:pPr marL="0" indent="0">
              <a:buNone/>
            </a:pPr>
            <a:r>
              <a:rPr lang="en-US" sz="1150" dirty="0">
                <a:solidFill>
                  <a:srgbClr val="F4F8FC"/>
                </a:solidFill>
              </a:rPr>
              <a:t>gas_ppm / light / motion</a:t>
            </a:r>
            <a:endParaRPr lang="en-US" sz="1150" dirty="0"/>
          </a:p>
        </p:txBody>
      </p:sp>
      <p:sp>
        <p:nvSpPr>
          <p:cNvPr id="15" name="Shape 13"/>
          <p:cNvSpPr/>
          <p:nvPr/>
        </p:nvSpPr>
        <p:spPr>
          <a:xfrm>
            <a:off x="914400" y="4672584"/>
            <a:ext cx="4526280" cy="384048"/>
          </a:xfrm>
          <a:prstGeom prst="roundRect">
            <a:avLst>
              <a:gd name="adj" fmla="val 9524"/>
            </a:avLst>
          </a:prstGeom>
          <a:solidFill>
            <a:srgbClr val="10263A"/>
          </a:solidFill>
          <a:ln w="12700">
            <a:solidFill>
              <a:srgbClr val="26435C"/>
            </a:solidFill>
            <a:prstDash val="solid"/>
          </a:ln>
        </p:spPr>
      </p:sp>
      <p:sp>
        <p:nvSpPr>
          <p:cNvPr id="16" name="Text 14"/>
          <p:cNvSpPr/>
          <p:nvPr/>
        </p:nvSpPr>
        <p:spPr>
          <a:xfrm>
            <a:off x="1115568" y="4773168"/>
            <a:ext cx="4114800" cy="164592"/>
          </a:xfrm>
          <a:prstGeom prst="rect">
            <a:avLst/>
          </a:prstGeom>
          <a:noFill/>
          <a:ln/>
        </p:spPr>
        <p:txBody>
          <a:bodyPr wrap="square" lIns="0" tIns="0" rIns="0" bIns="0" rtlCol="0" anchor="ctr"/>
          <a:lstStyle/>
          <a:p>
            <a:pPr marL="0" indent="0">
              <a:buNone/>
            </a:pPr>
            <a:r>
              <a:rPr lang="en-US" sz="1150" dirty="0">
                <a:solidFill>
                  <a:srgbClr val="F4F8FC"/>
                </a:solidFill>
              </a:rPr>
              <a:t>anomaly / anomaly_types</a:t>
            </a:r>
            <a:endParaRPr lang="en-US" sz="1150" dirty="0"/>
          </a:p>
        </p:txBody>
      </p:sp>
      <p:sp>
        <p:nvSpPr>
          <p:cNvPr id="17" name="Text 15"/>
          <p:cNvSpPr/>
          <p:nvPr/>
        </p:nvSpPr>
        <p:spPr>
          <a:xfrm>
            <a:off x="914400" y="5440680"/>
            <a:ext cx="4526280" cy="256032"/>
          </a:xfrm>
          <a:prstGeom prst="rect">
            <a:avLst/>
          </a:prstGeom>
          <a:noFill/>
          <a:ln/>
        </p:spPr>
        <p:txBody>
          <a:bodyPr wrap="square" lIns="0" tIns="0" rIns="0" bIns="0" rtlCol="0" anchor="ctr"/>
          <a:lstStyle/>
          <a:p>
            <a:pPr marL="0" indent="0">
              <a:buNone/>
            </a:pPr>
            <a:r>
              <a:rPr lang="en-US" sz="1050" dirty="0">
                <a:solidFill>
                  <a:srgbClr val="9DB0C4"/>
                </a:solidFill>
              </a:rPr>
              <a:t>Mapping explicite pour fiabiliser les agrégations et les filtres temporels.</a:t>
            </a:r>
            <a:endParaRPr lang="en-US" sz="1050" dirty="0"/>
          </a:p>
        </p:txBody>
      </p:sp>
      <p:sp>
        <p:nvSpPr>
          <p:cNvPr id="18" name="Shape 16"/>
          <p:cNvSpPr/>
          <p:nvPr/>
        </p:nvSpPr>
        <p:spPr>
          <a:xfrm>
            <a:off x="6172200" y="1353312"/>
            <a:ext cx="5422392" cy="4526280"/>
          </a:xfrm>
          <a:prstGeom prst="roundRect">
            <a:avLst>
              <a:gd name="adj" fmla="val 1616"/>
            </a:avLst>
          </a:prstGeom>
          <a:solidFill>
            <a:srgbClr val="0D1B2A"/>
          </a:solidFill>
          <a:ln w="15240">
            <a:solidFill>
              <a:srgbClr val="3DDC97"/>
            </a:solidFill>
            <a:prstDash val="solid"/>
          </a:ln>
        </p:spPr>
      </p:sp>
      <p:sp>
        <p:nvSpPr>
          <p:cNvPr id="19" name="Text 17"/>
          <p:cNvSpPr/>
          <p:nvPr/>
        </p:nvSpPr>
        <p:spPr>
          <a:xfrm>
            <a:off x="6473952" y="1673352"/>
            <a:ext cx="3200400" cy="320040"/>
          </a:xfrm>
          <a:prstGeom prst="rect">
            <a:avLst/>
          </a:prstGeom>
          <a:noFill/>
          <a:ln/>
        </p:spPr>
        <p:txBody>
          <a:bodyPr wrap="square" lIns="0" tIns="0" rIns="0" bIns="0" rtlCol="0" anchor="ctr"/>
          <a:lstStyle/>
          <a:p>
            <a:pPr marL="0" indent="0">
              <a:buNone/>
            </a:pPr>
            <a:r>
              <a:rPr lang="en-US" sz="2100" b="1" dirty="0">
                <a:solidFill>
                  <a:srgbClr val="3DDC97"/>
                </a:solidFill>
              </a:rPr>
              <a:t>FastAPI • lecture seule</a:t>
            </a:r>
            <a:endParaRPr lang="en-US" sz="2100" dirty="0"/>
          </a:p>
        </p:txBody>
      </p:sp>
      <p:sp>
        <p:nvSpPr>
          <p:cNvPr id="20" name="Text 18"/>
          <p:cNvSpPr/>
          <p:nvPr/>
        </p:nvSpPr>
        <p:spPr>
          <a:xfrm>
            <a:off x="6492240" y="2286000"/>
            <a:ext cx="2331720" cy="219456"/>
          </a:xfrm>
          <a:prstGeom prst="rect">
            <a:avLst/>
          </a:prstGeom>
          <a:noFill/>
          <a:ln/>
        </p:spPr>
        <p:txBody>
          <a:bodyPr wrap="square" lIns="0" tIns="0" rIns="0" bIns="0" rtlCol="0" anchor="ctr"/>
          <a:lstStyle/>
          <a:p>
            <a:pPr marL="0" indent="0">
              <a:buNone/>
            </a:pPr>
            <a:r>
              <a:rPr lang="en-US" sz="1050" b="1" dirty="0">
                <a:solidFill>
                  <a:srgbClr val="19D3C5"/>
                </a:solidFill>
                <a:latin typeface="Aptos Mono" pitchFamily="34" charset="0"/>
                <a:ea typeface="Aptos Mono" pitchFamily="34" charset="-122"/>
                <a:cs typeface="Aptos Mono" pitchFamily="34" charset="-120"/>
              </a:rPr>
              <a:t>GET /measurements/latest</a:t>
            </a:r>
            <a:endParaRPr lang="en-US" sz="1050" dirty="0"/>
          </a:p>
        </p:txBody>
      </p:sp>
      <p:sp>
        <p:nvSpPr>
          <p:cNvPr id="21" name="Text 19"/>
          <p:cNvSpPr/>
          <p:nvPr/>
        </p:nvSpPr>
        <p:spPr>
          <a:xfrm>
            <a:off x="8979408" y="2286000"/>
            <a:ext cx="2148840" cy="219456"/>
          </a:xfrm>
          <a:prstGeom prst="rect">
            <a:avLst/>
          </a:prstGeom>
          <a:noFill/>
          <a:ln/>
        </p:spPr>
        <p:txBody>
          <a:bodyPr wrap="square" lIns="0" tIns="0" rIns="0" bIns="0" rtlCol="0" anchor="ctr"/>
          <a:lstStyle/>
          <a:p>
            <a:pPr marL="0" indent="0">
              <a:buNone/>
            </a:pPr>
            <a:r>
              <a:rPr lang="en-US" sz="1050" dirty="0">
                <a:solidFill>
                  <a:srgbClr val="9DB0C4"/>
                </a:solidFill>
              </a:rPr>
              <a:t>Dernières mesures</a:t>
            </a:r>
            <a:endParaRPr lang="en-US" sz="1050" dirty="0"/>
          </a:p>
        </p:txBody>
      </p:sp>
      <p:sp>
        <p:nvSpPr>
          <p:cNvPr id="22" name="Text 20"/>
          <p:cNvSpPr/>
          <p:nvPr/>
        </p:nvSpPr>
        <p:spPr>
          <a:xfrm>
            <a:off x="6492240" y="2889504"/>
            <a:ext cx="2331720" cy="219456"/>
          </a:xfrm>
          <a:prstGeom prst="rect">
            <a:avLst/>
          </a:prstGeom>
          <a:noFill/>
          <a:ln/>
        </p:spPr>
        <p:txBody>
          <a:bodyPr wrap="square" lIns="0" tIns="0" rIns="0" bIns="0" rtlCol="0" anchor="ctr"/>
          <a:lstStyle/>
          <a:p>
            <a:pPr marL="0" indent="0">
              <a:buNone/>
            </a:pPr>
            <a:r>
              <a:rPr lang="en-US" sz="1050" b="1" dirty="0">
                <a:solidFill>
                  <a:srgbClr val="19D3C5"/>
                </a:solidFill>
                <a:latin typeface="Aptos Mono" pitchFamily="34" charset="0"/>
                <a:ea typeface="Aptos Mono" pitchFamily="34" charset="-122"/>
                <a:cs typeface="Aptos Mono" pitchFamily="34" charset="-120"/>
              </a:rPr>
              <a:t>GET /devices</a:t>
            </a:r>
            <a:endParaRPr lang="en-US" sz="1050" dirty="0"/>
          </a:p>
        </p:txBody>
      </p:sp>
      <p:sp>
        <p:nvSpPr>
          <p:cNvPr id="23" name="Text 21"/>
          <p:cNvSpPr/>
          <p:nvPr/>
        </p:nvSpPr>
        <p:spPr>
          <a:xfrm>
            <a:off x="8979408" y="2889504"/>
            <a:ext cx="2148840" cy="219456"/>
          </a:xfrm>
          <a:prstGeom prst="rect">
            <a:avLst/>
          </a:prstGeom>
          <a:noFill/>
          <a:ln/>
        </p:spPr>
        <p:txBody>
          <a:bodyPr wrap="square" lIns="0" tIns="0" rIns="0" bIns="0" rtlCol="0" anchor="ctr"/>
          <a:lstStyle/>
          <a:p>
            <a:pPr marL="0" indent="0">
              <a:buNone/>
            </a:pPr>
            <a:r>
              <a:rPr lang="en-US" sz="1050" dirty="0">
                <a:solidFill>
                  <a:srgbClr val="9DB0C4"/>
                </a:solidFill>
              </a:rPr>
              <a:t>Liste des devices</a:t>
            </a:r>
            <a:endParaRPr lang="en-US" sz="1050" dirty="0"/>
          </a:p>
        </p:txBody>
      </p:sp>
      <p:sp>
        <p:nvSpPr>
          <p:cNvPr id="24" name="Text 22"/>
          <p:cNvSpPr/>
          <p:nvPr/>
        </p:nvSpPr>
        <p:spPr>
          <a:xfrm>
            <a:off x="6492240" y="3493008"/>
            <a:ext cx="2331720" cy="219456"/>
          </a:xfrm>
          <a:prstGeom prst="rect">
            <a:avLst/>
          </a:prstGeom>
          <a:noFill/>
          <a:ln/>
        </p:spPr>
        <p:txBody>
          <a:bodyPr wrap="square" lIns="0" tIns="0" rIns="0" bIns="0" rtlCol="0" anchor="ctr"/>
          <a:lstStyle/>
          <a:p>
            <a:pPr marL="0" indent="0">
              <a:buNone/>
            </a:pPr>
            <a:r>
              <a:rPr lang="en-US" sz="1050" b="1" dirty="0">
                <a:solidFill>
                  <a:srgbClr val="19D3C5"/>
                </a:solidFill>
                <a:latin typeface="Aptos Mono" pitchFamily="34" charset="0"/>
                <a:ea typeface="Aptos Mono" pitchFamily="34" charset="-122"/>
                <a:cs typeface="Aptos Mono" pitchFamily="34" charset="-120"/>
              </a:rPr>
              <a:t>GET /anomalies/count</a:t>
            </a:r>
            <a:endParaRPr lang="en-US" sz="1050" dirty="0"/>
          </a:p>
        </p:txBody>
      </p:sp>
      <p:sp>
        <p:nvSpPr>
          <p:cNvPr id="25" name="Text 23"/>
          <p:cNvSpPr/>
          <p:nvPr/>
        </p:nvSpPr>
        <p:spPr>
          <a:xfrm>
            <a:off x="8979408" y="3493008"/>
            <a:ext cx="2148840" cy="219456"/>
          </a:xfrm>
          <a:prstGeom prst="rect">
            <a:avLst/>
          </a:prstGeom>
          <a:noFill/>
          <a:ln/>
        </p:spPr>
        <p:txBody>
          <a:bodyPr wrap="square" lIns="0" tIns="0" rIns="0" bIns="0" rtlCol="0" anchor="ctr"/>
          <a:lstStyle/>
          <a:p>
            <a:pPr marL="0" indent="0">
              <a:buNone/>
            </a:pPr>
            <a:r>
              <a:rPr lang="en-US" sz="1050" dirty="0">
                <a:solidFill>
                  <a:srgbClr val="9DB0C4"/>
                </a:solidFill>
              </a:rPr>
              <a:t>Comptage des anomalies</a:t>
            </a:r>
            <a:endParaRPr lang="en-US" sz="1050" dirty="0"/>
          </a:p>
        </p:txBody>
      </p:sp>
      <p:sp>
        <p:nvSpPr>
          <p:cNvPr id="26" name="Text 24"/>
          <p:cNvSpPr/>
          <p:nvPr/>
        </p:nvSpPr>
        <p:spPr>
          <a:xfrm>
            <a:off x="6492240" y="4096512"/>
            <a:ext cx="2331720" cy="219456"/>
          </a:xfrm>
          <a:prstGeom prst="rect">
            <a:avLst/>
          </a:prstGeom>
          <a:noFill/>
          <a:ln/>
        </p:spPr>
        <p:txBody>
          <a:bodyPr wrap="square" lIns="0" tIns="0" rIns="0" bIns="0" rtlCol="0" anchor="ctr"/>
          <a:lstStyle/>
          <a:p>
            <a:pPr marL="0" indent="0">
              <a:buNone/>
            </a:pPr>
            <a:r>
              <a:rPr lang="en-US" sz="1050" b="1" dirty="0">
                <a:solidFill>
                  <a:srgbClr val="19D3C5"/>
                </a:solidFill>
                <a:latin typeface="Aptos Mono" pitchFamily="34" charset="0"/>
                <a:ea typeface="Aptos Mono" pitchFamily="34" charset="-122"/>
                <a:cs typeface="Aptos Mono" pitchFamily="34" charset="-120"/>
              </a:rPr>
              <a:t>GET /alerts/recent</a:t>
            </a:r>
            <a:endParaRPr lang="en-US" sz="1050" dirty="0"/>
          </a:p>
        </p:txBody>
      </p:sp>
      <p:sp>
        <p:nvSpPr>
          <p:cNvPr id="27" name="Text 25"/>
          <p:cNvSpPr/>
          <p:nvPr/>
        </p:nvSpPr>
        <p:spPr>
          <a:xfrm>
            <a:off x="8979408" y="4096512"/>
            <a:ext cx="2148840" cy="219456"/>
          </a:xfrm>
          <a:prstGeom prst="rect">
            <a:avLst/>
          </a:prstGeom>
          <a:noFill/>
          <a:ln/>
        </p:spPr>
        <p:txBody>
          <a:bodyPr wrap="square" lIns="0" tIns="0" rIns="0" bIns="0" rtlCol="0" anchor="ctr"/>
          <a:lstStyle/>
          <a:p>
            <a:pPr marL="0" indent="0">
              <a:buNone/>
            </a:pPr>
            <a:r>
              <a:rPr lang="en-US" sz="1050" dirty="0">
                <a:solidFill>
                  <a:srgbClr val="9DB0C4"/>
                </a:solidFill>
              </a:rPr>
              <a:t>Alertes récentes</a:t>
            </a:r>
            <a:endParaRPr lang="en-US" sz="1050" dirty="0"/>
          </a:p>
        </p:txBody>
      </p:sp>
      <p:sp>
        <p:nvSpPr>
          <p:cNvPr id="28" name="Text 26"/>
          <p:cNvSpPr/>
          <p:nvPr/>
        </p:nvSpPr>
        <p:spPr>
          <a:xfrm>
            <a:off x="6492240" y="4700016"/>
            <a:ext cx="2331720" cy="219456"/>
          </a:xfrm>
          <a:prstGeom prst="rect">
            <a:avLst/>
          </a:prstGeom>
          <a:noFill/>
          <a:ln/>
        </p:spPr>
        <p:txBody>
          <a:bodyPr wrap="square" lIns="0" tIns="0" rIns="0" bIns="0" rtlCol="0" anchor="ctr"/>
          <a:lstStyle/>
          <a:p>
            <a:pPr marL="0" indent="0">
              <a:buNone/>
            </a:pPr>
            <a:r>
              <a:rPr lang="en-US" sz="1050" b="1" dirty="0">
                <a:solidFill>
                  <a:srgbClr val="19D3C5"/>
                </a:solidFill>
                <a:latin typeface="Aptos Mono" pitchFamily="34" charset="0"/>
                <a:ea typeface="Aptos Mono" pitchFamily="34" charset="-122"/>
                <a:cs typeface="Aptos Mono" pitchFamily="34" charset="-120"/>
              </a:rPr>
              <a:t>GET /health/{device_id}</a:t>
            </a:r>
            <a:endParaRPr lang="en-US" sz="1050" dirty="0"/>
          </a:p>
        </p:txBody>
      </p:sp>
      <p:sp>
        <p:nvSpPr>
          <p:cNvPr id="29" name="Text 27"/>
          <p:cNvSpPr/>
          <p:nvPr/>
        </p:nvSpPr>
        <p:spPr>
          <a:xfrm>
            <a:off x="8979408" y="4700016"/>
            <a:ext cx="2148840" cy="219456"/>
          </a:xfrm>
          <a:prstGeom prst="rect">
            <a:avLst/>
          </a:prstGeom>
          <a:noFill/>
          <a:ln/>
        </p:spPr>
        <p:txBody>
          <a:bodyPr wrap="square" lIns="0" tIns="0" rIns="0" bIns="0" rtlCol="0" anchor="ctr"/>
          <a:lstStyle/>
          <a:p>
            <a:pPr marL="0" indent="0">
              <a:buNone/>
            </a:pPr>
            <a:r>
              <a:rPr lang="en-US" sz="1050" dirty="0">
                <a:solidFill>
                  <a:srgbClr val="9DB0C4"/>
                </a:solidFill>
              </a:rPr>
              <a:t>Résumé de santé</a:t>
            </a:r>
            <a:endParaRPr lang="en-US" sz="1050" dirty="0"/>
          </a:p>
        </p:txBody>
      </p:sp>
      <p:sp>
        <p:nvSpPr>
          <p:cNvPr id="30" name="Text 28"/>
          <p:cNvSpPr/>
          <p:nvPr/>
        </p:nvSpPr>
        <p:spPr>
          <a:xfrm>
            <a:off x="6492240" y="5440680"/>
            <a:ext cx="4526280" cy="256032"/>
          </a:xfrm>
          <a:prstGeom prst="rect">
            <a:avLst/>
          </a:prstGeom>
          <a:noFill/>
          <a:ln/>
        </p:spPr>
        <p:txBody>
          <a:bodyPr wrap="square" lIns="0" tIns="0" rIns="0" bIns="0" rtlCol="0" anchor="ctr"/>
          <a:lstStyle/>
          <a:p>
            <a:pPr marL="0" indent="0">
              <a:buNone/>
            </a:pPr>
            <a:r>
              <a:rPr lang="en-US" sz="1050" dirty="0">
                <a:solidFill>
                  <a:srgbClr val="9DB0C4"/>
                </a:solidFill>
              </a:rPr>
              <a:t>Contrat simple pour tableaux de bord externes, intégrations et tests.</a:t>
            </a:r>
            <a:endParaRPr lang="en-US" sz="1050" dirty="0"/>
          </a:p>
        </p:txBody>
      </p:sp>
      <p:sp>
        <p:nvSpPr>
          <p:cNvPr id="31"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VISUALISATION TEMPS RÉEL</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Kibana rend les tendances et anomalies immédiatement visibles</a:t>
            </a:r>
            <a:endParaRPr lang="en-US" sz="2700" dirty="0"/>
          </a:p>
        </p:txBody>
      </p:sp>
      <p:pic>
        <p:nvPicPr>
          <p:cNvPr id="4" name="Image 0" descr="/mnt/data/944ad86330.png"/>
          <p:cNvPicPr>
            <a:picLocks noChangeAspect="1"/>
          </p:cNvPicPr>
          <p:nvPr/>
        </p:nvPicPr>
        <p:blipFill>
          <a:blip r:embed="rId3"/>
          <a:srcRect t="1389" b="1389"/>
          <a:stretch/>
        </p:blipFill>
        <p:spPr>
          <a:xfrm>
            <a:off x="566928" y="1280160"/>
            <a:ext cx="7406640" cy="4800600"/>
          </a:xfrm>
          <a:prstGeom prst="rect">
            <a:avLst/>
          </a:prstGeom>
        </p:spPr>
      </p:pic>
      <p:sp>
        <p:nvSpPr>
          <p:cNvPr id="5" name="Shape 2"/>
          <p:cNvSpPr/>
          <p:nvPr/>
        </p:nvSpPr>
        <p:spPr>
          <a:xfrm>
            <a:off x="8275320" y="1280160"/>
            <a:ext cx="3337560" cy="1298448"/>
          </a:xfrm>
          <a:prstGeom prst="roundRect">
            <a:avLst>
              <a:gd name="adj" fmla="val 5634"/>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6" name="Shape 3"/>
          <p:cNvSpPr/>
          <p:nvPr/>
        </p:nvSpPr>
        <p:spPr>
          <a:xfrm>
            <a:off x="8275320" y="1280160"/>
            <a:ext cx="54864" cy="1298448"/>
          </a:xfrm>
          <a:prstGeom prst="rect">
            <a:avLst/>
          </a:prstGeom>
          <a:solidFill>
            <a:srgbClr val="21C7E8"/>
          </a:solidFill>
          <a:ln w="12700">
            <a:solidFill>
              <a:srgbClr val="21C7E8"/>
            </a:solidFill>
            <a:prstDash val="solid"/>
          </a:ln>
        </p:spPr>
      </p:sp>
      <p:sp>
        <p:nvSpPr>
          <p:cNvPr id="7" name="Text 4"/>
          <p:cNvSpPr/>
          <p:nvPr/>
        </p:nvSpPr>
        <p:spPr>
          <a:xfrm>
            <a:off x="8503920" y="1481328"/>
            <a:ext cx="2926080" cy="256032"/>
          </a:xfrm>
          <a:prstGeom prst="rect">
            <a:avLst/>
          </a:prstGeom>
          <a:noFill/>
          <a:ln/>
        </p:spPr>
        <p:txBody>
          <a:bodyPr wrap="square" lIns="0" tIns="0" rIns="0" bIns="0" rtlCol="0" anchor="ctr"/>
          <a:lstStyle/>
          <a:p>
            <a:pPr marL="0" indent="0">
              <a:buNone/>
            </a:pPr>
            <a:r>
              <a:rPr lang="en-US" sz="1600" b="1" dirty="0">
                <a:solidFill>
                  <a:srgbClr val="F4F8FC"/>
                </a:solidFill>
              </a:rPr>
              <a:t>Vue instantanée</a:t>
            </a:r>
            <a:endParaRPr lang="en-US" sz="1600" dirty="0"/>
          </a:p>
        </p:txBody>
      </p:sp>
      <p:sp>
        <p:nvSpPr>
          <p:cNvPr id="8" name="Text 5"/>
          <p:cNvSpPr/>
          <p:nvPr/>
        </p:nvSpPr>
        <p:spPr>
          <a:xfrm>
            <a:off x="8503920" y="1865376"/>
            <a:ext cx="2898648" cy="539496"/>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Dernière température, humidité, gaz et état du device.</a:t>
            </a:r>
            <a:endParaRPr lang="en-US" sz="1150" dirty="0"/>
          </a:p>
        </p:txBody>
      </p:sp>
      <p:sp>
        <p:nvSpPr>
          <p:cNvPr id="9" name="Shape 6"/>
          <p:cNvSpPr/>
          <p:nvPr/>
        </p:nvSpPr>
        <p:spPr>
          <a:xfrm>
            <a:off x="8275320" y="2761488"/>
            <a:ext cx="3337560" cy="1298448"/>
          </a:xfrm>
          <a:prstGeom prst="roundRect">
            <a:avLst>
              <a:gd name="adj" fmla="val 5634"/>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10" name="Shape 7"/>
          <p:cNvSpPr/>
          <p:nvPr/>
        </p:nvSpPr>
        <p:spPr>
          <a:xfrm>
            <a:off x="8275320" y="2761488"/>
            <a:ext cx="54864" cy="1298448"/>
          </a:xfrm>
          <a:prstGeom prst="rect">
            <a:avLst/>
          </a:prstGeom>
          <a:solidFill>
            <a:srgbClr val="19D3C5"/>
          </a:solidFill>
          <a:ln w="12700">
            <a:solidFill>
              <a:srgbClr val="19D3C5"/>
            </a:solidFill>
            <a:prstDash val="solid"/>
          </a:ln>
        </p:spPr>
      </p:sp>
      <p:sp>
        <p:nvSpPr>
          <p:cNvPr id="11" name="Text 8"/>
          <p:cNvSpPr/>
          <p:nvPr/>
        </p:nvSpPr>
        <p:spPr>
          <a:xfrm>
            <a:off x="8503920" y="2962656"/>
            <a:ext cx="2926080" cy="256032"/>
          </a:xfrm>
          <a:prstGeom prst="rect">
            <a:avLst/>
          </a:prstGeom>
          <a:noFill/>
          <a:ln/>
        </p:spPr>
        <p:txBody>
          <a:bodyPr wrap="square" lIns="0" tIns="0" rIns="0" bIns="0" rtlCol="0" anchor="ctr"/>
          <a:lstStyle/>
          <a:p>
            <a:pPr marL="0" indent="0">
              <a:buNone/>
            </a:pPr>
            <a:r>
              <a:rPr lang="en-US" sz="1600" b="1" dirty="0">
                <a:solidFill>
                  <a:srgbClr val="F4F8FC"/>
                </a:solidFill>
              </a:rPr>
              <a:t>Vue historique</a:t>
            </a:r>
            <a:endParaRPr lang="en-US" sz="1600" dirty="0"/>
          </a:p>
        </p:txBody>
      </p:sp>
      <p:sp>
        <p:nvSpPr>
          <p:cNvPr id="12" name="Text 9"/>
          <p:cNvSpPr/>
          <p:nvPr/>
        </p:nvSpPr>
        <p:spPr>
          <a:xfrm>
            <a:off x="8503920" y="3346704"/>
            <a:ext cx="2898648" cy="539496"/>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Courbes temporelles, filtres par device et comparaison des signaux.</a:t>
            </a:r>
            <a:endParaRPr lang="en-US" sz="1150" dirty="0"/>
          </a:p>
        </p:txBody>
      </p:sp>
      <p:sp>
        <p:nvSpPr>
          <p:cNvPr id="13" name="Shape 10"/>
          <p:cNvSpPr/>
          <p:nvPr/>
        </p:nvSpPr>
        <p:spPr>
          <a:xfrm>
            <a:off x="8275320" y="4242816"/>
            <a:ext cx="3337560" cy="1837944"/>
          </a:xfrm>
          <a:prstGeom prst="roundRect">
            <a:avLst>
              <a:gd name="adj" fmla="val 3980"/>
            </a:avLst>
          </a:prstGeom>
          <a:solidFill>
            <a:srgbClr val="0D1B2A">
              <a:alpha val="98000"/>
            </a:srgbClr>
          </a:solidFill>
          <a:ln w="12700">
            <a:solidFill>
              <a:srgbClr val="26435C"/>
            </a:solidFill>
            <a:prstDash val="solid"/>
          </a:ln>
          <a:effectLst>
            <a:outerShdw blurRad="25400" dist="12700" dir="2700000" algn="bl" rotWithShape="0">
              <a:srgbClr val="000000">
                <a:alpha val="18000"/>
              </a:srgbClr>
            </a:outerShdw>
          </a:effectLst>
        </p:spPr>
      </p:sp>
      <p:sp>
        <p:nvSpPr>
          <p:cNvPr id="14" name="Shape 11"/>
          <p:cNvSpPr/>
          <p:nvPr/>
        </p:nvSpPr>
        <p:spPr>
          <a:xfrm>
            <a:off x="8275320" y="4242816"/>
            <a:ext cx="54864" cy="1837944"/>
          </a:xfrm>
          <a:prstGeom prst="rect">
            <a:avLst/>
          </a:prstGeom>
          <a:solidFill>
            <a:srgbClr val="FFB547"/>
          </a:solidFill>
          <a:ln w="12700">
            <a:solidFill>
              <a:srgbClr val="FFB547"/>
            </a:solidFill>
            <a:prstDash val="solid"/>
          </a:ln>
        </p:spPr>
      </p:sp>
      <p:sp>
        <p:nvSpPr>
          <p:cNvPr id="15" name="Text 12"/>
          <p:cNvSpPr/>
          <p:nvPr/>
        </p:nvSpPr>
        <p:spPr>
          <a:xfrm>
            <a:off x="8503920" y="4443984"/>
            <a:ext cx="2926080" cy="256032"/>
          </a:xfrm>
          <a:prstGeom prst="rect">
            <a:avLst/>
          </a:prstGeom>
          <a:noFill/>
          <a:ln/>
        </p:spPr>
        <p:txBody>
          <a:bodyPr wrap="square" lIns="0" tIns="0" rIns="0" bIns="0" rtlCol="0" anchor="ctr"/>
          <a:lstStyle/>
          <a:p>
            <a:pPr marL="0" indent="0">
              <a:buNone/>
            </a:pPr>
            <a:r>
              <a:rPr lang="en-US" sz="1600" b="1" dirty="0">
                <a:solidFill>
                  <a:srgbClr val="F4F8FC"/>
                </a:solidFill>
              </a:rPr>
              <a:t>Vue anomalies</a:t>
            </a:r>
            <a:endParaRPr lang="en-US" sz="1600" dirty="0"/>
          </a:p>
        </p:txBody>
      </p:sp>
      <p:sp>
        <p:nvSpPr>
          <p:cNvPr id="16" name="Text 13"/>
          <p:cNvSpPr/>
          <p:nvPr/>
        </p:nvSpPr>
        <p:spPr>
          <a:xfrm>
            <a:off x="8503920" y="4828032"/>
            <a:ext cx="2898648" cy="1078992"/>
          </a:xfrm>
          <a:prstGeom prst="rect">
            <a:avLst/>
          </a:prstGeom>
          <a:noFill/>
          <a:ln/>
        </p:spPr>
        <p:txBody>
          <a:bodyPr wrap="square" lIns="254" tIns="254" rIns="254" bIns="254" rtlCol="0" anchor="ctr">
            <a:normAutofit/>
          </a:bodyPr>
          <a:lstStyle/>
          <a:p>
            <a:pPr marL="0" indent="0">
              <a:buNone/>
            </a:pPr>
            <a:r>
              <a:rPr lang="en-US" sz="1150" dirty="0">
                <a:solidFill>
                  <a:srgbClr val="9DB0C4"/>
                </a:solidFill>
              </a:rPr>
              <a:t>Compteurs, chronologie, répartition par type et drill-down vers le document.</a:t>
            </a:r>
            <a:endParaRPr lang="en-US" sz="1150" dirty="0"/>
          </a:p>
        </p:txBody>
      </p:sp>
      <p:sp>
        <p:nvSpPr>
          <p:cNvPr id="25"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DOCKER COMPOSE</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Une stack reproductible démarrée par une seule commande</a:t>
            </a:r>
            <a:endParaRPr lang="en-US" sz="2700" dirty="0"/>
          </a:p>
        </p:txBody>
      </p:sp>
      <p:pic>
        <p:nvPicPr>
          <p:cNvPr id="4" name="Image 0" descr="/mnt/data/a22e1f4ac9.png"/>
          <p:cNvPicPr>
            <a:picLocks noChangeAspect="1"/>
          </p:cNvPicPr>
          <p:nvPr/>
        </p:nvPicPr>
        <p:blipFill>
          <a:blip r:embed="rId3"/>
          <a:srcRect l="10256" r="10256"/>
          <a:stretch/>
        </p:blipFill>
        <p:spPr>
          <a:xfrm>
            <a:off x="566928" y="1298448"/>
            <a:ext cx="5669280" cy="4754880"/>
          </a:xfrm>
          <a:prstGeom prst="rect">
            <a:avLst/>
          </a:prstGeom>
        </p:spPr>
      </p:pic>
      <p:sp>
        <p:nvSpPr>
          <p:cNvPr id="5" name="Shape 2"/>
          <p:cNvSpPr/>
          <p:nvPr/>
        </p:nvSpPr>
        <p:spPr>
          <a:xfrm>
            <a:off x="6583680" y="1371600"/>
            <a:ext cx="4983480" cy="795528"/>
          </a:xfrm>
          <a:prstGeom prst="roundRect">
            <a:avLst>
              <a:gd name="adj" fmla="val 5747"/>
            </a:avLst>
          </a:prstGeom>
          <a:solidFill>
            <a:srgbClr val="0D1B2A"/>
          </a:solidFill>
          <a:ln w="13970">
            <a:solidFill>
              <a:srgbClr val="21C7E8"/>
            </a:solidFill>
            <a:prstDash val="solid"/>
          </a:ln>
        </p:spPr>
      </p:sp>
      <p:sp>
        <p:nvSpPr>
          <p:cNvPr id="6" name="Text 3"/>
          <p:cNvSpPr/>
          <p:nvPr/>
        </p:nvSpPr>
        <p:spPr>
          <a:xfrm>
            <a:off x="6839712" y="1517904"/>
            <a:ext cx="1325880" cy="219456"/>
          </a:xfrm>
          <a:prstGeom prst="rect">
            <a:avLst/>
          </a:prstGeom>
          <a:noFill/>
          <a:ln/>
        </p:spPr>
        <p:txBody>
          <a:bodyPr wrap="square" lIns="0" tIns="0" rIns="0" bIns="0" rtlCol="0" anchor="ctr"/>
          <a:lstStyle/>
          <a:p>
            <a:pPr marL="0" indent="0">
              <a:buNone/>
            </a:pPr>
            <a:r>
              <a:rPr lang="en-US" sz="1300" b="1" dirty="0">
                <a:solidFill>
                  <a:srgbClr val="21C7E8"/>
                </a:solidFill>
                <a:latin typeface="Aptos Mono" pitchFamily="34" charset="0"/>
                <a:ea typeface="Aptos Mono" pitchFamily="34" charset="-122"/>
                <a:cs typeface="Aptos Mono" pitchFamily="34" charset="-120"/>
              </a:rPr>
              <a:t>elasticsearch</a:t>
            </a:r>
            <a:endParaRPr lang="en-US" sz="1300" dirty="0"/>
          </a:p>
        </p:txBody>
      </p:sp>
      <p:sp>
        <p:nvSpPr>
          <p:cNvPr id="7" name="Text 4"/>
          <p:cNvSpPr/>
          <p:nvPr/>
        </p:nvSpPr>
        <p:spPr>
          <a:xfrm>
            <a:off x="8275320" y="1517904"/>
            <a:ext cx="2011680" cy="219456"/>
          </a:xfrm>
          <a:prstGeom prst="rect">
            <a:avLst/>
          </a:prstGeom>
          <a:noFill/>
          <a:ln/>
        </p:spPr>
        <p:txBody>
          <a:bodyPr wrap="square" lIns="0" tIns="0" rIns="0" bIns="0" rtlCol="0" anchor="ctr"/>
          <a:lstStyle/>
          <a:p>
            <a:pPr marL="0" indent="0">
              <a:buNone/>
            </a:pPr>
            <a:r>
              <a:rPr lang="en-US" sz="1100" dirty="0">
                <a:solidFill>
                  <a:srgbClr val="F4F8FC"/>
                </a:solidFill>
              </a:rPr>
              <a:t>Stockage &amp; recherche</a:t>
            </a:r>
            <a:endParaRPr lang="en-US" sz="1100" dirty="0"/>
          </a:p>
        </p:txBody>
      </p:sp>
      <p:sp>
        <p:nvSpPr>
          <p:cNvPr id="8" name="Shape 5"/>
          <p:cNvSpPr/>
          <p:nvPr/>
        </p:nvSpPr>
        <p:spPr>
          <a:xfrm>
            <a:off x="10469880" y="1563624"/>
            <a:ext cx="777240" cy="310896"/>
          </a:xfrm>
          <a:prstGeom prst="roundRect">
            <a:avLst>
              <a:gd name="adj" fmla="val 35294"/>
            </a:avLst>
          </a:prstGeom>
          <a:solidFill>
            <a:srgbClr val="21C7E8">
              <a:alpha val="16000"/>
            </a:srgbClr>
          </a:solidFill>
          <a:ln w="12700">
            <a:solidFill>
              <a:srgbClr val="21C7E8"/>
            </a:solidFill>
            <a:prstDash val="solid"/>
          </a:ln>
        </p:spPr>
      </p:sp>
      <p:sp>
        <p:nvSpPr>
          <p:cNvPr id="9" name="Text 6"/>
          <p:cNvSpPr/>
          <p:nvPr/>
        </p:nvSpPr>
        <p:spPr>
          <a:xfrm>
            <a:off x="10469880" y="1623060"/>
            <a:ext cx="777240" cy="137160"/>
          </a:xfrm>
          <a:prstGeom prst="rect">
            <a:avLst/>
          </a:prstGeom>
          <a:noFill/>
          <a:ln/>
        </p:spPr>
        <p:txBody>
          <a:bodyPr wrap="square" lIns="0" tIns="0" rIns="0" bIns="0" rtlCol="0" anchor="ctr"/>
          <a:lstStyle/>
          <a:p>
            <a:pPr marL="0" indent="0" algn="ctr">
              <a:buNone/>
            </a:pPr>
            <a:r>
              <a:rPr lang="en-US" sz="950" b="1" dirty="0">
                <a:solidFill>
                  <a:srgbClr val="21C7E8"/>
                </a:solidFill>
              </a:rPr>
              <a:t>9200</a:t>
            </a:r>
            <a:endParaRPr lang="en-US" sz="950" dirty="0"/>
          </a:p>
        </p:txBody>
      </p:sp>
      <p:sp>
        <p:nvSpPr>
          <p:cNvPr id="10" name="Shape 7"/>
          <p:cNvSpPr/>
          <p:nvPr/>
        </p:nvSpPr>
        <p:spPr>
          <a:xfrm>
            <a:off x="6583680" y="2395728"/>
            <a:ext cx="4983480" cy="795528"/>
          </a:xfrm>
          <a:prstGeom prst="roundRect">
            <a:avLst>
              <a:gd name="adj" fmla="val 5747"/>
            </a:avLst>
          </a:prstGeom>
          <a:solidFill>
            <a:srgbClr val="0D1B2A"/>
          </a:solidFill>
          <a:ln w="13970">
            <a:solidFill>
              <a:srgbClr val="19D3C5"/>
            </a:solidFill>
            <a:prstDash val="solid"/>
          </a:ln>
        </p:spPr>
      </p:sp>
      <p:sp>
        <p:nvSpPr>
          <p:cNvPr id="11" name="Text 8"/>
          <p:cNvSpPr/>
          <p:nvPr/>
        </p:nvSpPr>
        <p:spPr>
          <a:xfrm>
            <a:off x="6839712" y="2542032"/>
            <a:ext cx="1325880" cy="219456"/>
          </a:xfrm>
          <a:prstGeom prst="rect">
            <a:avLst/>
          </a:prstGeom>
          <a:noFill/>
          <a:ln/>
        </p:spPr>
        <p:txBody>
          <a:bodyPr wrap="square" lIns="0" tIns="0" rIns="0" bIns="0" rtlCol="0" anchor="ctr"/>
          <a:lstStyle/>
          <a:p>
            <a:pPr marL="0" indent="0">
              <a:buNone/>
            </a:pPr>
            <a:r>
              <a:rPr lang="en-US" sz="1300" b="1" dirty="0">
                <a:solidFill>
                  <a:srgbClr val="19D3C5"/>
                </a:solidFill>
                <a:latin typeface="Aptos Mono" pitchFamily="34" charset="0"/>
                <a:ea typeface="Aptos Mono" pitchFamily="34" charset="-122"/>
                <a:cs typeface="Aptos Mono" pitchFamily="34" charset="-120"/>
              </a:rPr>
              <a:t>kibana</a:t>
            </a:r>
            <a:endParaRPr lang="en-US" sz="1300" dirty="0"/>
          </a:p>
        </p:txBody>
      </p:sp>
      <p:sp>
        <p:nvSpPr>
          <p:cNvPr id="12" name="Text 9"/>
          <p:cNvSpPr/>
          <p:nvPr/>
        </p:nvSpPr>
        <p:spPr>
          <a:xfrm>
            <a:off x="8275320" y="2542032"/>
            <a:ext cx="2011680" cy="219456"/>
          </a:xfrm>
          <a:prstGeom prst="rect">
            <a:avLst/>
          </a:prstGeom>
          <a:noFill/>
          <a:ln/>
        </p:spPr>
        <p:txBody>
          <a:bodyPr wrap="square" lIns="0" tIns="0" rIns="0" bIns="0" rtlCol="0" anchor="ctr"/>
          <a:lstStyle/>
          <a:p>
            <a:pPr marL="0" indent="0">
              <a:buNone/>
            </a:pPr>
            <a:r>
              <a:rPr lang="en-US" sz="1100" dirty="0">
                <a:solidFill>
                  <a:srgbClr val="F4F8FC"/>
                </a:solidFill>
              </a:rPr>
              <a:t>Dashboards</a:t>
            </a:r>
            <a:endParaRPr lang="en-US" sz="1100" dirty="0"/>
          </a:p>
        </p:txBody>
      </p:sp>
      <p:sp>
        <p:nvSpPr>
          <p:cNvPr id="13" name="Shape 10"/>
          <p:cNvSpPr/>
          <p:nvPr/>
        </p:nvSpPr>
        <p:spPr>
          <a:xfrm>
            <a:off x="10469880" y="2587752"/>
            <a:ext cx="777240" cy="310896"/>
          </a:xfrm>
          <a:prstGeom prst="roundRect">
            <a:avLst>
              <a:gd name="adj" fmla="val 35294"/>
            </a:avLst>
          </a:prstGeom>
          <a:solidFill>
            <a:srgbClr val="19D3C5">
              <a:alpha val="16000"/>
            </a:srgbClr>
          </a:solidFill>
          <a:ln w="12700">
            <a:solidFill>
              <a:srgbClr val="19D3C5"/>
            </a:solidFill>
            <a:prstDash val="solid"/>
          </a:ln>
        </p:spPr>
      </p:sp>
      <p:sp>
        <p:nvSpPr>
          <p:cNvPr id="14" name="Text 11"/>
          <p:cNvSpPr/>
          <p:nvPr/>
        </p:nvSpPr>
        <p:spPr>
          <a:xfrm>
            <a:off x="10469880" y="2647188"/>
            <a:ext cx="777240" cy="137160"/>
          </a:xfrm>
          <a:prstGeom prst="rect">
            <a:avLst/>
          </a:prstGeom>
          <a:noFill/>
          <a:ln/>
        </p:spPr>
        <p:txBody>
          <a:bodyPr wrap="square" lIns="0" tIns="0" rIns="0" bIns="0" rtlCol="0" anchor="ctr"/>
          <a:lstStyle/>
          <a:p>
            <a:pPr marL="0" indent="0" algn="ctr">
              <a:buNone/>
            </a:pPr>
            <a:r>
              <a:rPr lang="en-US" sz="950" b="1" dirty="0">
                <a:solidFill>
                  <a:srgbClr val="19D3C5"/>
                </a:solidFill>
              </a:rPr>
              <a:t>5601</a:t>
            </a:r>
            <a:endParaRPr lang="en-US" sz="950" dirty="0"/>
          </a:p>
        </p:txBody>
      </p:sp>
      <p:sp>
        <p:nvSpPr>
          <p:cNvPr id="15" name="Shape 12"/>
          <p:cNvSpPr/>
          <p:nvPr/>
        </p:nvSpPr>
        <p:spPr>
          <a:xfrm>
            <a:off x="6583680" y="3419856"/>
            <a:ext cx="4983480" cy="795528"/>
          </a:xfrm>
          <a:prstGeom prst="roundRect">
            <a:avLst>
              <a:gd name="adj" fmla="val 5747"/>
            </a:avLst>
          </a:prstGeom>
          <a:solidFill>
            <a:srgbClr val="0D1B2A"/>
          </a:solidFill>
          <a:ln w="13970">
            <a:solidFill>
              <a:srgbClr val="FFB547"/>
            </a:solidFill>
            <a:prstDash val="solid"/>
          </a:ln>
        </p:spPr>
      </p:sp>
      <p:sp>
        <p:nvSpPr>
          <p:cNvPr id="16" name="Text 13"/>
          <p:cNvSpPr/>
          <p:nvPr/>
        </p:nvSpPr>
        <p:spPr>
          <a:xfrm>
            <a:off x="6839712" y="3566160"/>
            <a:ext cx="1325880" cy="219456"/>
          </a:xfrm>
          <a:prstGeom prst="rect">
            <a:avLst/>
          </a:prstGeom>
          <a:noFill/>
          <a:ln/>
        </p:spPr>
        <p:txBody>
          <a:bodyPr wrap="square" lIns="0" tIns="0" rIns="0" bIns="0" rtlCol="0" anchor="ctr"/>
          <a:lstStyle/>
          <a:p>
            <a:pPr marL="0" indent="0">
              <a:buNone/>
            </a:pPr>
            <a:r>
              <a:rPr lang="en-US" sz="1300" b="1" dirty="0">
                <a:solidFill>
                  <a:srgbClr val="FFB547"/>
                </a:solidFill>
                <a:latin typeface="Aptos Mono" pitchFamily="34" charset="0"/>
                <a:ea typeface="Aptos Mono" pitchFamily="34" charset="-122"/>
                <a:cs typeface="Aptos Mono" pitchFamily="34" charset="-120"/>
              </a:rPr>
              <a:t>consumer</a:t>
            </a:r>
            <a:endParaRPr lang="en-US" sz="1300" dirty="0"/>
          </a:p>
        </p:txBody>
      </p:sp>
      <p:sp>
        <p:nvSpPr>
          <p:cNvPr id="17" name="Text 14"/>
          <p:cNvSpPr/>
          <p:nvPr/>
        </p:nvSpPr>
        <p:spPr>
          <a:xfrm>
            <a:off x="8275320" y="3566160"/>
            <a:ext cx="2011680" cy="219456"/>
          </a:xfrm>
          <a:prstGeom prst="rect">
            <a:avLst/>
          </a:prstGeom>
          <a:noFill/>
          <a:ln/>
        </p:spPr>
        <p:txBody>
          <a:bodyPr wrap="square" lIns="0" tIns="0" rIns="0" bIns="0" rtlCol="0" anchor="ctr"/>
          <a:lstStyle/>
          <a:p>
            <a:pPr marL="0" indent="0">
              <a:buNone/>
            </a:pPr>
            <a:r>
              <a:rPr lang="en-US" sz="1100" dirty="0">
                <a:solidFill>
                  <a:srgbClr val="F4F8FC"/>
                </a:solidFill>
              </a:rPr>
              <a:t>MQTT → indexation</a:t>
            </a:r>
            <a:endParaRPr lang="en-US" sz="1100" dirty="0"/>
          </a:p>
        </p:txBody>
      </p:sp>
      <p:sp>
        <p:nvSpPr>
          <p:cNvPr id="18" name="Shape 15"/>
          <p:cNvSpPr/>
          <p:nvPr/>
        </p:nvSpPr>
        <p:spPr>
          <a:xfrm>
            <a:off x="10469880" y="3611880"/>
            <a:ext cx="777240" cy="310896"/>
          </a:xfrm>
          <a:prstGeom prst="roundRect">
            <a:avLst>
              <a:gd name="adj" fmla="val 35294"/>
            </a:avLst>
          </a:prstGeom>
          <a:solidFill>
            <a:srgbClr val="FFB547">
              <a:alpha val="16000"/>
            </a:srgbClr>
          </a:solidFill>
          <a:ln w="12700">
            <a:solidFill>
              <a:srgbClr val="FFB547"/>
            </a:solidFill>
            <a:prstDash val="solid"/>
          </a:ln>
        </p:spPr>
      </p:sp>
      <p:sp>
        <p:nvSpPr>
          <p:cNvPr id="19" name="Text 16"/>
          <p:cNvSpPr/>
          <p:nvPr/>
        </p:nvSpPr>
        <p:spPr>
          <a:xfrm>
            <a:off x="10469880" y="3671316"/>
            <a:ext cx="777240" cy="137160"/>
          </a:xfrm>
          <a:prstGeom prst="rect">
            <a:avLst/>
          </a:prstGeom>
          <a:noFill/>
          <a:ln/>
        </p:spPr>
        <p:txBody>
          <a:bodyPr wrap="square" lIns="0" tIns="0" rIns="0" bIns="0" rtlCol="0" anchor="ctr"/>
          <a:lstStyle/>
          <a:p>
            <a:pPr marL="0" indent="0" algn="ctr">
              <a:buNone/>
            </a:pPr>
            <a:r>
              <a:rPr lang="en-US" sz="950" b="1" dirty="0">
                <a:solidFill>
                  <a:srgbClr val="FFB547"/>
                </a:solidFill>
              </a:rPr>
              <a:t>interne</a:t>
            </a:r>
            <a:endParaRPr lang="en-US" sz="950" dirty="0"/>
          </a:p>
        </p:txBody>
      </p:sp>
      <p:sp>
        <p:nvSpPr>
          <p:cNvPr id="20" name="Shape 17"/>
          <p:cNvSpPr/>
          <p:nvPr/>
        </p:nvSpPr>
        <p:spPr>
          <a:xfrm>
            <a:off x="6583680" y="4443984"/>
            <a:ext cx="4983480" cy="795528"/>
          </a:xfrm>
          <a:prstGeom prst="roundRect">
            <a:avLst>
              <a:gd name="adj" fmla="val 5747"/>
            </a:avLst>
          </a:prstGeom>
          <a:solidFill>
            <a:srgbClr val="0D1B2A"/>
          </a:solidFill>
          <a:ln w="13970">
            <a:solidFill>
              <a:srgbClr val="3DDC97"/>
            </a:solidFill>
            <a:prstDash val="solid"/>
          </a:ln>
        </p:spPr>
      </p:sp>
      <p:sp>
        <p:nvSpPr>
          <p:cNvPr id="21" name="Text 18"/>
          <p:cNvSpPr/>
          <p:nvPr/>
        </p:nvSpPr>
        <p:spPr>
          <a:xfrm>
            <a:off x="6839712" y="4590288"/>
            <a:ext cx="1325880" cy="219456"/>
          </a:xfrm>
          <a:prstGeom prst="rect">
            <a:avLst/>
          </a:prstGeom>
          <a:noFill/>
          <a:ln/>
        </p:spPr>
        <p:txBody>
          <a:bodyPr wrap="square" lIns="0" tIns="0" rIns="0" bIns="0" rtlCol="0" anchor="ctr"/>
          <a:lstStyle/>
          <a:p>
            <a:pPr marL="0" indent="0">
              <a:buNone/>
            </a:pPr>
            <a:r>
              <a:rPr lang="en-US" sz="1300" b="1" dirty="0">
                <a:solidFill>
                  <a:srgbClr val="3DDC97"/>
                </a:solidFill>
                <a:latin typeface="Aptos Mono" pitchFamily="34" charset="0"/>
                <a:ea typeface="Aptos Mono" pitchFamily="34" charset="-122"/>
                <a:cs typeface="Aptos Mono" pitchFamily="34" charset="-120"/>
              </a:rPr>
              <a:t>api</a:t>
            </a:r>
            <a:endParaRPr lang="en-US" sz="1300" dirty="0"/>
          </a:p>
        </p:txBody>
      </p:sp>
      <p:sp>
        <p:nvSpPr>
          <p:cNvPr id="22" name="Text 19"/>
          <p:cNvSpPr/>
          <p:nvPr/>
        </p:nvSpPr>
        <p:spPr>
          <a:xfrm>
            <a:off x="8275320" y="4590288"/>
            <a:ext cx="2011680" cy="219456"/>
          </a:xfrm>
          <a:prstGeom prst="rect">
            <a:avLst/>
          </a:prstGeom>
          <a:noFill/>
          <a:ln/>
        </p:spPr>
        <p:txBody>
          <a:bodyPr wrap="square" lIns="0" tIns="0" rIns="0" bIns="0" rtlCol="0" anchor="ctr"/>
          <a:lstStyle/>
          <a:p>
            <a:pPr marL="0" indent="0">
              <a:buNone/>
            </a:pPr>
            <a:r>
              <a:rPr lang="en-US" sz="1100" dirty="0">
                <a:solidFill>
                  <a:srgbClr val="F4F8FC"/>
                </a:solidFill>
              </a:rPr>
              <a:t>FastAPI REST</a:t>
            </a:r>
            <a:endParaRPr lang="en-US" sz="1100" dirty="0"/>
          </a:p>
        </p:txBody>
      </p:sp>
      <p:sp>
        <p:nvSpPr>
          <p:cNvPr id="23" name="Shape 20"/>
          <p:cNvSpPr/>
          <p:nvPr/>
        </p:nvSpPr>
        <p:spPr>
          <a:xfrm>
            <a:off x="10469880" y="4636008"/>
            <a:ext cx="777240" cy="310896"/>
          </a:xfrm>
          <a:prstGeom prst="roundRect">
            <a:avLst>
              <a:gd name="adj" fmla="val 35294"/>
            </a:avLst>
          </a:prstGeom>
          <a:solidFill>
            <a:srgbClr val="3DDC97">
              <a:alpha val="16000"/>
            </a:srgbClr>
          </a:solidFill>
          <a:ln w="12700">
            <a:solidFill>
              <a:srgbClr val="3DDC97"/>
            </a:solidFill>
            <a:prstDash val="solid"/>
          </a:ln>
        </p:spPr>
      </p:sp>
      <p:sp>
        <p:nvSpPr>
          <p:cNvPr id="24" name="Text 21"/>
          <p:cNvSpPr/>
          <p:nvPr/>
        </p:nvSpPr>
        <p:spPr>
          <a:xfrm>
            <a:off x="10469880" y="4695444"/>
            <a:ext cx="777240" cy="137160"/>
          </a:xfrm>
          <a:prstGeom prst="rect">
            <a:avLst/>
          </a:prstGeom>
          <a:noFill/>
          <a:ln/>
        </p:spPr>
        <p:txBody>
          <a:bodyPr wrap="square" lIns="0" tIns="0" rIns="0" bIns="0" rtlCol="0" anchor="ctr"/>
          <a:lstStyle/>
          <a:p>
            <a:pPr marL="0" indent="0" algn="ctr">
              <a:buNone/>
            </a:pPr>
            <a:r>
              <a:rPr lang="en-US" sz="950" b="1" dirty="0">
                <a:solidFill>
                  <a:srgbClr val="3DDC97"/>
                </a:solidFill>
              </a:rPr>
              <a:t>8000</a:t>
            </a:r>
            <a:endParaRPr lang="en-US" sz="950" dirty="0"/>
          </a:p>
        </p:txBody>
      </p:sp>
      <p:sp>
        <p:nvSpPr>
          <p:cNvPr id="25" name="Shape 22"/>
          <p:cNvSpPr/>
          <p:nvPr/>
        </p:nvSpPr>
        <p:spPr>
          <a:xfrm>
            <a:off x="6583680" y="5559552"/>
            <a:ext cx="4983480" cy="475488"/>
          </a:xfrm>
          <a:prstGeom prst="roundRect">
            <a:avLst>
              <a:gd name="adj" fmla="val 7692"/>
            </a:avLst>
          </a:prstGeom>
          <a:solidFill>
            <a:srgbClr val="06101A"/>
          </a:solidFill>
          <a:ln w="12700">
            <a:solidFill>
              <a:srgbClr val="26435C"/>
            </a:solidFill>
            <a:prstDash val="solid"/>
          </a:ln>
        </p:spPr>
      </p:sp>
      <p:sp>
        <p:nvSpPr>
          <p:cNvPr id="26" name="Text 23"/>
          <p:cNvSpPr/>
          <p:nvPr/>
        </p:nvSpPr>
        <p:spPr>
          <a:xfrm>
            <a:off x="6812280" y="5715000"/>
            <a:ext cx="4526280" cy="164592"/>
          </a:xfrm>
          <a:prstGeom prst="rect">
            <a:avLst/>
          </a:prstGeom>
          <a:noFill/>
          <a:ln/>
        </p:spPr>
        <p:txBody>
          <a:bodyPr wrap="square" lIns="0" tIns="0" rIns="0" bIns="0" rtlCol="0" anchor="ctr"/>
          <a:lstStyle/>
          <a:p>
            <a:pPr marL="0" indent="0" algn="ctr">
              <a:buNone/>
            </a:pPr>
            <a:r>
              <a:rPr lang="en-US" sz="1200" b="1" dirty="0">
                <a:solidFill>
                  <a:srgbClr val="F4F8FC"/>
                </a:solidFill>
                <a:latin typeface="Aptos Mono" pitchFamily="34" charset="0"/>
                <a:ea typeface="Aptos Mono" pitchFamily="34" charset="-122"/>
                <a:cs typeface="Aptos Mono" pitchFamily="34" charset="-120"/>
              </a:rPr>
              <a:t>docker compose up -d</a:t>
            </a:r>
            <a:endParaRPr lang="en-US" sz="1200" dirty="0"/>
          </a:p>
        </p:txBody>
      </p:sp>
      <p:sp>
        <p:nvSpPr>
          <p:cNvPr id="27"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STACK TECHNIQUE</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Une stack volontairement simple, modulaire et démontrable</a:t>
            </a:r>
            <a:endParaRPr lang="en-US" sz="2700" dirty="0"/>
          </a:p>
        </p:txBody>
      </p:sp>
      <p:sp>
        <p:nvSpPr>
          <p:cNvPr id="4" name="Shape 2"/>
          <p:cNvSpPr/>
          <p:nvPr/>
        </p:nvSpPr>
        <p:spPr>
          <a:xfrm>
            <a:off x="594360" y="1325880"/>
            <a:ext cx="11000232" cy="4736592"/>
          </a:xfrm>
          <a:prstGeom prst="roundRect">
            <a:avLst>
              <a:gd name="adj" fmla="val 1158"/>
            </a:avLst>
          </a:prstGeom>
          <a:solidFill>
            <a:srgbClr val="0D1B2A"/>
          </a:solidFill>
          <a:ln w="12700">
            <a:solidFill>
              <a:srgbClr val="26435C"/>
            </a:solidFill>
            <a:prstDash val="solid"/>
          </a:ln>
        </p:spPr>
      </p:sp>
      <p:sp>
        <p:nvSpPr>
          <p:cNvPr id="5" name="Text 3"/>
          <p:cNvSpPr/>
          <p:nvPr/>
        </p:nvSpPr>
        <p:spPr>
          <a:xfrm>
            <a:off x="914400" y="1600200"/>
            <a:ext cx="1828800" cy="182880"/>
          </a:xfrm>
          <a:prstGeom prst="rect">
            <a:avLst/>
          </a:prstGeom>
          <a:noFill/>
          <a:ln/>
        </p:spPr>
        <p:txBody>
          <a:bodyPr wrap="square" lIns="0" tIns="0" rIns="0" bIns="0" rtlCol="0" anchor="ctr"/>
          <a:lstStyle/>
          <a:p>
            <a:pPr marL="0" indent="0">
              <a:buNone/>
            </a:pPr>
            <a:r>
              <a:rPr lang="en-US" sz="1000" b="1" kern="0" spc="120" dirty="0">
                <a:solidFill>
                  <a:srgbClr val="9DB0C4"/>
                </a:solidFill>
              </a:rPr>
              <a:t>COUCHE</a:t>
            </a:r>
            <a:endParaRPr lang="en-US" sz="1000" dirty="0"/>
          </a:p>
        </p:txBody>
      </p:sp>
      <p:sp>
        <p:nvSpPr>
          <p:cNvPr id="6" name="Text 4"/>
          <p:cNvSpPr/>
          <p:nvPr/>
        </p:nvSpPr>
        <p:spPr>
          <a:xfrm>
            <a:off x="3063240" y="1600200"/>
            <a:ext cx="2057400" cy="182880"/>
          </a:xfrm>
          <a:prstGeom prst="rect">
            <a:avLst/>
          </a:prstGeom>
          <a:noFill/>
          <a:ln/>
        </p:spPr>
        <p:txBody>
          <a:bodyPr wrap="square" lIns="0" tIns="0" rIns="0" bIns="0" rtlCol="0" anchor="ctr"/>
          <a:lstStyle/>
          <a:p>
            <a:pPr marL="0" indent="0">
              <a:buNone/>
            </a:pPr>
            <a:r>
              <a:rPr lang="en-US" sz="1000" b="1" kern="0" spc="120" dirty="0">
                <a:solidFill>
                  <a:srgbClr val="9DB0C4"/>
                </a:solidFill>
              </a:rPr>
              <a:t>TECHNOLOGIE</a:t>
            </a:r>
            <a:endParaRPr lang="en-US" sz="1000" dirty="0"/>
          </a:p>
        </p:txBody>
      </p:sp>
      <p:sp>
        <p:nvSpPr>
          <p:cNvPr id="7" name="Text 5"/>
          <p:cNvSpPr/>
          <p:nvPr/>
        </p:nvSpPr>
        <p:spPr>
          <a:xfrm>
            <a:off x="5486400" y="1600200"/>
            <a:ext cx="5029200" cy="182880"/>
          </a:xfrm>
          <a:prstGeom prst="rect">
            <a:avLst/>
          </a:prstGeom>
          <a:noFill/>
          <a:ln/>
        </p:spPr>
        <p:txBody>
          <a:bodyPr wrap="square" lIns="0" tIns="0" rIns="0" bIns="0" rtlCol="0" anchor="ctr"/>
          <a:lstStyle/>
          <a:p>
            <a:pPr marL="0" indent="0">
              <a:buNone/>
            </a:pPr>
            <a:r>
              <a:rPr lang="en-US" sz="1000" b="1" kern="0" spc="120" dirty="0">
                <a:solidFill>
                  <a:srgbClr val="9DB0C4"/>
                </a:solidFill>
              </a:rPr>
              <a:t>RÔLE PRINCIPAL</a:t>
            </a:r>
            <a:endParaRPr lang="en-US" sz="1000" dirty="0"/>
          </a:p>
        </p:txBody>
      </p:sp>
      <p:sp>
        <p:nvSpPr>
          <p:cNvPr id="8" name="Shape 6"/>
          <p:cNvSpPr/>
          <p:nvPr/>
        </p:nvSpPr>
        <p:spPr>
          <a:xfrm>
            <a:off x="777240" y="1920240"/>
            <a:ext cx="10634472" cy="393192"/>
          </a:xfrm>
          <a:prstGeom prst="rect">
            <a:avLst/>
          </a:prstGeom>
          <a:solidFill>
            <a:srgbClr val="10263A">
              <a:alpha val="80000"/>
            </a:srgbClr>
          </a:solidFill>
          <a:ln w="12700">
            <a:solidFill>
              <a:srgbClr val="10263A">
                <a:alpha val="0"/>
              </a:srgbClr>
            </a:solidFill>
            <a:prstDash val="solid"/>
          </a:ln>
        </p:spPr>
      </p:sp>
      <p:sp>
        <p:nvSpPr>
          <p:cNvPr id="9" name="Shape 7"/>
          <p:cNvSpPr/>
          <p:nvPr/>
        </p:nvSpPr>
        <p:spPr>
          <a:xfrm>
            <a:off x="914400" y="2002536"/>
            <a:ext cx="164592" cy="164592"/>
          </a:xfrm>
          <a:prstGeom prst="ellipse">
            <a:avLst/>
          </a:prstGeom>
          <a:solidFill>
            <a:srgbClr val="21C7E8"/>
          </a:solidFill>
          <a:ln w="12700">
            <a:solidFill>
              <a:srgbClr val="21C7E8"/>
            </a:solidFill>
            <a:prstDash val="solid"/>
          </a:ln>
        </p:spPr>
      </p:sp>
      <p:sp>
        <p:nvSpPr>
          <p:cNvPr id="10" name="Text 8"/>
          <p:cNvSpPr/>
          <p:nvPr/>
        </p:nvSpPr>
        <p:spPr>
          <a:xfrm>
            <a:off x="1207008" y="1965960"/>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Simulation IoT</a:t>
            </a:r>
            <a:endParaRPr lang="en-US" sz="1150" dirty="0"/>
          </a:p>
        </p:txBody>
      </p:sp>
      <p:sp>
        <p:nvSpPr>
          <p:cNvPr id="11" name="Text 9"/>
          <p:cNvSpPr/>
          <p:nvPr/>
        </p:nvSpPr>
        <p:spPr>
          <a:xfrm>
            <a:off x="3063240" y="1965960"/>
            <a:ext cx="2148840" cy="201168"/>
          </a:xfrm>
          <a:prstGeom prst="rect">
            <a:avLst/>
          </a:prstGeom>
          <a:noFill/>
          <a:ln/>
        </p:spPr>
        <p:txBody>
          <a:bodyPr wrap="square" lIns="0" tIns="0" rIns="0" bIns="0" rtlCol="0" anchor="ctr"/>
          <a:lstStyle/>
          <a:p>
            <a:pPr marL="0" indent="0">
              <a:buNone/>
            </a:pPr>
            <a:r>
              <a:rPr lang="en-US" sz="1150" b="1" dirty="0">
                <a:solidFill>
                  <a:srgbClr val="21C7E8"/>
                </a:solidFill>
              </a:rPr>
              <a:t>Wokwi</a:t>
            </a:r>
            <a:endParaRPr lang="en-US" sz="1150" dirty="0"/>
          </a:p>
        </p:txBody>
      </p:sp>
      <p:sp>
        <p:nvSpPr>
          <p:cNvPr id="12" name="Text 10"/>
          <p:cNvSpPr/>
          <p:nvPr/>
        </p:nvSpPr>
        <p:spPr>
          <a:xfrm>
            <a:off x="5486400" y="1965960"/>
            <a:ext cx="5257800" cy="201168"/>
          </a:xfrm>
          <a:prstGeom prst="rect">
            <a:avLst/>
          </a:prstGeom>
          <a:noFill/>
          <a:ln/>
        </p:spPr>
        <p:txBody>
          <a:bodyPr wrap="square" lIns="0" tIns="0" rIns="0" bIns="0" rtlCol="0" anchor="ctr"/>
          <a:lstStyle/>
          <a:p>
            <a:pPr marL="0" indent="0">
              <a:buNone/>
            </a:pPr>
            <a:r>
              <a:rPr lang="en-US" sz="1100" dirty="0">
                <a:solidFill>
                  <a:srgbClr val="9DB0C4"/>
                </a:solidFill>
              </a:rPr>
              <a:t>Circuit virtuel, scénarios reproductibles</a:t>
            </a:r>
            <a:endParaRPr lang="en-US" sz="1100" dirty="0"/>
          </a:p>
        </p:txBody>
      </p:sp>
      <p:sp>
        <p:nvSpPr>
          <p:cNvPr id="13" name="Shape 11"/>
          <p:cNvSpPr/>
          <p:nvPr/>
        </p:nvSpPr>
        <p:spPr>
          <a:xfrm>
            <a:off x="914400" y="2478024"/>
            <a:ext cx="164592" cy="164592"/>
          </a:xfrm>
          <a:prstGeom prst="ellipse">
            <a:avLst/>
          </a:prstGeom>
          <a:solidFill>
            <a:srgbClr val="19D3C5"/>
          </a:solidFill>
          <a:ln w="12700">
            <a:solidFill>
              <a:srgbClr val="19D3C5"/>
            </a:solidFill>
            <a:prstDash val="solid"/>
          </a:ln>
        </p:spPr>
      </p:sp>
      <p:sp>
        <p:nvSpPr>
          <p:cNvPr id="14" name="Text 12"/>
          <p:cNvSpPr/>
          <p:nvPr/>
        </p:nvSpPr>
        <p:spPr>
          <a:xfrm>
            <a:off x="1207008" y="2441448"/>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Edge</a:t>
            </a:r>
            <a:endParaRPr lang="en-US" sz="1150" dirty="0"/>
          </a:p>
        </p:txBody>
      </p:sp>
      <p:sp>
        <p:nvSpPr>
          <p:cNvPr id="15" name="Text 13"/>
          <p:cNvSpPr/>
          <p:nvPr/>
        </p:nvSpPr>
        <p:spPr>
          <a:xfrm>
            <a:off x="3063240" y="2441448"/>
            <a:ext cx="2148840" cy="201168"/>
          </a:xfrm>
          <a:prstGeom prst="rect">
            <a:avLst/>
          </a:prstGeom>
          <a:noFill/>
          <a:ln/>
        </p:spPr>
        <p:txBody>
          <a:bodyPr wrap="square" lIns="0" tIns="0" rIns="0" bIns="0" rtlCol="0" anchor="ctr"/>
          <a:lstStyle/>
          <a:p>
            <a:pPr marL="0" indent="0">
              <a:buNone/>
            </a:pPr>
            <a:r>
              <a:rPr lang="en-US" sz="1150" b="1" dirty="0">
                <a:solidFill>
                  <a:srgbClr val="19D3C5"/>
                </a:solidFill>
              </a:rPr>
              <a:t>ESP32 / Arduino C++</a:t>
            </a:r>
            <a:endParaRPr lang="en-US" sz="1150" dirty="0"/>
          </a:p>
        </p:txBody>
      </p:sp>
      <p:sp>
        <p:nvSpPr>
          <p:cNvPr id="16" name="Text 14"/>
          <p:cNvSpPr/>
          <p:nvPr/>
        </p:nvSpPr>
        <p:spPr>
          <a:xfrm>
            <a:off x="5486400" y="2441448"/>
            <a:ext cx="5257800" cy="201168"/>
          </a:xfrm>
          <a:prstGeom prst="rect">
            <a:avLst/>
          </a:prstGeom>
          <a:noFill/>
          <a:ln/>
        </p:spPr>
        <p:txBody>
          <a:bodyPr wrap="square" lIns="0" tIns="0" rIns="0" bIns="0" rtlCol="0" anchor="ctr"/>
          <a:lstStyle/>
          <a:p>
            <a:pPr marL="0" indent="0">
              <a:buNone/>
            </a:pPr>
            <a:r>
              <a:rPr lang="en-US" sz="1100" dirty="0">
                <a:solidFill>
                  <a:srgbClr val="9DB0C4"/>
                </a:solidFill>
              </a:rPr>
              <a:t>Acquisition, JSON, alerte locale</a:t>
            </a:r>
            <a:endParaRPr lang="en-US" sz="1100" dirty="0"/>
          </a:p>
        </p:txBody>
      </p:sp>
      <p:sp>
        <p:nvSpPr>
          <p:cNvPr id="17" name="Shape 15"/>
          <p:cNvSpPr/>
          <p:nvPr/>
        </p:nvSpPr>
        <p:spPr>
          <a:xfrm>
            <a:off x="777240" y="2871216"/>
            <a:ext cx="10634472" cy="393192"/>
          </a:xfrm>
          <a:prstGeom prst="rect">
            <a:avLst/>
          </a:prstGeom>
          <a:solidFill>
            <a:srgbClr val="10263A">
              <a:alpha val="80000"/>
            </a:srgbClr>
          </a:solidFill>
          <a:ln w="12700">
            <a:solidFill>
              <a:srgbClr val="10263A">
                <a:alpha val="0"/>
              </a:srgbClr>
            </a:solidFill>
            <a:prstDash val="solid"/>
          </a:ln>
        </p:spPr>
      </p:sp>
      <p:sp>
        <p:nvSpPr>
          <p:cNvPr id="18" name="Shape 16"/>
          <p:cNvSpPr/>
          <p:nvPr/>
        </p:nvSpPr>
        <p:spPr>
          <a:xfrm>
            <a:off x="914400" y="2953512"/>
            <a:ext cx="164592" cy="164592"/>
          </a:xfrm>
          <a:prstGeom prst="ellipse">
            <a:avLst/>
          </a:prstGeom>
          <a:solidFill>
            <a:srgbClr val="FFB547"/>
          </a:solidFill>
          <a:ln w="12700">
            <a:solidFill>
              <a:srgbClr val="FFB547"/>
            </a:solidFill>
            <a:prstDash val="solid"/>
          </a:ln>
        </p:spPr>
      </p:sp>
      <p:sp>
        <p:nvSpPr>
          <p:cNvPr id="19" name="Text 17"/>
          <p:cNvSpPr/>
          <p:nvPr/>
        </p:nvSpPr>
        <p:spPr>
          <a:xfrm>
            <a:off x="1207008" y="2916936"/>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Messagerie</a:t>
            </a:r>
            <a:endParaRPr lang="en-US" sz="1150" dirty="0"/>
          </a:p>
        </p:txBody>
      </p:sp>
      <p:sp>
        <p:nvSpPr>
          <p:cNvPr id="20" name="Text 18"/>
          <p:cNvSpPr/>
          <p:nvPr/>
        </p:nvSpPr>
        <p:spPr>
          <a:xfrm>
            <a:off x="3063240" y="2916936"/>
            <a:ext cx="2148840" cy="201168"/>
          </a:xfrm>
          <a:prstGeom prst="rect">
            <a:avLst/>
          </a:prstGeom>
          <a:noFill/>
          <a:ln/>
        </p:spPr>
        <p:txBody>
          <a:bodyPr wrap="square" lIns="0" tIns="0" rIns="0" bIns="0" rtlCol="0" anchor="ctr"/>
          <a:lstStyle/>
          <a:p>
            <a:pPr marL="0" indent="0">
              <a:buNone/>
            </a:pPr>
            <a:r>
              <a:rPr lang="en-US" sz="1150" b="1" dirty="0">
                <a:solidFill>
                  <a:srgbClr val="FFB547"/>
                </a:solidFill>
              </a:rPr>
              <a:t>MQTT / HiveMQ</a:t>
            </a:r>
            <a:endParaRPr lang="en-US" sz="1150" dirty="0"/>
          </a:p>
        </p:txBody>
      </p:sp>
      <p:sp>
        <p:nvSpPr>
          <p:cNvPr id="21" name="Text 19"/>
          <p:cNvSpPr/>
          <p:nvPr/>
        </p:nvSpPr>
        <p:spPr>
          <a:xfrm>
            <a:off x="5486400" y="2916936"/>
            <a:ext cx="5257800" cy="201168"/>
          </a:xfrm>
          <a:prstGeom prst="rect">
            <a:avLst/>
          </a:prstGeom>
          <a:noFill/>
          <a:ln/>
        </p:spPr>
        <p:txBody>
          <a:bodyPr wrap="square" lIns="0" tIns="0" rIns="0" bIns="0" rtlCol="0" anchor="ctr"/>
          <a:lstStyle/>
          <a:p>
            <a:pPr marL="0" indent="0">
              <a:buNone/>
            </a:pPr>
            <a:r>
              <a:rPr lang="en-US" sz="1100" dirty="0">
                <a:solidFill>
                  <a:srgbClr val="9DB0C4"/>
                </a:solidFill>
              </a:rPr>
              <a:t>Transport léger publish-subscribe</a:t>
            </a:r>
            <a:endParaRPr lang="en-US" sz="1100" dirty="0"/>
          </a:p>
        </p:txBody>
      </p:sp>
      <p:sp>
        <p:nvSpPr>
          <p:cNvPr id="22" name="Shape 20"/>
          <p:cNvSpPr/>
          <p:nvPr/>
        </p:nvSpPr>
        <p:spPr>
          <a:xfrm>
            <a:off x="914400" y="3429000"/>
            <a:ext cx="164592" cy="164592"/>
          </a:xfrm>
          <a:prstGeom prst="ellipse">
            <a:avLst/>
          </a:prstGeom>
          <a:solidFill>
            <a:srgbClr val="3DDC97"/>
          </a:solidFill>
          <a:ln w="12700">
            <a:solidFill>
              <a:srgbClr val="3DDC97"/>
            </a:solidFill>
            <a:prstDash val="solid"/>
          </a:ln>
        </p:spPr>
      </p:sp>
      <p:sp>
        <p:nvSpPr>
          <p:cNvPr id="23" name="Text 21"/>
          <p:cNvSpPr/>
          <p:nvPr/>
        </p:nvSpPr>
        <p:spPr>
          <a:xfrm>
            <a:off x="1207008" y="3392424"/>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Traitement</a:t>
            </a:r>
            <a:endParaRPr lang="en-US" sz="1150" dirty="0"/>
          </a:p>
        </p:txBody>
      </p:sp>
      <p:sp>
        <p:nvSpPr>
          <p:cNvPr id="24" name="Text 22"/>
          <p:cNvSpPr/>
          <p:nvPr/>
        </p:nvSpPr>
        <p:spPr>
          <a:xfrm>
            <a:off x="3063240" y="3392424"/>
            <a:ext cx="2148840" cy="201168"/>
          </a:xfrm>
          <a:prstGeom prst="rect">
            <a:avLst/>
          </a:prstGeom>
          <a:noFill/>
          <a:ln/>
        </p:spPr>
        <p:txBody>
          <a:bodyPr wrap="square" lIns="0" tIns="0" rIns="0" bIns="0" rtlCol="0" anchor="ctr"/>
          <a:lstStyle/>
          <a:p>
            <a:pPr marL="0" indent="0">
              <a:buNone/>
            </a:pPr>
            <a:r>
              <a:rPr lang="en-US" sz="1150" b="1" dirty="0">
                <a:solidFill>
                  <a:srgbClr val="3DDC97"/>
                </a:solidFill>
              </a:rPr>
              <a:t>Python</a:t>
            </a:r>
            <a:endParaRPr lang="en-US" sz="1150" dirty="0"/>
          </a:p>
        </p:txBody>
      </p:sp>
      <p:sp>
        <p:nvSpPr>
          <p:cNvPr id="25" name="Text 23"/>
          <p:cNvSpPr/>
          <p:nvPr/>
        </p:nvSpPr>
        <p:spPr>
          <a:xfrm>
            <a:off x="5486400" y="3392424"/>
            <a:ext cx="5257800" cy="201168"/>
          </a:xfrm>
          <a:prstGeom prst="rect">
            <a:avLst/>
          </a:prstGeom>
          <a:noFill/>
          <a:ln/>
        </p:spPr>
        <p:txBody>
          <a:bodyPr wrap="square" lIns="0" tIns="0" rIns="0" bIns="0" rtlCol="0" anchor="ctr"/>
          <a:lstStyle/>
          <a:p>
            <a:pPr marL="0" indent="0">
              <a:buNone/>
            </a:pPr>
            <a:r>
              <a:rPr lang="en-US" sz="1100" dirty="0">
                <a:solidFill>
                  <a:srgbClr val="9DB0C4"/>
                </a:solidFill>
              </a:rPr>
              <a:t>Validation, seuils, cooldown, webhook</a:t>
            </a:r>
            <a:endParaRPr lang="en-US" sz="1100" dirty="0"/>
          </a:p>
        </p:txBody>
      </p:sp>
      <p:sp>
        <p:nvSpPr>
          <p:cNvPr id="26" name="Shape 24"/>
          <p:cNvSpPr/>
          <p:nvPr/>
        </p:nvSpPr>
        <p:spPr>
          <a:xfrm>
            <a:off x="777240" y="3822192"/>
            <a:ext cx="10634472" cy="393192"/>
          </a:xfrm>
          <a:prstGeom prst="rect">
            <a:avLst/>
          </a:prstGeom>
          <a:solidFill>
            <a:srgbClr val="10263A">
              <a:alpha val="80000"/>
            </a:srgbClr>
          </a:solidFill>
          <a:ln w="12700">
            <a:solidFill>
              <a:srgbClr val="10263A">
                <a:alpha val="0"/>
              </a:srgbClr>
            </a:solidFill>
            <a:prstDash val="solid"/>
          </a:ln>
        </p:spPr>
      </p:sp>
      <p:sp>
        <p:nvSpPr>
          <p:cNvPr id="27" name="Shape 25"/>
          <p:cNvSpPr/>
          <p:nvPr/>
        </p:nvSpPr>
        <p:spPr>
          <a:xfrm>
            <a:off x="914400" y="3904488"/>
            <a:ext cx="164592" cy="164592"/>
          </a:xfrm>
          <a:prstGeom prst="ellipse">
            <a:avLst/>
          </a:prstGeom>
          <a:solidFill>
            <a:srgbClr val="21C7E8"/>
          </a:solidFill>
          <a:ln w="12700">
            <a:solidFill>
              <a:srgbClr val="21C7E8"/>
            </a:solidFill>
            <a:prstDash val="solid"/>
          </a:ln>
        </p:spPr>
      </p:sp>
      <p:sp>
        <p:nvSpPr>
          <p:cNvPr id="28" name="Text 26"/>
          <p:cNvSpPr/>
          <p:nvPr/>
        </p:nvSpPr>
        <p:spPr>
          <a:xfrm>
            <a:off x="1207008" y="3867912"/>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Data</a:t>
            </a:r>
            <a:endParaRPr lang="en-US" sz="1150" dirty="0"/>
          </a:p>
        </p:txBody>
      </p:sp>
      <p:sp>
        <p:nvSpPr>
          <p:cNvPr id="29" name="Text 27"/>
          <p:cNvSpPr/>
          <p:nvPr/>
        </p:nvSpPr>
        <p:spPr>
          <a:xfrm>
            <a:off x="3063240" y="3867912"/>
            <a:ext cx="2148840" cy="201168"/>
          </a:xfrm>
          <a:prstGeom prst="rect">
            <a:avLst/>
          </a:prstGeom>
          <a:noFill/>
          <a:ln/>
        </p:spPr>
        <p:txBody>
          <a:bodyPr wrap="square" lIns="0" tIns="0" rIns="0" bIns="0" rtlCol="0" anchor="ctr"/>
          <a:lstStyle/>
          <a:p>
            <a:pPr marL="0" indent="0">
              <a:buNone/>
            </a:pPr>
            <a:r>
              <a:rPr lang="en-US" sz="1150" b="1" dirty="0">
                <a:solidFill>
                  <a:srgbClr val="21C7E8"/>
                </a:solidFill>
              </a:rPr>
              <a:t>Elasticsearch</a:t>
            </a:r>
            <a:endParaRPr lang="en-US" sz="1150" dirty="0"/>
          </a:p>
        </p:txBody>
      </p:sp>
      <p:sp>
        <p:nvSpPr>
          <p:cNvPr id="30" name="Text 28"/>
          <p:cNvSpPr/>
          <p:nvPr/>
        </p:nvSpPr>
        <p:spPr>
          <a:xfrm>
            <a:off x="5486400" y="3867912"/>
            <a:ext cx="5257800" cy="201168"/>
          </a:xfrm>
          <a:prstGeom prst="rect">
            <a:avLst/>
          </a:prstGeom>
          <a:noFill/>
          <a:ln/>
        </p:spPr>
        <p:txBody>
          <a:bodyPr wrap="square" lIns="0" tIns="0" rIns="0" bIns="0" rtlCol="0" anchor="ctr"/>
          <a:lstStyle/>
          <a:p>
            <a:pPr marL="0" indent="0">
              <a:buNone/>
            </a:pPr>
            <a:r>
              <a:rPr lang="en-US" sz="1100" dirty="0">
                <a:solidFill>
                  <a:srgbClr val="9DB0C4"/>
                </a:solidFill>
              </a:rPr>
              <a:t>Indexation et agrégations temporelles</a:t>
            </a:r>
            <a:endParaRPr lang="en-US" sz="1100" dirty="0"/>
          </a:p>
        </p:txBody>
      </p:sp>
      <p:sp>
        <p:nvSpPr>
          <p:cNvPr id="31" name="Shape 29"/>
          <p:cNvSpPr/>
          <p:nvPr/>
        </p:nvSpPr>
        <p:spPr>
          <a:xfrm>
            <a:off x="914400" y="4379976"/>
            <a:ext cx="164592" cy="164592"/>
          </a:xfrm>
          <a:prstGeom prst="ellipse">
            <a:avLst/>
          </a:prstGeom>
          <a:solidFill>
            <a:srgbClr val="19D3C5"/>
          </a:solidFill>
          <a:ln w="12700">
            <a:solidFill>
              <a:srgbClr val="19D3C5"/>
            </a:solidFill>
            <a:prstDash val="solid"/>
          </a:ln>
        </p:spPr>
      </p:sp>
      <p:sp>
        <p:nvSpPr>
          <p:cNvPr id="32" name="Text 30"/>
          <p:cNvSpPr/>
          <p:nvPr/>
        </p:nvSpPr>
        <p:spPr>
          <a:xfrm>
            <a:off x="1207008" y="4343400"/>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API</a:t>
            </a:r>
            <a:endParaRPr lang="en-US" sz="1150" dirty="0"/>
          </a:p>
        </p:txBody>
      </p:sp>
      <p:sp>
        <p:nvSpPr>
          <p:cNvPr id="33" name="Text 31"/>
          <p:cNvSpPr/>
          <p:nvPr/>
        </p:nvSpPr>
        <p:spPr>
          <a:xfrm>
            <a:off x="3063240" y="4343400"/>
            <a:ext cx="2148840" cy="201168"/>
          </a:xfrm>
          <a:prstGeom prst="rect">
            <a:avLst/>
          </a:prstGeom>
          <a:noFill/>
          <a:ln/>
        </p:spPr>
        <p:txBody>
          <a:bodyPr wrap="square" lIns="0" tIns="0" rIns="0" bIns="0" rtlCol="0" anchor="ctr"/>
          <a:lstStyle/>
          <a:p>
            <a:pPr marL="0" indent="0">
              <a:buNone/>
            </a:pPr>
            <a:r>
              <a:rPr lang="en-US" sz="1150" b="1" dirty="0">
                <a:solidFill>
                  <a:srgbClr val="19D3C5"/>
                </a:solidFill>
              </a:rPr>
              <a:t>FastAPI</a:t>
            </a:r>
            <a:endParaRPr lang="en-US" sz="1150" dirty="0"/>
          </a:p>
        </p:txBody>
      </p:sp>
      <p:sp>
        <p:nvSpPr>
          <p:cNvPr id="34" name="Text 32"/>
          <p:cNvSpPr/>
          <p:nvPr/>
        </p:nvSpPr>
        <p:spPr>
          <a:xfrm>
            <a:off x="5486400" y="4343400"/>
            <a:ext cx="5257800" cy="201168"/>
          </a:xfrm>
          <a:prstGeom prst="rect">
            <a:avLst/>
          </a:prstGeom>
          <a:noFill/>
          <a:ln/>
        </p:spPr>
        <p:txBody>
          <a:bodyPr wrap="square" lIns="0" tIns="0" rIns="0" bIns="0" rtlCol="0" anchor="ctr"/>
          <a:lstStyle/>
          <a:p>
            <a:pPr marL="0" indent="0">
              <a:buNone/>
            </a:pPr>
            <a:r>
              <a:rPr lang="en-US" sz="1100" dirty="0">
                <a:solidFill>
                  <a:srgbClr val="9DB0C4"/>
                </a:solidFill>
              </a:rPr>
              <a:t>Endpoints REST en lecture seule</a:t>
            </a:r>
            <a:endParaRPr lang="en-US" sz="1100" dirty="0"/>
          </a:p>
        </p:txBody>
      </p:sp>
      <p:sp>
        <p:nvSpPr>
          <p:cNvPr id="35" name="Shape 33"/>
          <p:cNvSpPr/>
          <p:nvPr/>
        </p:nvSpPr>
        <p:spPr>
          <a:xfrm>
            <a:off x="777240" y="4773168"/>
            <a:ext cx="10634472" cy="393192"/>
          </a:xfrm>
          <a:prstGeom prst="rect">
            <a:avLst/>
          </a:prstGeom>
          <a:solidFill>
            <a:srgbClr val="10263A">
              <a:alpha val="80000"/>
            </a:srgbClr>
          </a:solidFill>
          <a:ln w="12700">
            <a:solidFill>
              <a:srgbClr val="10263A">
                <a:alpha val="0"/>
              </a:srgbClr>
            </a:solidFill>
            <a:prstDash val="solid"/>
          </a:ln>
        </p:spPr>
      </p:sp>
      <p:sp>
        <p:nvSpPr>
          <p:cNvPr id="36" name="Shape 34"/>
          <p:cNvSpPr/>
          <p:nvPr/>
        </p:nvSpPr>
        <p:spPr>
          <a:xfrm>
            <a:off x="914400" y="4855464"/>
            <a:ext cx="164592" cy="164592"/>
          </a:xfrm>
          <a:prstGeom prst="ellipse">
            <a:avLst/>
          </a:prstGeom>
          <a:solidFill>
            <a:srgbClr val="FFB547"/>
          </a:solidFill>
          <a:ln w="12700">
            <a:solidFill>
              <a:srgbClr val="FFB547"/>
            </a:solidFill>
            <a:prstDash val="solid"/>
          </a:ln>
        </p:spPr>
      </p:sp>
      <p:sp>
        <p:nvSpPr>
          <p:cNvPr id="37" name="Text 35"/>
          <p:cNvSpPr/>
          <p:nvPr/>
        </p:nvSpPr>
        <p:spPr>
          <a:xfrm>
            <a:off x="1207008" y="4818888"/>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Visualisation</a:t>
            </a:r>
            <a:endParaRPr lang="en-US" sz="1150" dirty="0"/>
          </a:p>
        </p:txBody>
      </p:sp>
      <p:sp>
        <p:nvSpPr>
          <p:cNvPr id="38" name="Text 36"/>
          <p:cNvSpPr/>
          <p:nvPr/>
        </p:nvSpPr>
        <p:spPr>
          <a:xfrm>
            <a:off x="3063240" y="4818888"/>
            <a:ext cx="2148840" cy="201168"/>
          </a:xfrm>
          <a:prstGeom prst="rect">
            <a:avLst/>
          </a:prstGeom>
          <a:noFill/>
          <a:ln/>
        </p:spPr>
        <p:txBody>
          <a:bodyPr wrap="square" lIns="0" tIns="0" rIns="0" bIns="0" rtlCol="0" anchor="ctr"/>
          <a:lstStyle/>
          <a:p>
            <a:pPr marL="0" indent="0">
              <a:buNone/>
            </a:pPr>
            <a:r>
              <a:rPr lang="en-US" sz="1150" b="1" dirty="0">
                <a:solidFill>
                  <a:srgbClr val="FFB547"/>
                </a:solidFill>
              </a:rPr>
              <a:t>Kibana</a:t>
            </a:r>
            <a:endParaRPr lang="en-US" sz="1150" dirty="0"/>
          </a:p>
        </p:txBody>
      </p:sp>
      <p:sp>
        <p:nvSpPr>
          <p:cNvPr id="39" name="Text 37"/>
          <p:cNvSpPr/>
          <p:nvPr/>
        </p:nvSpPr>
        <p:spPr>
          <a:xfrm>
            <a:off x="5486400" y="4818888"/>
            <a:ext cx="5257800" cy="201168"/>
          </a:xfrm>
          <a:prstGeom prst="rect">
            <a:avLst/>
          </a:prstGeom>
          <a:noFill/>
          <a:ln/>
        </p:spPr>
        <p:txBody>
          <a:bodyPr wrap="square" lIns="0" tIns="0" rIns="0" bIns="0" rtlCol="0" anchor="ctr"/>
          <a:lstStyle/>
          <a:p>
            <a:pPr marL="0" indent="0">
              <a:buNone/>
            </a:pPr>
            <a:r>
              <a:rPr lang="en-US" sz="1100" dirty="0">
                <a:solidFill>
                  <a:srgbClr val="9DB0C4"/>
                </a:solidFill>
              </a:rPr>
              <a:t>Dashboards et exploration</a:t>
            </a:r>
            <a:endParaRPr lang="en-US" sz="1100" dirty="0"/>
          </a:p>
        </p:txBody>
      </p:sp>
      <p:sp>
        <p:nvSpPr>
          <p:cNvPr id="40" name="Shape 38"/>
          <p:cNvSpPr/>
          <p:nvPr/>
        </p:nvSpPr>
        <p:spPr>
          <a:xfrm>
            <a:off x="914400" y="5330952"/>
            <a:ext cx="164592" cy="164592"/>
          </a:xfrm>
          <a:prstGeom prst="ellipse">
            <a:avLst/>
          </a:prstGeom>
          <a:solidFill>
            <a:srgbClr val="3DDC97"/>
          </a:solidFill>
          <a:ln w="12700">
            <a:solidFill>
              <a:srgbClr val="3DDC97"/>
            </a:solidFill>
            <a:prstDash val="solid"/>
          </a:ln>
        </p:spPr>
      </p:sp>
      <p:sp>
        <p:nvSpPr>
          <p:cNvPr id="41" name="Text 39"/>
          <p:cNvSpPr/>
          <p:nvPr/>
        </p:nvSpPr>
        <p:spPr>
          <a:xfrm>
            <a:off x="1207008" y="5294376"/>
            <a:ext cx="1600200" cy="201168"/>
          </a:xfrm>
          <a:prstGeom prst="rect">
            <a:avLst/>
          </a:prstGeom>
          <a:noFill/>
          <a:ln/>
        </p:spPr>
        <p:txBody>
          <a:bodyPr wrap="square" lIns="0" tIns="0" rIns="0" bIns="0" rtlCol="0" anchor="ctr"/>
          <a:lstStyle/>
          <a:p>
            <a:pPr marL="0" indent="0">
              <a:buNone/>
            </a:pPr>
            <a:r>
              <a:rPr lang="en-US" sz="1150" b="1" dirty="0">
                <a:solidFill>
                  <a:srgbClr val="F4F8FC"/>
                </a:solidFill>
              </a:rPr>
              <a:t>Orchestration</a:t>
            </a:r>
            <a:endParaRPr lang="en-US" sz="1150" dirty="0"/>
          </a:p>
        </p:txBody>
      </p:sp>
      <p:sp>
        <p:nvSpPr>
          <p:cNvPr id="42" name="Text 40"/>
          <p:cNvSpPr/>
          <p:nvPr/>
        </p:nvSpPr>
        <p:spPr>
          <a:xfrm>
            <a:off x="3063240" y="5294376"/>
            <a:ext cx="2148840" cy="201168"/>
          </a:xfrm>
          <a:prstGeom prst="rect">
            <a:avLst/>
          </a:prstGeom>
          <a:noFill/>
          <a:ln/>
        </p:spPr>
        <p:txBody>
          <a:bodyPr wrap="square" lIns="0" tIns="0" rIns="0" bIns="0" rtlCol="0" anchor="ctr"/>
          <a:lstStyle/>
          <a:p>
            <a:pPr marL="0" indent="0">
              <a:buNone/>
            </a:pPr>
            <a:r>
              <a:rPr lang="en-US" sz="1150" b="1" dirty="0">
                <a:solidFill>
                  <a:srgbClr val="3DDC97"/>
                </a:solidFill>
              </a:rPr>
              <a:t>Docker Compose</a:t>
            </a:r>
            <a:endParaRPr lang="en-US" sz="1150" dirty="0"/>
          </a:p>
        </p:txBody>
      </p:sp>
      <p:sp>
        <p:nvSpPr>
          <p:cNvPr id="43" name="Text 41"/>
          <p:cNvSpPr/>
          <p:nvPr/>
        </p:nvSpPr>
        <p:spPr>
          <a:xfrm>
            <a:off x="5486400" y="5294376"/>
            <a:ext cx="5257800" cy="201168"/>
          </a:xfrm>
          <a:prstGeom prst="rect">
            <a:avLst/>
          </a:prstGeom>
          <a:noFill/>
          <a:ln/>
        </p:spPr>
        <p:txBody>
          <a:bodyPr wrap="square" lIns="0" tIns="0" rIns="0" bIns="0" rtlCol="0" anchor="ctr"/>
          <a:lstStyle/>
          <a:p>
            <a:pPr marL="0" indent="0">
              <a:buNone/>
            </a:pPr>
            <a:r>
              <a:rPr lang="en-US" sz="1100" dirty="0">
                <a:solidFill>
                  <a:srgbClr val="9DB0C4"/>
                </a:solidFill>
              </a:rPr>
              <a:t>Déploiement local reproductible</a:t>
            </a:r>
            <a:endParaRPr lang="en-US" sz="1100" dirty="0"/>
          </a:p>
        </p:txBody>
      </p:sp>
      <p:sp>
        <p:nvSpPr>
          <p:cNvPr id="44"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SCÉNARIO DE DÉMO</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Une démonstration courte, progressive et vérifiable</a:t>
            </a:r>
            <a:endParaRPr lang="en-US" sz="2700" dirty="0"/>
          </a:p>
        </p:txBody>
      </p:sp>
      <p:sp>
        <p:nvSpPr>
          <p:cNvPr id="4" name="Shape 2"/>
          <p:cNvSpPr/>
          <p:nvPr/>
        </p:nvSpPr>
        <p:spPr>
          <a:xfrm>
            <a:off x="594360" y="1417320"/>
            <a:ext cx="3401568" cy="1755648"/>
          </a:xfrm>
          <a:prstGeom prst="roundRect">
            <a:avLst>
              <a:gd name="adj" fmla="val 3646"/>
            </a:avLst>
          </a:prstGeom>
          <a:solidFill>
            <a:srgbClr val="0D1B2A"/>
          </a:solidFill>
          <a:ln w="15240">
            <a:solidFill>
              <a:srgbClr val="21C7E8"/>
            </a:solidFill>
            <a:prstDash val="solid"/>
          </a:ln>
        </p:spPr>
      </p:sp>
      <p:sp>
        <p:nvSpPr>
          <p:cNvPr id="5" name="Text 3"/>
          <p:cNvSpPr/>
          <p:nvPr/>
        </p:nvSpPr>
        <p:spPr>
          <a:xfrm>
            <a:off x="822960" y="1645920"/>
            <a:ext cx="502920" cy="320040"/>
          </a:xfrm>
          <a:prstGeom prst="rect">
            <a:avLst/>
          </a:prstGeom>
          <a:noFill/>
          <a:ln/>
        </p:spPr>
        <p:txBody>
          <a:bodyPr wrap="square" lIns="0" tIns="0" rIns="0" bIns="0" rtlCol="0" anchor="ctr"/>
          <a:lstStyle/>
          <a:p>
            <a:pPr marL="0" indent="0">
              <a:buNone/>
            </a:pPr>
            <a:r>
              <a:rPr lang="en-US" sz="2000" b="1" dirty="0">
                <a:solidFill>
                  <a:srgbClr val="21C7E8"/>
                </a:solidFill>
              </a:rPr>
              <a:t>01</a:t>
            </a:r>
            <a:endParaRPr lang="en-US" sz="2000" dirty="0"/>
          </a:p>
        </p:txBody>
      </p:sp>
      <p:sp>
        <p:nvSpPr>
          <p:cNvPr id="6" name="Text 4"/>
          <p:cNvSpPr/>
          <p:nvPr/>
        </p:nvSpPr>
        <p:spPr>
          <a:xfrm>
            <a:off x="1463040" y="1673352"/>
            <a:ext cx="2103120" cy="274320"/>
          </a:xfrm>
          <a:prstGeom prst="rect">
            <a:avLst/>
          </a:prstGeom>
          <a:noFill/>
          <a:ln/>
        </p:spPr>
        <p:txBody>
          <a:bodyPr wrap="square" lIns="0" tIns="0" rIns="0" bIns="0" rtlCol="0" anchor="ctr"/>
          <a:lstStyle/>
          <a:p>
            <a:pPr marL="0" indent="0">
              <a:buNone/>
            </a:pPr>
            <a:r>
              <a:rPr lang="en-US" sz="1600" b="1" dirty="0">
                <a:solidFill>
                  <a:srgbClr val="F4F8FC"/>
                </a:solidFill>
              </a:rPr>
              <a:t>Wokwi</a:t>
            </a:r>
            <a:endParaRPr lang="en-US" sz="1600" dirty="0"/>
          </a:p>
        </p:txBody>
      </p:sp>
      <p:sp>
        <p:nvSpPr>
          <p:cNvPr id="7" name="Text 5"/>
          <p:cNvSpPr/>
          <p:nvPr/>
        </p:nvSpPr>
        <p:spPr>
          <a:xfrm>
            <a:off x="822960" y="2221992"/>
            <a:ext cx="2907792" cy="594360"/>
          </a:xfrm>
          <a:prstGeom prst="rect">
            <a:avLst/>
          </a:prstGeom>
          <a:noFill/>
          <a:ln/>
        </p:spPr>
        <p:txBody>
          <a:bodyPr wrap="square" lIns="0" tIns="0" rIns="0" bIns="0" rtlCol="0" anchor="ctr"/>
          <a:lstStyle/>
          <a:p>
            <a:pPr marL="0" indent="0">
              <a:buNone/>
            </a:pPr>
            <a:r>
              <a:rPr lang="en-US" sz="1120" dirty="0">
                <a:solidFill>
                  <a:srgbClr val="9DB0C4"/>
                </a:solidFill>
              </a:rPr>
              <a:t>Démarrer la simulation et faire varier les capteurs.</a:t>
            </a:r>
            <a:endParaRPr lang="en-US" sz="1120" dirty="0"/>
          </a:p>
        </p:txBody>
      </p:sp>
      <p:sp>
        <p:nvSpPr>
          <p:cNvPr id="8" name="Shape 6"/>
          <p:cNvSpPr/>
          <p:nvPr/>
        </p:nvSpPr>
        <p:spPr>
          <a:xfrm>
            <a:off x="4297680" y="1417320"/>
            <a:ext cx="3401568" cy="1755648"/>
          </a:xfrm>
          <a:prstGeom prst="roundRect">
            <a:avLst>
              <a:gd name="adj" fmla="val 3646"/>
            </a:avLst>
          </a:prstGeom>
          <a:solidFill>
            <a:srgbClr val="0D1B2A"/>
          </a:solidFill>
          <a:ln w="15240">
            <a:solidFill>
              <a:srgbClr val="19D3C5"/>
            </a:solidFill>
            <a:prstDash val="solid"/>
          </a:ln>
        </p:spPr>
      </p:sp>
      <p:sp>
        <p:nvSpPr>
          <p:cNvPr id="9" name="Text 7"/>
          <p:cNvSpPr/>
          <p:nvPr/>
        </p:nvSpPr>
        <p:spPr>
          <a:xfrm>
            <a:off x="4526280" y="1645920"/>
            <a:ext cx="502920" cy="320040"/>
          </a:xfrm>
          <a:prstGeom prst="rect">
            <a:avLst/>
          </a:prstGeom>
          <a:noFill/>
          <a:ln/>
        </p:spPr>
        <p:txBody>
          <a:bodyPr wrap="square" lIns="0" tIns="0" rIns="0" bIns="0" rtlCol="0" anchor="ctr"/>
          <a:lstStyle/>
          <a:p>
            <a:pPr marL="0" indent="0">
              <a:buNone/>
            </a:pPr>
            <a:r>
              <a:rPr lang="en-US" sz="2000" b="1" dirty="0">
                <a:solidFill>
                  <a:srgbClr val="19D3C5"/>
                </a:solidFill>
              </a:rPr>
              <a:t>02</a:t>
            </a:r>
            <a:endParaRPr lang="en-US" sz="2000" dirty="0"/>
          </a:p>
        </p:txBody>
      </p:sp>
      <p:sp>
        <p:nvSpPr>
          <p:cNvPr id="10" name="Text 8"/>
          <p:cNvSpPr/>
          <p:nvPr/>
        </p:nvSpPr>
        <p:spPr>
          <a:xfrm>
            <a:off x="5166360" y="1673352"/>
            <a:ext cx="2103120" cy="274320"/>
          </a:xfrm>
          <a:prstGeom prst="rect">
            <a:avLst/>
          </a:prstGeom>
          <a:noFill/>
          <a:ln/>
        </p:spPr>
        <p:txBody>
          <a:bodyPr wrap="square" lIns="0" tIns="0" rIns="0" bIns="0" rtlCol="0" anchor="ctr"/>
          <a:lstStyle/>
          <a:p>
            <a:pPr marL="0" indent="0">
              <a:buNone/>
            </a:pPr>
            <a:r>
              <a:rPr lang="en-US" sz="1600" b="1" dirty="0">
                <a:solidFill>
                  <a:srgbClr val="F4F8FC"/>
                </a:solidFill>
              </a:rPr>
              <a:t>Serial / MQTT</a:t>
            </a:r>
            <a:endParaRPr lang="en-US" sz="1600" dirty="0"/>
          </a:p>
        </p:txBody>
      </p:sp>
      <p:sp>
        <p:nvSpPr>
          <p:cNvPr id="11" name="Text 9"/>
          <p:cNvSpPr/>
          <p:nvPr/>
        </p:nvSpPr>
        <p:spPr>
          <a:xfrm>
            <a:off x="4526280" y="2221992"/>
            <a:ext cx="2907792" cy="594360"/>
          </a:xfrm>
          <a:prstGeom prst="rect">
            <a:avLst/>
          </a:prstGeom>
          <a:noFill/>
          <a:ln/>
        </p:spPr>
        <p:txBody>
          <a:bodyPr wrap="square" lIns="0" tIns="0" rIns="0" bIns="0" rtlCol="0" anchor="ctr"/>
          <a:lstStyle/>
          <a:p>
            <a:pPr marL="0" indent="0">
              <a:buNone/>
            </a:pPr>
            <a:r>
              <a:rPr lang="en-US" sz="1120" dirty="0">
                <a:solidFill>
                  <a:srgbClr val="9DB0C4"/>
                </a:solidFill>
              </a:rPr>
              <a:t>Observer le JSON publié toutes les 5 secondes.</a:t>
            </a:r>
            <a:endParaRPr lang="en-US" sz="1120" dirty="0"/>
          </a:p>
        </p:txBody>
      </p:sp>
      <p:sp>
        <p:nvSpPr>
          <p:cNvPr id="12" name="Shape 10"/>
          <p:cNvSpPr/>
          <p:nvPr/>
        </p:nvSpPr>
        <p:spPr>
          <a:xfrm>
            <a:off x="8001000" y="1417320"/>
            <a:ext cx="3401568" cy="1755648"/>
          </a:xfrm>
          <a:prstGeom prst="roundRect">
            <a:avLst>
              <a:gd name="adj" fmla="val 3646"/>
            </a:avLst>
          </a:prstGeom>
          <a:solidFill>
            <a:srgbClr val="0D1B2A"/>
          </a:solidFill>
          <a:ln w="15240">
            <a:solidFill>
              <a:srgbClr val="FFB547"/>
            </a:solidFill>
            <a:prstDash val="solid"/>
          </a:ln>
        </p:spPr>
      </p:sp>
      <p:sp>
        <p:nvSpPr>
          <p:cNvPr id="13" name="Text 11"/>
          <p:cNvSpPr/>
          <p:nvPr/>
        </p:nvSpPr>
        <p:spPr>
          <a:xfrm>
            <a:off x="8229600" y="1645920"/>
            <a:ext cx="502920" cy="320040"/>
          </a:xfrm>
          <a:prstGeom prst="rect">
            <a:avLst/>
          </a:prstGeom>
          <a:noFill/>
          <a:ln/>
        </p:spPr>
        <p:txBody>
          <a:bodyPr wrap="square" lIns="0" tIns="0" rIns="0" bIns="0" rtlCol="0" anchor="ctr"/>
          <a:lstStyle/>
          <a:p>
            <a:pPr marL="0" indent="0">
              <a:buNone/>
            </a:pPr>
            <a:r>
              <a:rPr lang="en-US" sz="2000" b="1" dirty="0">
                <a:solidFill>
                  <a:srgbClr val="FFB547"/>
                </a:solidFill>
              </a:rPr>
              <a:t>03</a:t>
            </a:r>
            <a:endParaRPr lang="en-US" sz="2000" dirty="0"/>
          </a:p>
        </p:txBody>
      </p:sp>
      <p:sp>
        <p:nvSpPr>
          <p:cNvPr id="14" name="Text 12"/>
          <p:cNvSpPr/>
          <p:nvPr/>
        </p:nvSpPr>
        <p:spPr>
          <a:xfrm>
            <a:off x="8869680" y="1673352"/>
            <a:ext cx="2103120" cy="274320"/>
          </a:xfrm>
          <a:prstGeom prst="rect">
            <a:avLst/>
          </a:prstGeom>
          <a:noFill/>
          <a:ln/>
        </p:spPr>
        <p:txBody>
          <a:bodyPr wrap="square" lIns="0" tIns="0" rIns="0" bIns="0" rtlCol="0" anchor="ctr"/>
          <a:lstStyle/>
          <a:p>
            <a:pPr marL="0" indent="0">
              <a:buNone/>
            </a:pPr>
            <a:r>
              <a:rPr lang="en-US" sz="1600" b="1" dirty="0">
                <a:solidFill>
                  <a:srgbClr val="F4F8FC"/>
                </a:solidFill>
              </a:rPr>
              <a:t>Consumer</a:t>
            </a:r>
            <a:endParaRPr lang="en-US" sz="1600" dirty="0"/>
          </a:p>
        </p:txBody>
      </p:sp>
      <p:sp>
        <p:nvSpPr>
          <p:cNvPr id="15" name="Text 13"/>
          <p:cNvSpPr/>
          <p:nvPr/>
        </p:nvSpPr>
        <p:spPr>
          <a:xfrm>
            <a:off x="8229600" y="2221992"/>
            <a:ext cx="2907792" cy="594360"/>
          </a:xfrm>
          <a:prstGeom prst="rect">
            <a:avLst/>
          </a:prstGeom>
          <a:noFill/>
          <a:ln/>
        </p:spPr>
        <p:txBody>
          <a:bodyPr wrap="square" lIns="0" tIns="0" rIns="0" bIns="0" rtlCol="0" anchor="ctr"/>
          <a:lstStyle/>
          <a:p>
            <a:pPr marL="0" indent="0">
              <a:buNone/>
            </a:pPr>
            <a:r>
              <a:rPr lang="en-US" sz="1120" dirty="0">
                <a:solidFill>
                  <a:srgbClr val="9DB0C4"/>
                </a:solidFill>
              </a:rPr>
              <a:t>Voir l’indexation et le diagnostic d’anomalie.</a:t>
            </a:r>
            <a:endParaRPr lang="en-US" sz="1120" dirty="0"/>
          </a:p>
        </p:txBody>
      </p:sp>
      <p:sp>
        <p:nvSpPr>
          <p:cNvPr id="16" name="Shape 14"/>
          <p:cNvSpPr/>
          <p:nvPr/>
        </p:nvSpPr>
        <p:spPr>
          <a:xfrm>
            <a:off x="594360" y="3566160"/>
            <a:ext cx="3401568" cy="1755648"/>
          </a:xfrm>
          <a:prstGeom prst="roundRect">
            <a:avLst>
              <a:gd name="adj" fmla="val 3646"/>
            </a:avLst>
          </a:prstGeom>
          <a:solidFill>
            <a:srgbClr val="0D1B2A"/>
          </a:solidFill>
          <a:ln w="15240">
            <a:solidFill>
              <a:srgbClr val="FF6262"/>
            </a:solidFill>
            <a:prstDash val="solid"/>
          </a:ln>
        </p:spPr>
      </p:sp>
      <p:sp>
        <p:nvSpPr>
          <p:cNvPr id="17" name="Text 15"/>
          <p:cNvSpPr/>
          <p:nvPr/>
        </p:nvSpPr>
        <p:spPr>
          <a:xfrm>
            <a:off x="822960" y="3794760"/>
            <a:ext cx="502920" cy="320040"/>
          </a:xfrm>
          <a:prstGeom prst="rect">
            <a:avLst/>
          </a:prstGeom>
          <a:noFill/>
          <a:ln/>
        </p:spPr>
        <p:txBody>
          <a:bodyPr wrap="square" lIns="0" tIns="0" rIns="0" bIns="0" rtlCol="0" anchor="ctr"/>
          <a:lstStyle/>
          <a:p>
            <a:pPr marL="0" indent="0">
              <a:buNone/>
            </a:pPr>
            <a:r>
              <a:rPr lang="en-US" sz="2000" b="1" dirty="0">
                <a:solidFill>
                  <a:srgbClr val="FF6262"/>
                </a:solidFill>
              </a:rPr>
              <a:t>04</a:t>
            </a:r>
            <a:endParaRPr lang="en-US" sz="2000" dirty="0"/>
          </a:p>
        </p:txBody>
      </p:sp>
      <p:sp>
        <p:nvSpPr>
          <p:cNvPr id="18" name="Text 16"/>
          <p:cNvSpPr/>
          <p:nvPr/>
        </p:nvSpPr>
        <p:spPr>
          <a:xfrm>
            <a:off x="1463040" y="3822192"/>
            <a:ext cx="2103120" cy="274320"/>
          </a:xfrm>
          <a:prstGeom prst="rect">
            <a:avLst/>
          </a:prstGeom>
          <a:noFill/>
          <a:ln/>
        </p:spPr>
        <p:txBody>
          <a:bodyPr wrap="square" lIns="0" tIns="0" rIns="0" bIns="0" rtlCol="0" anchor="ctr"/>
          <a:lstStyle/>
          <a:p>
            <a:pPr marL="0" indent="0">
              <a:buNone/>
            </a:pPr>
            <a:r>
              <a:rPr lang="en-US" sz="1600" b="1" dirty="0">
                <a:solidFill>
                  <a:srgbClr val="F4F8FC"/>
                </a:solidFill>
              </a:rPr>
              <a:t>Webhook</a:t>
            </a:r>
            <a:endParaRPr lang="en-US" sz="1600" dirty="0"/>
          </a:p>
        </p:txBody>
      </p:sp>
      <p:sp>
        <p:nvSpPr>
          <p:cNvPr id="19" name="Text 17"/>
          <p:cNvSpPr/>
          <p:nvPr/>
        </p:nvSpPr>
        <p:spPr>
          <a:xfrm>
            <a:off x="822960" y="4370832"/>
            <a:ext cx="2907792" cy="594360"/>
          </a:xfrm>
          <a:prstGeom prst="rect">
            <a:avLst/>
          </a:prstGeom>
          <a:noFill/>
          <a:ln/>
        </p:spPr>
        <p:txBody>
          <a:bodyPr wrap="square" lIns="0" tIns="0" rIns="0" bIns="0" rtlCol="0" anchor="ctr"/>
          <a:lstStyle/>
          <a:p>
            <a:pPr marL="0" indent="0">
              <a:buNone/>
            </a:pPr>
            <a:r>
              <a:rPr lang="en-US" sz="1120" dirty="0">
                <a:solidFill>
                  <a:srgbClr val="9DB0C4"/>
                </a:solidFill>
              </a:rPr>
              <a:t>Déclencher température, humidité ou gaz hors seuil.</a:t>
            </a:r>
            <a:endParaRPr lang="en-US" sz="1120" dirty="0"/>
          </a:p>
        </p:txBody>
      </p:sp>
      <p:sp>
        <p:nvSpPr>
          <p:cNvPr id="20" name="Shape 18"/>
          <p:cNvSpPr/>
          <p:nvPr/>
        </p:nvSpPr>
        <p:spPr>
          <a:xfrm>
            <a:off x="4297680" y="3566160"/>
            <a:ext cx="3401568" cy="1755648"/>
          </a:xfrm>
          <a:prstGeom prst="roundRect">
            <a:avLst>
              <a:gd name="adj" fmla="val 3646"/>
            </a:avLst>
          </a:prstGeom>
          <a:solidFill>
            <a:srgbClr val="0D1B2A"/>
          </a:solidFill>
          <a:ln w="15240">
            <a:solidFill>
              <a:srgbClr val="3DDC97"/>
            </a:solidFill>
            <a:prstDash val="solid"/>
          </a:ln>
        </p:spPr>
      </p:sp>
      <p:sp>
        <p:nvSpPr>
          <p:cNvPr id="21" name="Text 19"/>
          <p:cNvSpPr/>
          <p:nvPr/>
        </p:nvSpPr>
        <p:spPr>
          <a:xfrm>
            <a:off x="4526280" y="3794760"/>
            <a:ext cx="502920" cy="320040"/>
          </a:xfrm>
          <a:prstGeom prst="rect">
            <a:avLst/>
          </a:prstGeom>
          <a:noFill/>
          <a:ln/>
        </p:spPr>
        <p:txBody>
          <a:bodyPr wrap="square" lIns="0" tIns="0" rIns="0" bIns="0" rtlCol="0" anchor="ctr"/>
          <a:lstStyle/>
          <a:p>
            <a:pPr marL="0" indent="0">
              <a:buNone/>
            </a:pPr>
            <a:r>
              <a:rPr lang="en-US" sz="2000" b="1" dirty="0">
                <a:solidFill>
                  <a:srgbClr val="3DDC97"/>
                </a:solidFill>
              </a:rPr>
              <a:t>05</a:t>
            </a:r>
            <a:endParaRPr lang="en-US" sz="2000" dirty="0"/>
          </a:p>
        </p:txBody>
      </p:sp>
      <p:sp>
        <p:nvSpPr>
          <p:cNvPr id="22" name="Text 20"/>
          <p:cNvSpPr/>
          <p:nvPr/>
        </p:nvSpPr>
        <p:spPr>
          <a:xfrm>
            <a:off x="5166360" y="3822192"/>
            <a:ext cx="2103120" cy="274320"/>
          </a:xfrm>
          <a:prstGeom prst="rect">
            <a:avLst/>
          </a:prstGeom>
          <a:noFill/>
          <a:ln/>
        </p:spPr>
        <p:txBody>
          <a:bodyPr wrap="square" lIns="0" tIns="0" rIns="0" bIns="0" rtlCol="0" anchor="ctr"/>
          <a:lstStyle/>
          <a:p>
            <a:pPr marL="0" indent="0">
              <a:buNone/>
            </a:pPr>
            <a:r>
              <a:rPr lang="en-US" sz="1600" b="1" dirty="0">
                <a:solidFill>
                  <a:srgbClr val="F4F8FC"/>
                </a:solidFill>
              </a:rPr>
              <a:t>Kibana</a:t>
            </a:r>
            <a:endParaRPr lang="en-US" sz="1600" dirty="0"/>
          </a:p>
        </p:txBody>
      </p:sp>
      <p:sp>
        <p:nvSpPr>
          <p:cNvPr id="23" name="Text 21"/>
          <p:cNvSpPr/>
          <p:nvPr/>
        </p:nvSpPr>
        <p:spPr>
          <a:xfrm>
            <a:off x="4526280" y="4370832"/>
            <a:ext cx="2907792" cy="594360"/>
          </a:xfrm>
          <a:prstGeom prst="rect">
            <a:avLst/>
          </a:prstGeom>
          <a:noFill/>
          <a:ln/>
        </p:spPr>
        <p:txBody>
          <a:bodyPr wrap="square" lIns="0" tIns="0" rIns="0" bIns="0" rtlCol="0" anchor="ctr"/>
          <a:lstStyle/>
          <a:p>
            <a:pPr marL="0" indent="0">
              <a:buNone/>
            </a:pPr>
            <a:r>
              <a:rPr lang="en-US" sz="1120" dirty="0">
                <a:solidFill>
                  <a:srgbClr val="9DB0C4"/>
                </a:solidFill>
              </a:rPr>
              <a:t>Confirmer la mesure, le point d’anomalie et l’historique.</a:t>
            </a:r>
            <a:endParaRPr lang="en-US" sz="1120" dirty="0"/>
          </a:p>
        </p:txBody>
      </p:sp>
      <p:sp>
        <p:nvSpPr>
          <p:cNvPr id="24" name="Shape 22"/>
          <p:cNvSpPr/>
          <p:nvPr/>
        </p:nvSpPr>
        <p:spPr>
          <a:xfrm>
            <a:off x="8001000" y="3566160"/>
            <a:ext cx="3401568" cy="1755648"/>
          </a:xfrm>
          <a:prstGeom prst="roundRect">
            <a:avLst>
              <a:gd name="adj" fmla="val 3646"/>
            </a:avLst>
          </a:prstGeom>
          <a:solidFill>
            <a:srgbClr val="0D1B2A"/>
          </a:solidFill>
          <a:ln w="15240">
            <a:solidFill>
              <a:srgbClr val="21C7E8"/>
            </a:solidFill>
            <a:prstDash val="solid"/>
          </a:ln>
        </p:spPr>
      </p:sp>
      <p:sp>
        <p:nvSpPr>
          <p:cNvPr id="25" name="Text 23"/>
          <p:cNvSpPr/>
          <p:nvPr/>
        </p:nvSpPr>
        <p:spPr>
          <a:xfrm>
            <a:off x="8229600" y="3794760"/>
            <a:ext cx="502920" cy="320040"/>
          </a:xfrm>
          <a:prstGeom prst="rect">
            <a:avLst/>
          </a:prstGeom>
          <a:noFill/>
          <a:ln/>
        </p:spPr>
        <p:txBody>
          <a:bodyPr wrap="square" lIns="0" tIns="0" rIns="0" bIns="0" rtlCol="0" anchor="ctr"/>
          <a:lstStyle/>
          <a:p>
            <a:pPr marL="0" indent="0">
              <a:buNone/>
            </a:pPr>
            <a:r>
              <a:rPr lang="en-US" sz="2000" b="1" dirty="0">
                <a:solidFill>
                  <a:srgbClr val="21C7E8"/>
                </a:solidFill>
              </a:rPr>
              <a:t>06</a:t>
            </a:r>
            <a:endParaRPr lang="en-US" sz="2000" dirty="0"/>
          </a:p>
        </p:txBody>
      </p:sp>
      <p:sp>
        <p:nvSpPr>
          <p:cNvPr id="26" name="Text 24"/>
          <p:cNvSpPr/>
          <p:nvPr/>
        </p:nvSpPr>
        <p:spPr>
          <a:xfrm>
            <a:off x="8869680" y="3822192"/>
            <a:ext cx="2103120" cy="274320"/>
          </a:xfrm>
          <a:prstGeom prst="rect">
            <a:avLst/>
          </a:prstGeom>
          <a:noFill/>
          <a:ln/>
        </p:spPr>
        <p:txBody>
          <a:bodyPr wrap="square" lIns="0" tIns="0" rIns="0" bIns="0" rtlCol="0" anchor="ctr"/>
          <a:lstStyle/>
          <a:p>
            <a:pPr marL="0" indent="0">
              <a:buNone/>
            </a:pPr>
            <a:r>
              <a:rPr lang="en-US" sz="1600" b="1" dirty="0">
                <a:solidFill>
                  <a:srgbClr val="F4F8FC"/>
                </a:solidFill>
              </a:rPr>
              <a:t>FastAPI</a:t>
            </a:r>
            <a:endParaRPr lang="en-US" sz="1600" dirty="0"/>
          </a:p>
        </p:txBody>
      </p:sp>
      <p:sp>
        <p:nvSpPr>
          <p:cNvPr id="27" name="Text 25"/>
          <p:cNvSpPr/>
          <p:nvPr/>
        </p:nvSpPr>
        <p:spPr>
          <a:xfrm>
            <a:off x="8229600" y="4370832"/>
            <a:ext cx="2907792" cy="594360"/>
          </a:xfrm>
          <a:prstGeom prst="rect">
            <a:avLst/>
          </a:prstGeom>
          <a:noFill/>
          <a:ln/>
        </p:spPr>
        <p:txBody>
          <a:bodyPr wrap="square" lIns="0" tIns="0" rIns="0" bIns="0" rtlCol="0" anchor="ctr"/>
          <a:lstStyle/>
          <a:p>
            <a:pPr marL="0" indent="0">
              <a:buNone/>
            </a:pPr>
            <a:r>
              <a:rPr lang="en-US" sz="1120" dirty="0">
                <a:solidFill>
                  <a:srgbClr val="9DB0C4"/>
                </a:solidFill>
              </a:rPr>
              <a:t>Interroger dernières mesures et santé du device.</a:t>
            </a:r>
            <a:endParaRPr lang="en-US" sz="1120" dirty="0"/>
          </a:p>
        </p:txBody>
      </p:sp>
      <p:sp>
        <p:nvSpPr>
          <p:cNvPr id="28" name="Text 26"/>
          <p:cNvSpPr/>
          <p:nvPr/>
        </p:nvSpPr>
        <p:spPr>
          <a:xfrm>
            <a:off x="1097280" y="5897880"/>
            <a:ext cx="9966960" cy="256032"/>
          </a:xfrm>
          <a:prstGeom prst="rect">
            <a:avLst/>
          </a:prstGeom>
          <a:noFill/>
          <a:ln/>
        </p:spPr>
        <p:txBody>
          <a:bodyPr wrap="square" lIns="0" tIns="0" rIns="0" bIns="0" rtlCol="0" anchor="ctr"/>
          <a:lstStyle/>
          <a:p>
            <a:pPr marL="0" indent="0" algn="ctr">
              <a:buNone/>
            </a:pPr>
            <a:r>
              <a:rPr lang="en-US" sz="1150" dirty="0">
                <a:solidFill>
                  <a:srgbClr val="9DB0C4"/>
                </a:solidFill>
              </a:rPr>
              <a:t>Captures attendues : circuit Wokwi • terminal consumer • notification webhook • dashboard Kibana • Swagger FastAPI</a:t>
            </a:r>
            <a:endParaRPr lang="en-US" sz="1150" dirty="0"/>
          </a:p>
        </p:txBody>
      </p:sp>
      <p:sp>
        <p:nvSpPr>
          <p:cNvPr id="29"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1" cy="1"/>
          <a:chOff x="0" y="0"/>
          <a:chExt cx="1" cy="1"/>
        </a:xfrm>
      </p:grpSpPr>
      <p:sp>
        <p:nvSpPr>
          <p:cNvPr id="2" name="Text 0"/>
          <p:cNvSpPr/>
          <p:nvPr/>
        </p:nvSpPr>
        <p:spPr>
          <a:xfrm>
            <a:off x="566928" y="320040"/>
            <a:ext cx="3840480" cy="228600"/>
          </a:xfrm>
          <a:prstGeom prst="rect">
            <a:avLst/>
          </a:prstGeom>
          <a:noFill/>
          <a:ln/>
        </p:spPr>
        <p:txBody>
          <a:bodyPr wrap="square" lIns="0" tIns="0" rIns="0" bIns="0" rtlCol="0" anchor="ctr"/>
          <a:lstStyle/>
          <a:p>
            <a:pPr marL="0" indent="0">
              <a:buNone/>
            </a:pPr>
            <a:r>
              <a:rPr lang="en-US" sz="1000" b="1" kern="0" spc="160" dirty="0">
                <a:solidFill>
                  <a:srgbClr val="19D3C5"/>
                </a:solidFill>
              </a:rPr>
              <a:t>CONCLUSION &amp; PERSPECTIVES</a:t>
            </a:r>
            <a:endParaRPr lang="en-US" sz="1000" dirty="0"/>
          </a:p>
        </p:txBody>
      </p:sp>
      <p:sp>
        <p:nvSpPr>
          <p:cNvPr id="3" name="Text 1"/>
          <p:cNvSpPr/>
          <p:nvPr/>
        </p:nvSpPr>
        <p:spPr>
          <a:xfrm>
            <a:off x="566928" y="612648"/>
            <a:ext cx="11018520" cy="502920"/>
          </a:xfrm>
          <a:prstGeom prst="rect">
            <a:avLst/>
          </a:prstGeom>
          <a:noFill/>
          <a:ln/>
        </p:spPr>
        <p:txBody>
          <a:bodyPr wrap="square" lIns="0" tIns="0" rIns="0" bIns="0" rtlCol="0" anchor="ctr"/>
          <a:lstStyle/>
          <a:p>
            <a:pPr marL="0" indent="0">
              <a:buNone/>
            </a:pPr>
            <a:r>
              <a:rPr lang="en-US" sz="2700" b="1" dirty="0">
                <a:solidFill>
                  <a:srgbClr val="F4F8FC"/>
                </a:solidFill>
              </a:rPr>
              <a:t>De la preuve de concept à une plateforme IoT sécurisée</a:t>
            </a:r>
            <a:endParaRPr lang="en-US" sz="2700" dirty="0"/>
          </a:p>
        </p:txBody>
      </p:sp>
      <p:sp>
        <p:nvSpPr>
          <p:cNvPr id="4" name="Shape 2"/>
          <p:cNvSpPr/>
          <p:nvPr/>
        </p:nvSpPr>
        <p:spPr>
          <a:xfrm>
            <a:off x="594360" y="1371600"/>
            <a:ext cx="4709160" cy="4526280"/>
          </a:xfrm>
          <a:prstGeom prst="roundRect">
            <a:avLst>
              <a:gd name="adj" fmla="val 1616"/>
            </a:avLst>
          </a:prstGeom>
          <a:solidFill>
            <a:srgbClr val="0D1B2A"/>
          </a:solidFill>
          <a:ln w="16510">
            <a:solidFill>
              <a:srgbClr val="19D3C5"/>
            </a:solidFill>
            <a:prstDash val="solid"/>
          </a:ln>
        </p:spPr>
      </p:sp>
      <p:sp>
        <p:nvSpPr>
          <p:cNvPr id="5" name="Text 3"/>
          <p:cNvSpPr/>
          <p:nvPr/>
        </p:nvSpPr>
        <p:spPr>
          <a:xfrm>
            <a:off x="914400" y="1737360"/>
            <a:ext cx="4069080" cy="320040"/>
          </a:xfrm>
          <a:prstGeom prst="rect">
            <a:avLst/>
          </a:prstGeom>
          <a:noFill/>
          <a:ln/>
        </p:spPr>
        <p:txBody>
          <a:bodyPr wrap="square" lIns="0" tIns="0" rIns="0" bIns="0" rtlCol="0" anchor="ctr"/>
          <a:lstStyle/>
          <a:p>
            <a:pPr marL="0" indent="0">
              <a:buNone/>
            </a:pPr>
            <a:r>
              <a:rPr lang="en-US" sz="2100" b="1" dirty="0">
                <a:solidFill>
                  <a:srgbClr val="19D3C5"/>
                </a:solidFill>
              </a:rPr>
              <a:t>Ce que démontre le projet</a:t>
            </a:r>
            <a:endParaRPr lang="en-US" sz="2100" dirty="0"/>
          </a:p>
        </p:txBody>
      </p:sp>
      <p:sp>
        <p:nvSpPr>
          <p:cNvPr id="6" name="Text 4"/>
          <p:cNvSpPr/>
          <p:nvPr/>
        </p:nvSpPr>
        <p:spPr>
          <a:xfrm>
            <a:off x="960120" y="2414016"/>
            <a:ext cx="201168" cy="201168"/>
          </a:xfrm>
          <a:prstGeom prst="rect">
            <a:avLst/>
          </a:prstGeom>
          <a:noFill/>
          <a:ln/>
        </p:spPr>
        <p:txBody>
          <a:bodyPr wrap="square" lIns="0" tIns="0" rIns="0" bIns="0" rtlCol="0" anchor="ctr"/>
          <a:lstStyle/>
          <a:p>
            <a:pPr marL="0" indent="0" algn="ctr">
              <a:buNone/>
            </a:pPr>
            <a:r>
              <a:rPr lang="en-US" sz="1200" b="1" dirty="0">
                <a:solidFill>
                  <a:srgbClr val="3DDC97"/>
                </a:solidFill>
              </a:rPr>
              <a:t>●</a:t>
            </a:r>
            <a:endParaRPr lang="en-US" sz="1200" dirty="0"/>
          </a:p>
        </p:txBody>
      </p:sp>
      <p:sp>
        <p:nvSpPr>
          <p:cNvPr id="7" name="Text 5"/>
          <p:cNvSpPr/>
          <p:nvPr/>
        </p:nvSpPr>
        <p:spPr>
          <a:xfrm>
            <a:off x="1325880" y="2423160"/>
            <a:ext cx="3566160" cy="237744"/>
          </a:xfrm>
          <a:prstGeom prst="rect">
            <a:avLst/>
          </a:prstGeom>
          <a:noFill/>
          <a:ln/>
        </p:spPr>
        <p:txBody>
          <a:bodyPr wrap="square" lIns="0" tIns="0" rIns="0" bIns="0" rtlCol="0" anchor="ctr"/>
          <a:lstStyle/>
          <a:p>
            <a:pPr marL="0" indent="0">
              <a:buNone/>
            </a:pPr>
            <a:r>
              <a:rPr lang="en-US" sz="1200" dirty="0">
                <a:solidFill>
                  <a:srgbClr val="F4F8FC"/>
                </a:solidFill>
              </a:rPr>
              <a:t>Chaîne IoT complète et temps réel</a:t>
            </a:r>
            <a:endParaRPr lang="en-US" sz="1200" dirty="0"/>
          </a:p>
        </p:txBody>
      </p:sp>
      <p:sp>
        <p:nvSpPr>
          <p:cNvPr id="8" name="Text 6"/>
          <p:cNvSpPr/>
          <p:nvPr/>
        </p:nvSpPr>
        <p:spPr>
          <a:xfrm>
            <a:off x="960120" y="2971800"/>
            <a:ext cx="201168" cy="201168"/>
          </a:xfrm>
          <a:prstGeom prst="rect">
            <a:avLst/>
          </a:prstGeom>
          <a:noFill/>
          <a:ln/>
        </p:spPr>
        <p:txBody>
          <a:bodyPr wrap="square" lIns="0" tIns="0" rIns="0" bIns="0" rtlCol="0" anchor="ctr"/>
          <a:lstStyle/>
          <a:p>
            <a:pPr marL="0" indent="0" algn="ctr">
              <a:buNone/>
            </a:pPr>
            <a:r>
              <a:rPr lang="en-US" sz="1200" b="1" dirty="0">
                <a:solidFill>
                  <a:srgbClr val="3DDC97"/>
                </a:solidFill>
              </a:rPr>
              <a:t>●</a:t>
            </a:r>
            <a:endParaRPr lang="en-US" sz="1200" dirty="0"/>
          </a:p>
        </p:txBody>
      </p:sp>
      <p:sp>
        <p:nvSpPr>
          <p:cNvPr id="9" name="Text 7"/>
          <p:cNvSpPr/>
          <p:nvPr/>
        </p:nvSpPr>
        <p:spPr>
          <a:xfrm>
            <a:off x="1325880" y="2980944"/>
            <a:ext cx="3566160" cy="237744"/>
          </a:xfrm>
          <a:prstGeom prst="rect">
            <a:avLst/>
          </a:prstGeom>
          <a:noFill/>
          <a:ln/>
        </p:spPr>
        <p:txBody>
          <a:bodyPr wrap="square" lIns="0" tIns="0" rIns="0" bIns="0" rtlCol="0" anchor="ctr"/>
          <a:lstStyle/>
          <a:p>
            <a:pPr marL="0" indent="0">
              <a:buNone/>
            </a:pPr>
            <a:r>
              <a:rPr lang="en-US" sz="1200" dirty="0">
                <a:solidFill>
                  <a:srgbClr val="F4F8FC"/>
                </a:solidFill>
              </a:rPr>
              <a:t>Détection d’anomalies explicable</a:t>
            </a:r>
            <a:endParaRPr lang="en-US" sz="1200" dirty="0"/>
          </a:p>
        </p:txBody>
      </p:sp>
      <p:sp>
        <p:nvSpPr>
          <p:cNvPr id="10" name="Text 8"/>
          <p:cNvSpPr/>
          <p:nvPr/>
        </p:nvSpPr>
        <p:spPr>
          <a:xfrm>
            <a:off x="960120" y="3529584"/>
            <a:ext cx="201168" cy="201168"/>
          </a:xfrm>
          <a:prstGeom prst="rect">
            <a:avLst/>
          </a:prstGeom>
          <a:noFill/>
          <a:ln/>
        </p:spPr>
        <p:txBody>
          <a:bodyPr wrap="square" lIns="0" tIns="0" rIns="0" bIns="0" rtlCol="0" anchor="ctr"/>
          <a:lstStyle/>
          <a:p>
            <a:pPr marL="0" indent="0" algn="ctr">
              <a:buNone/>
            </a:pPr>
            <a:r>
              <a:rPr lang="en-US" sz="1200" b="1" dirty="0">
                <a:solidFill>
                  <a:srgbClr val="3DDC97"/>
                </a:solidFill>
              </a:rPr>
              <a:t>●</a:t>
            </a:r>
            <a:endParaRPr lang="en-US" sz="1200" dirty="0"/>
          </a:p>
        </p:txBody>
      </p:sp>
      <p:sp>
        <p:nvSpPr>
          <p:cNvPr id="11" name="Text 9"/>
          <p:cNvSpPr/>
          <p:nvPr/>
        </p:nvSpPr>
        <p:spPr>
          <a:xfrm>
            <a:off x="1325880" y="3538728"/>
            <a:ext cx="3566160" cy="237744"/>
          </a:xfrm>
          <a:prstGeom prst="rect">
            <a:avLst/>
          </a:prstGeom>
          <a:noFill/>
          <a:ln/>
        </p:spPr>
        <p:txBody>
          <a:bodyPr wrap="square" lIns="0" tIns="0" rIns="0" bIns="0" rtlCol="0" anchor="ctr"/>
          <a:lstStyle/>
          <a:p>
            <a:pPr marL="0" indent="0">
              <a:buNone/>
            </a:pPr>
            <a:r>
              <a:rPr lang="en-US" sz="1200" dirty="0">
                <a:solidFill>
                  <a:srgbClr val="F4F8FC"/>
                </a:solidFill>
              </a:rPr>
              <a:t>Alerting local + distant</a:t>
            </a:r>
            <a:endParaRPr lang="en-US" sz="1200" dirty="0"/>
          </a:p>
        </p:txBody>
      </p:sp>
      <p:sp>
        <p:nvSpPr>
          <p:cNvPr id="12" name="Text 10"/>
          <p:cNvSpPr/>
          <p:nvPr/>
        </p:nvSpPr>
        <p:spPr>
          <a:xfrm>
            <a:off x="960120" y="4087368"/>
            <a:ext cx="201168" cy="201168"/>
          </a:xfrm>
          <a:prstGeom prst="rect">
            <a:avLst/>
          </a:prstGeom>
          <a:noFill/>
          <a:ln/>
        </p:spPr>
        <p:txBody>
          <a:bodyPr wrap="square" lIns="0" tIns="0" rIns="0" bIns="0" rtlCol="0" anchor="ctr"/>
          <a:lstStyle/>
          <a:p>
            <a:pPr marL="0" indent="0" algn="ctr">
              <a:buNone/>
            </a:pPr>
            <a:r>
              <a:rPr lang="en-US" sz="1200" b="1" dirty="0">
                <a:solidFill>
                  <a:srgbClr val="3DDC97"/>
                </a:solidFill>
              </a:rPr>
              <a:t>●</a:t>
            </a:r>
            <a:endParaRPr lang="en-US" sz="1200" dirty="0"/>
          </a:p>
        </p:txBody>
      </p:sp>
      <p:sp>
        <p:nvSpPr>
          <p:cNvPr id="13" name="Text 11"/>
          <p:cNvSpPr/>
          <p:nvPr/>
        </p:nvSpPr>
        <p:spPr>
          <a:xfrm>
            <a:off x="1325880" y="4096512"/>
            <a:ext cx="3566160" cy="237744"/>
          </a:xfrm>
          <a:prstGeom prst="rect">
            <a:avLst/>
          </a:prstGeom>
          <a:noFill/>
          <a:ln/>
        </p:spPr>
        <p:txBody>
          <a:bodyPr wrap="square" lIns="0" tIns="0" rIns="0" bIns="0" rtlCol="0" anchor="ctr"/>
          <a:lstStyle/>
          <a:p>
            <a:pPr marL="0" indent="0">
              <a:buNone/>
            </a:pPr>
            <a:r>
              <a:rPr lang="en-US" sz="1200" dirty="0">
                <a:solidFill>
                  <a:srgbClr val="F4F8FC"/>
                </a:solidFill>
              </a:rPr>
              <a:t>Données consultables par API et dashboard</a:t>
            </a:r>
            <a:endParaRPr lang="en-US" sz="1200" dirty="0"/>
          </a:p>
        </p:txBody>
      </p:sp>
      <p:sp>
        <p:nvSpPr>
          <p:cNvPr id="14" name="Text 12"/>
          <p:cNvSpPr/>
          <p:nvPr/>
        </p:nvSpPr>
        <p:spPr>
          <a:xfrm>
            <a:off x="960120" y="4645152"/>
            <a:ext cx="201168" cy="201168"/>
          </a:xfrm>
          <a:prstGeom prst="rect">
            <a:avLst/>
          </a:prstGeom>
          <a:noFill/>
          <a:ln/>
        </p:spPr>
        <p:txBody>
          <a:bodyPr wrap="square" lIns="0" tIns="0" rIns="0" bIns="0" rtlCol="0" anchor="ctr"/>
          <a:lstStyle/>
          <a:p>
            <a:pPr marL="0" indent="0" algn="ctr">
              <a:buNone/>
            </a:pPr>
            <a:r>
              <a:rPr lang="en-US" sz="1200" b="1" dirty="0">
                <a:solidFill>
                  <a:srgbClr val="3DDC97"/>
                </a:solidFill>
              </a:rPr>
              <a:t>●</a:t>
            </a:r>
            <a:endParaRPr lang="en-US" sz="1200" dirty="0"/>
          </a:p>
        </p:txBody>
      </p:sp>
      <p:sp>
        <p:nvSpPr>
          <p:cNvPr id="15" name="Text 13"/>
          <p:cNvSpPr/>
          <p:nvPr/>
        </p:nvSpPr>
        <p:spPr>
          <a:xfrm>
            <a:off x="1325880" y="4654296"/>
            <a:ext cx="3566160" cy="237744"/>
          </a:xfrm>
          <a:prstGeom prst="rect">
            <a:avLst/>
          </a:prstGeom>
          <a:noFill/>
          <a:ln/>
        </p:spPr>
        <p:txBody>
          <a:bodyPr wrap="square" lIns="0" tIns="0" rIns="0" bIns="0" rtlCol="0" anchor="ctr"/>
          <a:lstStyle/>
          <a:p>
            <a:pPr marL="0" indent="0">
              <a:buNone/>
            </a:pPr>
            <a:r>
              <a:rPr lang="en-US" sz="1200" dirty="0">
                <a:solidFill>
                  <a:srgbClr val="F4F8FC"/>
                </a:solidFill>
              </a:rPr>
              <a:t>Déploiement reproductible par conteneurs</a:t>
            </a:r>
            <a:endParaRPr lang="en-US" sz="1200" dirty="0"/>
          </a:p>
        </p:txBody>
      </p:sp>
      <p:sp>
        <p:nvSpPr>
          <p:cNvPr id="16" name="Shape 14"/>
          <p:cNvSpPr/>
          <p:nvPr/>
        </p:nvSpPr>
        <p:spPr>
          <a:xfrm>
            <a:off x="5623560" y="1371600"/>
            <a:ext cx="5971032" cy="4526280"/>
          </a:xfrm>
          <a:prstGeom prst="roundRect">
            <a:avLst>
              <a:gd name="adj" fmla="val 1616"/>
            </a:avLst>
          </a:prstGeom>
          <a:solidFill>
            <a:srgbClr val="0D1B2A"/>
          </a:solidFill>
          <a:ln w="16510">
            <a:solidFill>
              <a:srgbClr val="FFB547"/>
            </a:solidFill>
            <a:prstDash val="solid"/>
          </a:ln>
        </p:spPr>
      </p:sp>
      <p:sp>
        <p:nvSpPr>
          <p:cNvPr id="17" name="Text 15"/>
          <p:cNvSpPr/>
          <p:nvPr/>
        </p:nvSpPr>
        <p:spPr>
          <a:xfrm>
            <a:off x="5961888" y="1737360"/>
            <a:ext cx="4206240" cy="320040"/>
          </a:xfrm>
          <a:prstGeom prst="rect">
            <a:avLst/>
          </a:prstGeom>
          <a:noFill/>
          <a:ln/>
        </p:spPr>
        <p:txBody>
          <a:bodyPr wrap="square" lIns="0" tIns="0" rIns="0" bIns="0" rtlCol="0" anchor="ctr"/>
          <a:lstStyle/>
          <a:p>
            <a:pPr marL="0" indent="0">
              <a:buNone/>
            </a:pPr>
            <a:r>
              <a:rPr lang="en-US" sz="2100" b="1" dirty="0">
                <a:solidFill>
                  <a:srgbClr val="FFB547"/>
                </a:solidFill>
              </a:rPr>
              <a:t>Prochaines évolutions</a:t>
            </a:r>
            <a:endParaRPr lang="en-US" sz="2100" dirty="0"/>
          </a:p>
        </p:txBody>
      </p:sp>
      <p:sp>
        <p:nvSpPr>
          <p:cNvPr id="18" name="Text 16"/>
          <p:cNvSpPr/>
          <p:nvPr/>
        </p:nvSpPr>
        <p:spPr>
          <a:xfrm>
            <a:off x="5989320" y="2377440"/>
            <a:ext cx="411480" cy="228600"/>
          </a:xfrm>
          <a:prstGeom prst="rect">
            <a:avLst/>
          </a:prstGeom>
          <a:noFill/>
          <a:ln/>
        </p:spPr>
        <p:txBody>
          <a:bodyPr wrap="square" lIns="0" tIns="0" rIns="0" bIns="0" rtlCol="0" anchor="ctr"/>
          <a:lstStyle/>
          <a:p>
            <a:pPr marL="0" indent="0">
              <a:buNone/>
            </a:pPr>
            <a:r>
              <a:rPr lang="en-US" sz="1200" b="1" dirty="0">
                <a:solidFill>
                  <a:srgbClr val="FFB547"/>
                </a:solidFill>
              </a:rPr>
              <a:t>01</a:t>
            </a:r>
            <a:endParaRPr lang="en-US" sz="1200" dirty="0"/>
          </a:p>
        </p:txBody>
      </p:sp>
      <p:sp>
        <p:nvSpPr>
          <p:cNvPr id="19" name="Text 17"/>
          <p:cNvSpPr/>
          <p:nvPr/>
        </p:nvSpPr>
        <p:spPr>
          <a:xfrm>
            <a:off x="6583680" y="2377440"/>
            <a:ext cx="1234440" cy="228600"/>
          </a:xfrm>
          <a:prstGeom prst="rect">
            <a:avLst/>
          </a:prstGeom>
          <a:noFill/>
          <a:ln/>
        </p:spPr>
        <p:txBody>
          <a:bodyPr wrap="square" lIns="0" tIns="0" rIns="0" bIns="0" rtlCol="0" anchor="ctr"/>
          <a:lstStyle/>
          <a:p>
            <a:pPr marL="0" indent="0">
              <a:buNone/>
            </a:pPr>
            <a:r>
              <a:rPr lang="en-US" sz="1300" b="1" dirty="0">
                <a:solidFill>
                  <a:srgbClr val="F4F8FC"/>
                </a:solidFill>
              </a:rPr>
              <a:t>Sécuriser</a:t>
            </a:r>
            <a:endParaRPr lang="en-US" sz="1300" dirty="0"/>
          </a:p>
        </p:txBody>
      </p:sp>
      <p:sp>
        <p:nvSpPr>
          <p:cNvPr id="20" name="Text 18"/>
          <p:cNvSpPr/>
          <p:nvPr/>
        </p:nvSpPr>
        <p:spPr>
          <a:xfrm>
            <a:off x="7909560" y="2377440"/>
            <a:ext cx="3246120" cy="228600"/>
          </a:xfrm>
          <a:prstGeom prst="rect">
            <a:avLst/>
          </a:prstGeom>
          <a:noFill/>
          <a:ln/>
        </p:spPr>
        <p:txBody>
          <a:bodyPr wrap="square" lIns="0" tIns="0" rIns="0" bIns="0" rtlCol="0" anchor="ctr"/>
          <a:lstStyle/>
          <a:p>
            <a:pPr marL="0" indent="0">
              <a:buNone/>
            </a:pPr>
            <a:r>
              <a:rPr lang="en-US" sz="1100" dirty="0">
                <a:solidFill>
                  <a:srgbClr val="9DB0C4"/>
                </a:solidFill>
              </a:rPr>
              <a:t>TLS, authentification MQTT, secrets</a:t>
            </a:r>
            <a:endParaRPr lang="en-US" sz="1100" dirty="0"/>
          </a:p>
        </p:txBody>
      </p:sp>
      <p:sp>
        <p:nvSpPr>
          <p:cNvPr id="21" name="Text 19"/>
          <p:cNvSpPr/>
          <p:nvPr/>
        </p:nvSpPr>
        <p:spPr>
          <a:xfrm>
            <a:off x="5989320" y="3063240"/>
            <a:ext cx="411480" cy="228600"/>
          </a:xfrm>
          <a:prstGeom prst="rect">
            <a:avLst/>
          </a:prstGeom>
          <a:noFill/>
          <a:ln/>
        </p:spPr>
        <p:txBody>
          <a:bodyPr wrap="square" lIns="0" tIns="0" rIns="0" bIns="0" rtlCol="0" anchor="ctr"/>
          <a:lstStyle/>
          <a:p>
            <a:pPr marL="0" indent="0">
              <a:buNone/>
            </a:pPr>
            <a:r>
              <a:rPr lang="en-US" sz="1200" b="1" dirty="0">
                <a:solidFill>
                  <a:srgbClr val="FFB547"/>
                </a:solidFill>
              </a:rPr>
              <a:t>02</a:t>
            </a:r>
            <a:endParaRPr lang="en-US" sz="1200" dirty="0"/>
          </a:p>
        </p:txBody>
      </p:sp>
      <p:sp>
        <p:nvSpPr>
          <p:cNvPr id="22" name="Text 20"/>
          <p:cNvSpPr/>
          <p:nvPr/>
        </p:nvSpPr>
        <p:spPr>
          <a:xfrm>
            <a:off x="6583680" y="3063240"/>
            <a:ext cx="1234440" cy="228600"/>
          </a:xfrm>
          <a:prstGeom prst="rect">
            <a:avLst/>
          </a:prstGeom>
          <a:noFill/>
          <a:ln/>
        </p:spPr>
        <p:txBody>
          <a:bodyPr wrap="square" lIns="0" tIns="0" rIns="0" bIns="0" rtlCol="0" anchor="ctr"/>
          <a:lstStyle/>
          <a:p>
            <a:pPr marL="0" indent="0">
              <a:buNone/>
            </a:pPr>
            <a:r>
              <a:rPr lang="en-US" sz="1300" b="1" dirty="0">
                <a:solidFill>
                  <a:srgbClr val="F4F8FC"/>
                </a:solidFill>
              </a:rPr>
              <a:t>Industrialiser</a:t>
            </a:r>
            <a:endParaRPr lang="en-US" sz="1300" dirty="0"/>
          </a:p>
        </p:txBody>
      </p:sp>
      <p:sp>
        <p:nvSpPr>
          <p:cNvPr id="23" name="Text 21"/>
          <p:cNvSpPr/>
          <p:nvPr/>
        </p:nvSpPr>
        <p:spPr>
          <a:xfrm>
            <a:off x="7909560" y="3063240"/>
            <a:ext cx="3246120" cy="228600"/>
          </a:xfrm>
          <a:prstGeom prst="rect">
            <a:avLst/>
          </a:prstGeom>
          <a:noFill/>
          <a:ln/>
        </p:spPr>
        <p:txBody>
          <a:bodyPr wrap="square" lIns="0" tIns="0" rIns="0" bIns="0" rtlCol="0" anchor="ctr"/>
          <a:lstStyle/>
          <a:p>
            <a:pPr marL="0" indent="0">
              <a:buNone/>
            </a:pPr>
            <a:r>
              <a:rPr lang="en-US" sz="1100" dirty="0">
                <a:solidFill>
                  <a:srgbClr val="9DB0C4"/>
                </a:solidFill>
              </a:rPr>
              <a:t>Broker privé, monitoring, retries, DLQ</a:t>
            </a:r>
            <a:endParaRPr lang="en-US" sz="1100" dirty="0"/>
          </a:p>
        </p:txBody>
      </p:sp>
      <p:sp>
        <p:nvSpPr>
          <p:cNvPr id="24" name="Text 22"/>
          <p:cNvSpPr/>
          <p:nvPr/>
        </p:nvSpPr>
        <p:spPr>
          <a:xfrm>
            <a:off x="5989320" y="3749040"/>
            <a:ext cx="411480" cy="228600"/>
          </a:xfrm>
          <a:prstGeom prst="rect">
            <a:avLst/>
          </a:prstGeom>
          <a:noFill/>
          <a:ln/>
        </p:spPr>
        <p:txBody>
          <a:bodyPr wrap="square" lIns="0" tIns="0" rIns="0" bIns="0" rtlCol="0" anchor="ctr"/>
          <a:lstStyle/>
          <a:p>
            <a:pPr marL="0" indent="0">
              <a:buNone/>
            </a:pPr>
            <a:r>
              <a:rPr lang="en-US" sz="1200" b="1" dirty="0">
                <a:solidFill>
                  <a:srgbClr val="FFB547"/>
                </a:solidFill>
              </a:rPr>
              <a:t>03</a:t>
            </a:r>
            <a:endParaRPr lang="en-US" sz="1200" dirty="0"/>
          </a:p>
        </p:txBody>
      </p:sp>
      <p:sp>
        <p:nvSpPr>
          <p:cNvPr id="25" name="Text 23"/>
          <p:cNvSpPr/>
          <p:nvPr/>
        </p:nvSpPr>
        <p:spPr>
          <a:xfrm>
            <a:off x="6583680" y="3749040"/>
            <a:ext cx="1234440" cy="228600"/>
          </a:xfrm>
          <a:prstGeom prst="rect">
            <a:avLst/>
          </a:prstGeom>
          <a:noFill/>
          <a:ln/>
        </p:spPr>
        <p:txBody>
          <a:bodyPr wrap="square" lIns="0" tIns="0" rIns="0" bIns="0" rtlCol="0" anchor="ctr"/>
          <a:lstStyle/>
          <a:p>
            <a:pPr marL="0" indent="0">
              <a:buNone/>
            </a:pPr>
            <a:r>
              <a:rPr lang="en-US" sz="1300" b="1" dirty="0">
                <a:solidFill>
                  <a:srgbClr val="F4F8FC"/>
                </a:solidFill>
              </a:rPr>
              <a:t>Apprendre</a:t>
            </a:r>
            <a:endParaRPr lang="en-US" sz="1300" dirty="0"/>
          </a:p>
        </p:txBody>
      </p:sp>
      <p:sp>
        <p:nvSpPr>
          <p:cNvPr id="26" name="Text 24"/>
          <p:cNvSpPr/>
          <p:nvPr/>
        </p:nvSpPr>
        <p:spPr>
          <a:xfrm>
            <a:off x="7909560" y="3749040"/>
            <a:ext cx="3246120" cy="228600"/>
          </a:xfrm>
          <a:prstGeom prst="rect">
            <a:avLst/>
          </a:prstGeom>
          <a:noFill/>
          <a:ln/>
        </p:spPr>
        <p:txBody>
          <a:bodyPr wrap="square" lIns="0" tIns="0" rIns="0" bIns="0" rtlCol="0" anchor="ctr"/>
          <a:lstStyle/>
          <a:p>
            <a:pPr marL="0" indent="0">
              <a:buNone/>
            </a:pPr>
            <a:r>
              <a:rPr lang="en-US" sz="1100" dirty="0">
                <a:solidFill>
                  <a:srgbClr val="9DB0C4"/>
                </a:solidFill>
              </a:rPr>
              <a:t>Détection statistique ou machine learning</a:t>
            </a:r>
            <a:endParaRPr lang="en-US" sz="1100" dirty="0"/>
          </a:p>
        </p:txBody>
      </p:sp>
      <p:sp>
        <p:nvSpPr>
          <p:cNvPr id="27" name="Text 25"/>
          <p:cNvSpPr/>
          <p:nvPr/>
        </p:nvSpPr>
        <p:spPr>
          <a:xfrm>
            <a:off x="5989320" y="4434840"/>
            <a:ext cx="411480" cy="228600"/>
          </a:xfrm>
          <a:prstGeom prst="rect">
            <a:avLst/>
          </a:prstGeom>
          <a:noFill/>
          <a:ln/>
        </p:spPr>
        <p:txBody>
          <a:bodyPr wrap="square" lIns="0" tIns="0" rIns="0" bIns="0" rtlCol="0" anchor="ctr"/>
          <a:lstStyle/>
          <a:p>
            <a:pPr marL="0" indent="0">
              <a:buNone/>
            </a:pPr>
            <a:r>
              <a:rPr lang="en-US" sz="1200" b="1" dirty="0">
                <a:solidFill>
                  <a:srgbClr val="FFB547"/>
                </a:solidFill>
              </a:rPr>
              <a:t>04</a:t>
            </a:r>
            <a:endParaRPr lang="en-US" sz="1200" dirty="0"/>
          </a:p>
        </p:txBody>
      </p:sp>
      <p:sp>
        <p:nvSpPr>
          <p:cNvPr id="28" name="Text 26"/>
          <p:cNvSpPr/>
          <p:nvPr/>
        </p:nvSpPr>
        <p:spPr>
          <a:xfrm>
            <a:off x="6583680" y="4434840"/>
            <a:ext cx="1234440" cy="228600"/>
          </a:xfrm>
          <a:prstGeom prst="rect">
            <a:avLst/>
          </a:prstGeom>
          <a:noFill/>
          <a:ln/>
        </p:spPr>
        <p:txBody>
          <a:bodyPr wrap="square" lIns="0" tIns="0" rIns="0" bIns="0" rtlCol="0" anchor="ctr"/>
          <a:lstStyle/>
          <a:p>
            <a:pPr marL="0" indent="0">
              <a:buNone/>
            </a:pPr>
            <a:r>
              <a:rPr lang="en-US" sz="1300" b="1" dirty="0">
                <a:solidFill>
                  <a:srgbClr val="F4F8FC"/>
                </a:solidFill>
              </a:rPr>
              <a:t>Étendre</a:t>
            </a:r>
            <a:endParaRPr lang="en-US" sz="1300" dirty="0"/>
          </a:p>
        </p:txBody>
      </p:sp>
      <p:sp>
        <p:nvSpPr>
          <p:cNvPr id="29" name="Text 27"/>
          <p:cNvSpPr/>
          <p:nvPr/>
        </p:nvSpPr>
        <p:spPr>
          <a:xfrm>
            <a:off x="7909560" y="4434840"/>
            <a:ext cx="3246120" cy="228600"/>
          </a:xfrm>
          <a:prstGeom prst="rect">
            <a:avLst/>
          </a:prstGeom>
          <a:noFill/>
          <a:ln/>
        </p:spPr>
        <p:txBody>
          <a:bodyPr wrap="square" lIns="0" tIns="0" rIns="0" bIns="0" rtlCol="0" anchor="ctr"/>
          <a:lstStyle/>
          <a:p>
            <a:pPr marL="0" indent="0">
              <a:buNone/>
            </a:pPr>
            <a:r>
              <a:rPr lang="en-US" sz="1100" dirty="0">
                <a:solidFill>
                  <a:srgbClr val="9DB0C4"/>
                </a:solidFill>
              </a:rPr>
              <a:t>Nouveaux capteurs et multi-devices</a:t>
            </a:r>
            <a:endParaRPr lang="en-US" sz="1100" dirty="0"/>
          </a:p>
        </p:txBody>
      </p:sp>
      <p:sp>
        <p:nvSpPr>
          <p:cNvPr id="30" name="Text 28"/>
          <p:cNvSpPr/>
          <p:nvPr/>
        </p:nvSpPr>
        <p:spPr>
          <a:xfrm>
            <a:off x="1280160" y="6153912"/>
            <a:ext cx="9601200" cy="292608"/>
          </a:xfrm>
          <a:prstGeom prst="rect">
            <a:avLst/>
          </a:prstGeom>
          <a:noFill/>
          <a:ln/>
        </p:spPr>
        <p:txBody>
          <a:bodyPr wrap="square" lIns="0" tIns="0" rIns="0" bIns="0" rtlCol="0" anchor="ctr"/>
          <a:lstStyle/>
          <a:p>
            <a:pPr marL="0" indent="0" algn="ctr">
              <a:buNone/>
            </a:pPr>
            <a:r>
              <a:rPr lang="en-US" sz="1500" b="1" dirty="0">
                <a:solidFill>
                  <a:srgbClr val="21C7E8"/>
                </a:solidFill>
              </a:rPr>
              <a:t>Un socle clair pour évoluer vers des usages smart building, sécurité et maintenance.</a:t>
            </a:r>
            <a:endParaRPr lang="en-US" sz="1500" dirty="0"/>
          </a:p>
        </p:txBody>
      </p:sp>
      <p:sp>
        <p:nvSpPr>
          <p:cNvPr id="31" name="Slide Number Placeholder 0"/>
          <p:cNvSpPr>
            <a:spLocks noGrp="1"/>
          </p:cNvSpPr>
          <p:nvPr>
            <p:ph type="sldNum" sz="quarter" idx="4294967295"/>
          </p:nvPr>
        </p:nvSpPr>
        <p:spPr>
          <a:xfrm>
            <a:off x="11750040" y="649224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F8299"/>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9934039-ae21-42ab-8848-d62b6328cef8}" enabled="1" method="Privileged" siteId="{61ed2b68-f880-49d7-bbc9-9a645e9dcf7c}"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Projet académique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Monitoring Platform</dc:title>
  <dc:subject>Plateforme de surveillance environnementale IoT</dc:subject>
  <dc:creator>BTECH - EL HAMZI, MOHAMED</dc:creator>
  <cp:lastModifiedBy>BTECH - EL HAMZI, MOHAMED</cp:lastModifiedBy>
  <cp:revision>3</cp:revision>
  <dcterms:created xsi:type="dcterms:W3CDTF">2026-09-08T13:55:58Z</dcterms:created>
  <dcterms:modified xsi:type="dcterms:W3CDTF">2026-09-08T13:58:26Z</dcterms:modified>
</cp:coreProperties>
</file>