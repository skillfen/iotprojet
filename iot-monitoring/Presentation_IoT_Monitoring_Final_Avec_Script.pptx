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Bonjour à toutes et à tous. Je vais vous présenter notre plateforme de monitoring IoT dédiée à la surveillance environnementale intelligente. L'objectif du projet est de couvrir toute la chaîne, depuis les mesures simulées par un ESP32 jusqu'à la détection d'anomalies, au stockage dans Elasticsearch et à la visualisation dans Kibana. La solution utilise également MQTT pour le transport des messages, Python pour le traitement et Docker Compose pour rendre le déploiement reproductible. Je vais d'abord présenter le besoin, puis l'architecture, la réalisation et les résultats obtenus.</a:t>
            </a:r>
          </a:p>
          <a:p>
            <a:r>
              <a:rPr lang="fr-FR"/>
              <a:t>Repère oral : diapositive 1/12, environ 40 à 55 secondes.</a:t>
            </a:r>
          </a:p>
          <a:p>
            <a:r>
              <a:rPr lang="fr-FR"/>
              <a:t>[Sources]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Le projet répond à trois besoins. Le premier est d'observer l'environnement en mesurant la température, l'humidité, le gaz, la lumière et le mouvement toutes les cinq secondes, avec un historique horodaté. Le deuxième est de détecter automatiquement les situations anormales à l'aide de seuils simples et explicables : plus de 35 degrés, plus de 80 pour cent d'humidité ou plus de 1000 ppm de gaz. Le troisième est d'agir, grâce à une LED et un buzzer en local, puis à un webhook, une API et Kibana pour rendre l'incident visible à distance.</a:t>
            </a:r>
          </a:p>
          <a:p>
            <a:r>
              <a:rPr lang="fr-FR"/>
              <a:t>Repère oral : diapositive 2/12,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L'architecture est organisée en cinq couches. La première contient les capteurs connectés à l'ESP32. La deuxième assure le transport par MQTT avec un broker HiveMQ public et le topic iot/sensors. La troisième est le consumer Python, qui valide les messages, applique les seuils et gère un délai entre les alertes. La quatrième couche stocke les événements dans Elasticsearch et transmet les notifications par webhook. Enfin, FastAPI et Kibana constituent la couche d'exploitation. Le flux principal transporte les données JSON en temps réel, tandis que le flux secondaire concerne les alertes et la consultation.</a:t>
            </a:r>
          </a:p>
          <a:p>
            <a:r>
              <a:rPr lang="fr-FR"/>
              <a:t>Repère oral : diapositive 3/12,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Cette diapositive présente le nœud capteur simulé dans Wokwi. L'ESP32 centralise quatre types de mesures. Le DHT22 fournit la température et l'humidité. Le PIR détecte le mouvement. La LDR représente la luminosité et le MQ2 simule le niveau de gaz. La LED et le buzzer déclenchent une alerte locale lorsqu'un seuil est dépassé. Cette simulation permet de tester le montage, le code et différents scénarios sans matériel physique. Chaque cycle de lecture produit ensuite un message transmis au reste de la plateforme.</a:t>
            </a:r>
          </a:p>
          <a:p>
            <a:r>
              <a:rPr lang="fr-FR"/>
              <a:t>Repère oral : diapositive 4/12,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Le transport utilise MQTT, qui est un protocole léger adapté aux objets connectés. L'ESP32 publie toutes les cinq secondes vers broker.hivemq.com sur le port 1883 et le topic iot/sensors. Le consumer reste abonné à ce topic. Le message JSON contient l'identifiant du device et toutes les valeurs mesurées. Cette architecture découple le firmware du stockage et du dashboard. Le projet gère aussi la validation du JSON, la reconnexion au broker et la journalisation, ce qui évite qu'une erreur ponctuelle arrête tout le pipeline.</a:t>
            </a:r>
          </a:p>
          <a:p>
            <a:r>
              <a:rPr lang="fr-FR"/>
              <a:t>Repère oral : diapositive 5/12,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Le consumer Python applique les règles de détection. Une température supérieure à 35 degrés, une humidité supérieure à 80 pour cent ou un gaz supérieur à 1000 ppm produit une anomalie. Les seuils sont configurables par variables d'environnement, donc ils peuvent être modifiés sans changer le code. La capture montre une preuve réelle : gas_ppm vaut 8859, l'anomalie est vraie et Elasticsearch répond avec le statut 201, ce qui confirme la création du document. Un cooldown limite les notifications répétitives pour éviter de saturer le canal d'alerte.</a:t>
            </a:r>
          </a:p>
          <a:p>
            <a:r>
              <a:rPr lang="fr-FR"/>
              <a:t>Repère oral : diapositive 6/12,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Chaque mesure est ensuite indexée dans Elasticsearch. Le document contient l'horodatage, l'identifiant du device, les différentes valeurs de capteurs, le statut d'anomalie et les types d'anomalies détectés. Un mapping explicite garantit que les nombres, dates et booléens sont correctement filtrés et agrégés. FastAPI fournit une API REST en lecture seule. Les captures montrent l'interface Swagger et une réponse HTTP 200 de l'endpoint des statistiques, avec un compteur de 50 anomalies. L'API facilite donc l'accès aux résultats sans interroger directement Elasticsearch.</a:t>
            </a:r>
          </a:p>
          <a:p>
            <a:r>
              <a:rPr lang="fr-FR"/>
              <a:t>Repère oral : diapositive 7/12,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Kibana constitue la couche de supervision. Une première vue affiche les dernières valeurs et l'état du device. Une deuxième vue permet d'analyser l'historique sous forme de courbes et de filtrer une période ou un équipement. Une troisième vue est dédiée aux anomalies, avec des compteurs, une chronologie et une répartition par type. L'intérêt de Kibana est de transformer les documents techniques d'Elasticsearch en informations visuelles immédiatement compréhensibles pour l'utilisateur.</a:t>
            </a:r>
          </a:p>
          <a:p>
            <a:r>
              <a:rPr lang="fr-FR"/>
              <a:t>Repère oral : diapositive 8/12, environ 40 à 55 secondes.</a:t>
            </a:r>
          </a:p>
          <a:p>
            <a:r>
              <a:rPr lang="fr-FR"/>
              <a:t>[Sources]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Le déploiement local est automatisé avec Docker Compose. La capture montre trois services actifs. L'API est exposée sur le port 8000, Kibana sur le port 5601 et Elasticsearch sur le port 9200 avec un état healthy. La commande docker compose up -d suffit pour démarrer la stack en arrière-plan. Cette conteneurisation rend l'environnement reproductible et évite d'installer et de configurer séparément chaque composant. Elle facilite aussi l'arrêt, le redémarrage et le partage du projet.</a:t>
            </a:r>
          </a:p>
          <a:p>
            <a:r>
              <a:rPr lang="fr-FR"/>
              <a:t>Repère oral : diapositive 9/12,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Voici la stack technique complète. Wokwi simule le circuit. L'ESP32 et le C++ assurent l'acquisition et l'alerte locale. MQTT et HiveMQ transportent les données selon le modèle publication-abonnement. Python exécute le consumer et les règles métier. Elasticsearch assure le stockage et la recherche. FastAPI expose une API REST en lecture seule. Kibana fournit les dashboards et Docker Compose orchestre les services locaux. Chaque technologie possède donc une responsabilité claire, ce qui rend la solution modulaire et maintenable.</a:t>
            </a:r>
          </a:p>
          <a:p>
            <a:r>
              <a:rPr lang="fr-FR"/>
              <a:t>Repère oral : diapositive 10/12,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Cette diapositive rassemble les preuves de fonctionnement. À gauche, la simulation Wokwi montre l'ESP32, les capteurs et les actionneurs en fonctionnement. Au centre, le journal du consumer confirme la détection d'une anomalie de gaz et l'indexation du document avec un statut 201. À droite, FastAPI retourne une réponse HTTP 200 avec le nombre d'anomalies. Ces trois preuves valident successivement le terrain simulé, le traitement et l'exploitation. Elles démontrent que le flux fonctionne bien de bout en bout.</a:t>
            </a:r>
          </a:p>
          <a:p>
            <a:r>
              <a:rPr lang="fr-FR"/>
              <a:t>Repère oral : diapositive 11/12,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Pour conclure, les objectifs principaux ont été atteints. La plateforme couvre toute la chaîne IoT, utilise quatre capteurs simulés, applique une détection explicable, déclenche des alertes locales et distantes, indexe les événements dans Elasticsearch et expose les résultats par API et visualisation. Les évolutions prioritaires seraient de sécuriser MQTT avec TLS et authentification, d'utiliser un broker privé, de gérer plusieurs équipements, d'ajouter une détection par Machine Learning et de renforcer les tests automatisés. Ce projet constitue donc un socle reproductible pour évoluer vers un smart building sécurisé et prédictif. Merci pour votre attention.</a:t>
            </a:r>
          </a:p>
          <a:p>
            <a:r>
              <a:rPr lang="fr-FR"/>
              <a:t>Repère oral : diapositive 12/12,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9D3C5"/>
          </a:solidFill>
          <a:ln w="12700">
            <a:solidFill>
              <a:srgbClr val="19D3C5"/>
            </a:solidFill>
            <a:prstDash val="solid"/>
          </a:ln>
        </p:spPr>
      </p:sp>
      <p:sp>
        <p:nvSpPr>
          <p:cNvPr id="3" name="Text 1"/>
          <p:cNvSpPr/>
          <p:nvPr/>
        </p:nvSpPr>
        <p:spPr>
          <a:xfrm>
            <a:off x="502920" y="6510528"/>
            <a:ext cx="3657600" cy="146304"/>
          </a:xfrm>
          <a:prstGeom prst="rect">
            <a:avLst/>
          </a:prstGeom>
          <a:noFill/>
          <a:ln/>
        </p:spPr>
        <p:txBody>
          <a:bodyPr wrap="square" lIns="0" tIns="0" rIns="0" bIns="0" rtlCol="0" anchor="ctr"/>
          <a:lstStyle/>
          <a:p>
            <a:pPr marL="0" indent="0">
              <a:buNone/>
            </a:pPr>
            <a:r>
              <a:rPr lang="en-US" sz="800" dirty="0">
                <a:solidFill>
                  <a:srgbClr val="71859A"/>
                </a:solidFill>
              </a:rPr>
              <a:t>IOT MONITORING PLATFORM</a:t>
            </a:r>
            <a:endParaRPr lang="en-US" sz="800" dirty="0"/>
          </a:p>
        </p:txBody>
      </p:sp>
      <p:sp>
        <p:nvSpPr>
          <p:cNvPr id="25" name="Slide Number Placeholder 0"/>
          <p:cNvSpPr>
            <a:spLocks noGrp="1"/>
          </p:cNvSpPr>
          <p:nvPr>
            <p:ph type="sldNum" sz="quarter" idx="4294967295"/>
          </p:nvPr>
        </p:nvSpPr>
        <p:spPr>
          <a:xfrm>
            <a:off x="11612880" y="649224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1859A"/>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49224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1859A"/>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1" cy="1"/>
          <a:chOff x="0" y="0"/>
          <a:chExt cx="1" cy="1"/>
        </a:xfrm>
      </p:grpSpPr>
      <p:pic>
        <p:nvPicPr>
          <p:cNvPr id="2" name="Image 0" descr="/mnt/data/2f943cf230.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6101D">
              <a:alpha val="72000"/>
            </a:srgbClr>
          </a:solidFill>
          <a:ln w="12700">
            <a:solidFill>
              <a:srgbClr val="333333">
                <a:alpha val="0"/>
              </a:srgbClr>
            </a:solidFill>
            <a:prstDash val="solid"/>
          </a:ln>
        </p:spPr>
      </p:sp>
      <p:sp>
        <p:nvSpPr>
          <p:cNvPr id="4" name="Shape 1"/>
          <p:cNvSpPr/>
          <p:nvPr/>
        </p:nvSpPr>
        <p:spPr>
          <a:xfrm>
            <a:off x="0" y="0"/>
            <a:ext cx="6583680" cy="6858000"/>
          </a:xfrm>
          <a:prstGeom prst="rect">
            <a:avLst/>
          </a:prstGeom>
          <a:solidFill>
            <a:srgbClr val="06101D">
              <a:alpha val="96000"/>
            </a:srgbClr>
          </a:solidFill>
          <a:ln w="12700">
            <a:solidFill>
              <a:srgbClr val="333333">
                <a:alpha val="0"/>
              </a:srgbClr>
            </a:solidFill>
            <a:prstDash val="solid"/>
          </a:ln>
        </p:spPr>
      </p:sp>
      <p:sp>
        <p:nvSpPr>
          <p:cNvPr id="5" name="Text 2"/>
          <p:cNvSpPr/>
          <p:nvPr/>
        </p:nvSpPr>
        <p:spPr>
          <a:xfrm>
            <a:off x="640080" y="731520"/>
            <a:ext cx="4572000" cy="228600"/>
          </a:xfrm>
          <a:prstGeom prst="rect">
            <a:avLst/>
          </a:prstGeom>
          <a:noFill/>
          <a:ln/>
        </p:spPr>
        <p:txBody>
          <a:bodyPr wrap="square" lIns="0" tIns="0" rIns="0" bIns="0" rtlCol="0" anchor="ctr"/>
          <a:lstStyle/>
          <a:p>
            <a:pPr marL="0" indent="0">
              <a:buNone/>
            </a:pPr>
            <a:r>
              <a:rPr lang="en-US" sz="1100" b="1" kern="0" spc="200" dirty="0">
                <a:solidFill>
                  <a:srgbClr val="19D3C5"/>
                </a:solidFill>
              </a:rPr>
              <a:t>IOT MONITORING PLATFORM</a:t>
            </a:r>
            <a:endParaRPr lang="en-US" sz="1100" dirty="0"/>
          </a:p>
        </p:txBody>
      </p:sp>
      <p:sp>
        <p:nvSpPr>
          <p:cNvPr id="6" name="Text 3"/>
          <p:cNvSpPr/>
          <p:nvPr/>
        </p:nvSpPr>
        <p:spPr>
          <a:xfrm>
            <a:off x="640080" y="1234440"/>
            <a:ext cx="5486400" cy="1188720"/>
          </a:xfrm>
          <a:prstGeom prst="rect">
            <a:avLst/>
          </a:prstGeom>
          <a:noFill/>
          <a:ln/>
        </p:spPr>
        <p:txBody>
          <a:bodyPr wrap="square" lIns="0" tIns="0" rIns="0" bIns="0" rtlCol="0" anchor="ctr">
            <a:normAutofit/>
          </a:bodyPr>
          <a:lstStyle/>
          <a:p>
            <a:pPr marL="0" indent="0">
              <a:buNone/>
            </a:pPr>
            <a:r>
              <a:rPr lang="en-US" sz="3600" b="1" dirty="0">
                <a:solidFill>
                  <a:srgbClr val="F5F9FC"/>
                </a:solidFill>
              </a:rPr>
              <a:t>Surveillance environnementale intelligente</a:t>
            </a:r>
            <a:endParaRPr lang="en-US" sz="3600" dirty="0"/>
          </a:p>
        </p:txBody>
      </p:sp>
      <p:sp>
        <p:nvSpPr>
          <p:cNvPr id="7" name="Text 4"/>
          <p:cNvSpPr/>
          <p:nvPr/>
        </p:nvSpPr>
        <p:spPr>
          <a:xfrm>
            <a:off x="640080" y="2697480"/>
            <a:ext cx="5303520" cy="320040"/>
          </a:xfrm>
          <a:prstGeom prst="rect">
            <a:avLst/>
          </a:prstGeom>
          <a:noFill/>
          <a:ln/>
        </p:spPr>
        <p:txBody>
          <a:bodyPr wrap="square" lIns="0" tIns="0" rIns="0" bIns="0" rtlCol="0" anchor="ctr"/>
          <a:lstStyle/>
          <a:p>
            <a:pPr marL="0" indent="0">
              <a:buNone/>
            </a:pPr>
            <a:r>
              <a:rPr lang="en-US" sz="1800" b="1" dirty="0">
                <a:solidFill>
                  <a:srgbClr val="20C7E8"/>
                </a:solidFill>
              </a:rPr>
              <a:t>ESP32 • MQTT • Elasticsearch • Kibana</a:t>
            </a:r>
            <a:endParaRPr lang="en-US" sz="1800" dirty="0"/>
          </a:p>
        </p:txBody>
      </p:sp>
      <p:sp>
        <p:nvSpPr>
          <p:cNvPr id="8" name="Text 5"/>
          <p:cNvSpPr/>
          <p:nvPr/>
        </p:nvSpPr>
        <p:spPr>
          <a:xfrm>
            <a:off x="640080" y="3337560"/>
            <a:ext cx="5120640" cy="640080"/>
          </a:xfrm>
          <a:prstGeom prst="rect">
            <a:avLst/>
          </a:prstGeom>
          <a:noFill/>
          <a:ln/>
        </p:spPr>
        <p:txBody>
          <a:bodyPr wrap="square" lIns="0" tIns="0" rIns="0" bIns="0" rtlCol="0" anchor="ctr"/>
          <a:lstStyle/>
          <a:p>
            <a:pPr marL="0" indent="0">
              <a:buNone/>
            </a:pPr>
            <a:r>
              <a:rPr lang="en-US" sz="1800" dirty="0">
                <a:solidFill>
                  <a:srgbClr val="CED9E3"/>
                </a:solidFill>
              </a:rPr>
              <a:t>De la mesure simulée à l’alerte et à la décision en temps réel.</a:t>
            </a:r>
            <a:endParaRPr lang="en-US" sz="1800" dirty="0"/>
          </a:p>
        </p:txBody>
      </p:sp>
      <p:sp>
        <p:nvSpPr>
          <p:cNvPr id="9" name="Text 6"/>
          <p:cNvSpPr/>
          <p:nvPr/>
        </p:nvSpPr>
        <p:spPr>
          <a:xfrm>
            <a:off x="640080" y="5943600"/>
            <a:ext cx="3657600" cy="228600"/>
          </a:xfrm>
          <a:prstGeom prst="rect">
            <a:avLst/>
          </a:prstGeom>
          <a:noFill/>
          <a:ln/>
        </p:spPr>
        <p:txBody>
          <a:bodyPr wrap="square" lIns="0" tIns="0" rIns="0" bIns="0" rtlCol="0" anchor="ctr"/>
          <a:lstStyle/>
          <a:p>
            <a:pPr marL="0" indent="0">
              <a:buNone/>
            </a:pPr>
            <a:r>
              <a:rPr lang="en-US" sz="1100" dirty="0">
                <a:solidFill>
                  <a:srgbClr val="A5B7C8"/>
                </a:solidFill>
              </a:rPr>
              <a:t>Projet académique • Démo technique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48640" y="292608"/>
            <a:ext cx="3657600" cy="182880"/>
          </a:xfrm>
          <a:prstGeom prst="rect">
            <a:avLst/>
          </a:prstGeom>
          <a:noFill/>
          <a:ln/>
        </p:spPr>
        <p:txBody>
          <a:bodyPr wrap="square" lIns="0" tIns="0" rIns="0" bIns="0" rtlCol="0" anchor="ctr"/>
          <a:lstStyle/>
          <a:p>
            <a:pPr marL="0" indent="0">
              <a:buNone/>
            </a:pPr>
            <a:r>
              <a:rPr lang="en-US" sz="900" b="1" kern="0" spc="160" dirty="0">
                <a:solidFill>
                  <a:srgbClr val="19D3C5"/>
                </a:solidFill>
              </a:rPr>
              <a:t>01 • CADRAGE</a:t>
            </a:r>
            <a:endParaRPr lang="en-US" sz="900" dirty="0"/>
          </a:p>
        </p:txBody>
      </p:sp>
      <p:sp>
        <p:nvSpPr>
          <p:cNvPr id="3" name="Text 1"/>
          <p:cNvSpPr/>
          <p:nvPr/>
        </p:nvSpPr>
        <p:spPr>
          <a:xfrm>
            <a:off x="548640" y="621792"/>
            <a:ext cx="10972800" cy="438912"/>
          </a:xfrm>
          <a:prstGeom prst="rect">
            <a:avLst/>
          </a:prstGeom>
          <a:noFill/>
          <a:ln/>
        </p:spPr>
        <p:txBody>
          <a:bodyPr wrap="square" lIns="0" tIns="0" rIns="0" bIns="0" rtlCol="0" anchor="ctr"/>
          <a:lstStyle/>
          <a:p>
            <a:pPr marL="0" indent="0">
              <a:buNone/>
            </a:pPr>
            <a:r>
              <a:rPr lang="en-US" sz="2700" b="1" dirty="0">
                <a:solidFill>
                  <a:srgbClr val="F5F9FC"/>
                </a:solidFill>
              </a:rPr>
              <a:t>Problématique et objectifs</a:t>
            </a:r>
            <a:endParaRPr lang="en-US" sz="2700" dirty="0"/>
          </a:p>
        </p:txBody>
      </p:sp>
      <p:sp>
        <p:nvSpPr>
          <p:cNvPr id="4" name="Shape 2"/>
          <p:cNvSpPr/>
          <p:nvPr/>
        </p:nvSpPr>
        <p:spPr>
          <a:xfrm>
            <a:off x="594360" y="1417320"/>
            <a:ext cx="3474720" cy="4114800"/>
          </a:xfrm>
          <a:prstGeom prst="roundRect">
            <a:avLst>
              <a:gd name="adj" fmla="val 1579"/>
            </a:avLst>
          </a:prstGeom>
          <a:solidFill>
            <a:srgbClr val="0D1B2A"/>
          </a:solidFill>
          <a:ln w="15240">
            <a:solidFill>
              <a:srgbClr val="20C7E8"/>
            </a:solidFill>
            <a:prstDash val="solid"/>
          </a:ln>
          <a:effectLst>
            <a:outerShdw blurRad="25400" dist="12700" dir="2700000" algn="bl" rotWithShape="0">
              <a:srgbClr val="000000">
                <a:alpha val="18000"/>
              </a:srgbClr>
            </a:outerShdw>
          </a:effectLst>
        </p:spPr>
      </p:sp>
      <p:sp>
        <p:nvSpPr>
          <p:cNvPr id="5" name="Text 3"/>
          <p:cNvSpPr/>
          <p:nvPr/>
        </p:nvSpPr>
        <p:spPr>
          <a:xfrm>
            <a:off x="795528" y="1600200"/>
            <a:ext cx="3072384" cy="246888"/>
          </a:xfrm>
          <a:prstGeom prst="rect">
            <a:avLst/>
          </a:prstGeom>
          <a:noFill/>
          <a:ln/>
        </p:spPr>
        <p:txBody>
          <a:bodyPr wrap="square" lIns="0" tIns="0" rIns="0" bIns="0" rtlCol="0" anchor="ctr"/>
          <a:lstStyle/>
          <a:p>
            <a:pPr marL="0" indent="0">
              <a:buNone/>
            </a:pPr>
            <a:r>
              <a:rPr lang="en-US" sz="1500" b="1" dirty="0">
                <a:solidFill>
                  <a:srgbClr val="20C7E8"/>
                </a:solidFill>
              </a:rPr>
              <a:t>Observer</a:t>
            </a:r>
            <a:endParaRPr lang="en-US" sz="1500" dirty="0"/>
          </a:p>
        </p:txBody>
      </p:sp>
      <p:sp>
        <p:nvSpPr>
          <p:cNvPr id="6" name="Text 4"/>
          <p:cNvSpPr/>
          <p:nvPr/>
        </p:nvSpPr>
        <p:spPr>
          <a:xfrm>
            <a:off x="795528" y="2011680"/>
            <a:ext cx="3072384" cy="33649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Mesurer température, humidité, gaz, lumière et mouvement toutes les 5 secondes.</a:t>
            </a:r>
            <a:endParaRPr lang="en-US" sz="1100" dirty="0"/>
          </a:p>
          <a:p>
            <a:pPr marL="0" indent="0">
              <a:buNone/>
            </a:pPr>
            <a:endParaRPr lang="en-US" sz="1100" dirty="0"/>
          </a:p>
          <a:p>
            <a:pPr marL="0" indent="0">
              <a:buNone/>
            </a:pPr>
            <a:r>
              <a:rPr lang="en-US" sz="1100" dirty="0">
                <a:solidFill>
                  <a:srgbClr val="A5B7C8"/>
                </a:solidFill>
              </a:rPr>
              <a:t>Conserver un historique fiable et horodaté.</a:t>
            </a:r>
            <a:endParaRPr lang="en-US" sz="1100" dirty="0"/>
          </a:p>
        </p:txBody>
      </p:sp>
      <p:sp>
        <p:nvSpPr>
          <p:cNvPr id="7" name="Shape 5"/>
          <p:cNvSpPr/>
          <p:nvPr/>
        </p:nvSpPr>
        <p:spPr>
          <a:xfrm>
            <a:off x="4361688" y="1417320"/>
            <a:ext cx="3474720" cy="4114800"/>
          </a:xfrm>
          <a:prstGeom prst="roundRect">
            <a:avLst>
              <a:gd name="adj" fmla="val 1579"/>
            </a:avLst>
          </a:prstGeom>
          <a:solidFill>
            <a:srgbClr val="0D1B2A"/>
          </a:solidFill>
          <a:ln w="15240">
            <a:solidFill>
              <a:srgbClr val="FFB547"/>
            </a:solidFill>
            <a:prstDash val="solid"/>
          </a:ln>
          <a:effectLst>
            <a:outerShdw blurRad="25400" dist="12700" dir="2700000" algn="bl" rotWithShape="0">
              <a:srgbClr val="000000">
                <a:alpha val="18000"/>
              </a:srgbClr>
            </a:outerShdw>
          </a:effectLst>
        </p:spPr>
      </p:sp>
      <p:sp>
        <p:nvSpPr>
          <p:cNvPr id="8" name="Text 6"/>
          <p:cNvSpPr/>
          <p:nvPr/>
        </p:nvSpPr>
        <p:spPr>
          <a:xfrm>
            <a:off x="4562856" y="1600200"/>
            <a:ext cx="3072384" cy="246888"/>
          </a:xfrm>
          <a:prstGeom prst="rect">
            <a:avLst/>
          </a:prstGeom>
          <a:noFill/>
          <a:ln/>
        </p:spPr>
        <p:txBody>
          <a:bodyPr wrap="square" lIns="0" tIns="0" rIns="0" bIns="0" rtlCol="0" anchor="ctr"/>
          <a:lstStyle/>
          <a:p>
            <a:pPr marL="0" indent="0">
              <a:buNone/>
            </a:pPr>
            <a:r>
              <a:rPr lang="en-US" sz="1500" b="1" dirty="0">
                <a:solidFill>
                  <a:srgbClr val="FFB547"/>
                </a:solidFill>
              </a:rPr>
              <a:t>Détecter</a:t>
            </a:r>
            <a:endParaRPr lang="en-US" sz="1500" dirty="0"/>
          </a:p>
        </p:txBody>
      </p:sp>
      <p:sp>
        <p:nvSpPr>
          <p:cNvPr id="9" name="Text 7"/>
          <p:cNvSpPr/>
          <p:nvPr/>
        </p:nvSpPr>
        <p:spPr>
          <a:xfrm>
            <a:off x="4562856" y="2011680"/>
            <a:ext cx="3072384" cy="33649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Appliquer des seuils explicables :</a:t>
            </a:r>
            <a:endParaRPr lang="en-US" sz="1100" dirty="0"/>
          </a:p>
          <a:p>
            <a:pPr marL="0" indent="0">
              <a:buNone/>
            </a:pPr>
            <a:r>
              <a:rPr lang="en-US" sz="1100" dirty="0">
                <a:solidFill>
                  <a:srgbClr val="A5B7C8"/>
                </a:solidFill>
              </a:rPr>
              <a:t>• température &gt; 35 °C</a:t>
            </a:r>
            <a:endParaRPr lang="en-US" sz="1100" dirty="0"/>
          </a:p>
          <a:p>
            <a:pPr marL="0" indent="0">
              <a:buNone/>
            </a:pPr>
            <a:r>
              <a:rPr lang="en-US" sz="1100" dirty="0">
                <a:solidFill>
                  <a:srgbClr val="A5B7C8"/>
                </a:solidFill>
              </a:rPr>
              <a:t>• humidité &gt; 80 %</a:t>
            </a:r>
            <a:endParaRPr lang="en-US" sz="1100" dirty="0"/>
          </a:p>
          <a:p>
            <a:pPr marL="0" indent="0">
              <a:buNone/>
            </a:pPr>
            <a:r>
              <a:rPr lang="en-US" sz="1100" dirty="0">
                <a:solidFill>
                  <a:srgbClr val="A5B7C8"/>
                </a:solidFill>
              </a:rPr>
              <a:t>• gaz &gt; 1000 ppm</a:t>
            </a:r>
            <a:endParaRPr lang="en-US" sz="1100" dirty="0"/>
          </a:p>
        </p:txBody>
      </p:sp>
      <p:sp>
        <p:nvSpPr>
          <p:cNvPr id="10" name="Shape 8"/>
          <p:cNvSpPr/>
          <p:nvPr/>
        </p:nvSpPr>
        <p:spPr>
          <a:xfrm>
            <a:off x="8119872" y="1417320"/>
            <a:ext cx="3474720" cy="4114800"/>
          </a:xfrm>
          <a:prstGeom prst="roundRect">
            <a:avLst>
              <a:gd name="adj" fmla="val 1579"/>
            </a:avLst>
          </a:prstGeom>
          <a:solidFill>
            <a:srgbClr val="0D1B2A"/>
          </a:solidFill>
          <a:ln w="15240">
            <a:solidFill>
              <a:srgbClr val="3DDC97"/>
            </a:solidFill>
            <a:prstDash val="solid"/>
          </a:ln>
          <a:effectLst>
            <a:outerShdw blurRad="25400" dist="12700" dir="2700000" algn="bl" rotWithShape="0">
              <a:srgbClr val="000000">
                <a:alpha val="18000"/>
              </a:srgbClr>
            </a:outerShdw>
          </a:effectLst>
        </p:spPr>
      </p:sp>
      <p:sp>
        <p:nvSpPr>
          <p:cNvPr id="11" name="Text 9"/>
          <p:cNvSpPr/>
          <p:nvPr/>
        </p:nvSpPr>
        <p:spPr>
          <a:xfrm>
            <a:off x="8321040" y="1600200"/>
            <a:ext cx="3072384" cy="246888"/>
          </a:xfrm>
          <a:prstGeom prst="rect">
            <a:avLst/>
          </a:prstGeom>
          <a:noFill/>
          <a:ln/>
        </p:spPr>
        <p:txBody>
          <a:bodyPr wrap="square" lIns="0" tIns="0" rIns="0" bIns="0" rtlCol="0" anchor="ctr"/>
          <a:lstStyle/>
          <a:p>
            <a:pPr marL="0" indent="0">
              <a:buNone/>
            </a:pPr>
            <a:r>
              <a:rPr lang="en-US" sz="1500" b="1" dirty="0">
                <a:solidFill>
                  <a:srgbClr val="3DDC97"/>
                </a:solidFill>
              </a:rPr>
              <a:t>Agir</a:t>
            </a:r>
            <a:endParaRPr lang="en-US" sz="1500" dirty="0"/>
          </a:p>
        </p:txBody>
      </p:sp>
      <p:sp>
        <p:nvSpPr>
          <p:cNvPr id="12" name="Text 10"/>
          <p:cNvSpPr/>
          <p:nvPr/>
        </p:nvSpPr>
        <p:spPr>
          <a:xfrm>
            <a:off x="8321040" y="2011680"/>
            <a:ext cx="3072384" cy="33649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Déclencher LED et buzzer, envoyer un webhook et rendre l’incident visible dans l’API et Kibana.</a:t>
            </a:r>
            <a:endParaRPr lang="en-US" sz="1100" dirty="0"/>
          </a:p>
        </p:txBody>
      </p:sp>
      <p:sp>
        <p:nvSpPr>
          <p:cNvPr id="25" name="Slide Number Placeholder 0"/>
          <p:cNvSpPr>
            <a:spLocks noGrp="1"/>
          </p:cNvSpPr>
          <p:nvPr>
            <p:ph type="sldNum" sz="quarter" idx="4294967295"/>
          </p:nvPr>
        </p:nvSpPr>
        <p:spPr>
          <a:xfrm>
            <a:off x="11612880" y="649224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1859A"/>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48640" y="292608"/>
            <a:ext cx="3657600" cy="182880"/>
          </a:xfrm>
          <a:prstGeom prst="rect">
            <a:avLst/>
          </a:prstGeom>
          <a:noFill/>
          <a:ln/>
        </p:spPr>
        <p:txBody>
          <a:bodyPr wrap="square" lIns="0" tIns="0" rIns="0" bIns="0" rtlCol="0" anchor="ctr"/>
          <a:lstStyle/>
          <a:p>
            <a:pPr marL="0" indent="0">
              <a:buNone/>
            </a:pPr>
            <a:r>
              <a:rPr lang="en-US" sz="900" b="1" kern="0" spc="160" dirty="0">
                <a:solidFill>
                  <a:srgbClr val="19D3C5"/>
                </a:solidFill>
              </a:rPr>
              <a:t>02 • ARCHITECTURE</a:t>
            </a:r>
            <a:endParaRPr lang="en-US" sz="900" dirty="0"/>
          </a:p>
        </p:txBody>
      </p:sp>
      <p:sp>
        <p:nvSpPr>
          <p:cNvPr id="3" name="Text 1"/>
          <p:cNvSpPr/>
          <p:nvPr/>
        </p:nvSpPr>
        <p:spPr>
          <a:xfrm>
            <a:off x="548640" y="621792"/>
            <a:ext cx="10972800" cy="438912"/>
          </a:xfrm>
          <a:prstGeom prst="rect">
            <a:avLst/>
          </a:prstGeom>
          <a:noFill/>
          <a:ln/>
        </p:spPr>
        <p:txBody>
          <a:bodyPr wrap="square" lIns="0" tIns="0" rIns="0" bIns="0" rtlCol="0" anchor="ctr"/>
          <a:lstStyle/>
          <a:p>
            <a:pPr marL="0" indent="0">
              <a:buNone/>
            </a:pPr>
            <a:r>
              <a:rPr lang="en-US" sz="2700" b="1" dirty="0">
                <a:solidFill>
                  <a:srgbClr val="F5F9FC"/>
                </a:solidFill>
              </a:rPr>
              <a:t>Architecture globale en cinq couches</a:t>
            </a:r>
            <a:endParaRPr lang="en-US" sz="2700" dirty="0"/>
          </a:p>
        </p:txBody>
      </p:sp>
      <p:sp>
        <p:nvSpPr>
          <p:cNvPr id="4" name="Shape 2"/>
          <p:cNvSpPr/>
          <p:nvPr/>
        </p:nvSpPr>
        <p:spPr>
          <a:xfrm>
            <a:off x="502920" y="1828800"/>
            <a:ext cx="1920240" cy="2926080"/>
          </a:xfrm>
          <a:prstGeom prst="roundRect">
            <a:avLst>
              <a:gd name="adj" fmla="val 2857"/>
            </a:avLst>
          </a:prstGeom>
          <a:solidFill>
            <a:srgbClr val="0D1B2A"/>
          </a:solidFill>
          <a:ln w="15240">
            <a:solidFill>
              <a:srgbClr val="20C7E8"/>
            </a:solidFill>
            <a:prstDash val="solid"/>
          </a:ln>
        </p:spPr>
      </p:sp>
      <p:sp>
        <p:nvSpPr>
          <p:cNvPr id="5" name="Text 3"/>
          <p:cNvSpPr/>
          <p:nvPr/>
        </p:nvSpPr>
        <p:spPr>
          <a:xfrm>
            <a:off x="1188720" y="2148840"/>
            <a:ext cx="548640" cy="274320"/>
          </a:xfrm>
          <a:prstGeom prst="rect">
            <a:avLst/>
          </a:prstGeom>
          <a:noFill/>
          <a:ln/>
        </p:spPr>
        <p:txBody>
          <a:bodyPr wrap="square" lIns="0" tIns="0" rIns="0" bIns="0" rtlCol="0" anchor="ctr"/>
          <a:lstStyle/>
          <a:p>
            <a:pPr marL="0" indent="0" algn="ctr">
              <a:buNone/>
            </a:pPr>
            <a:r>
              <a:rPr lang="en-US" sz="1800" b="1" dirty="0">
                <a:solidFill>
                  <a:srgbClr val="20C7E8"/>
                </a:solidFill>
              </a:rPr>
              <a:t>01</a:t>
            </a:r>
            <a:endParaRPr lang="en-US" sz="1800" dirty="0"/>
          </a:p>
        </p:txBody>
      </p:sp>
      <p:sp>
        <p:nvSpPr>
          <p:cNvPr id="6" name="Text 4"/>
          <p:cNvSpPr/>
          <p:nvPr/>
        </p:nvSpPr>
        <p:spPr>
          <a:xfrm>
            <a:off x="640080" y="2788920"/>
            <a:ext cx="1645920" cy="274320"/>
          </a:xfrm>
          <a:prstGeom prst="rect">
            <a:avLst/>
          </a:prstGeom>
          <a:noFill/>
          <a:ln/>
        </p:spPr>
        <p:txBody>
          <a:bodyPr wrap="square" lIns="0" tIns="0" rIns="0" bIns="0" rtlCol="0" anchor="ctr"/>
          <a:lstStyle/>
          <a:p>
            <a:pPr marL="0" indent="0" algn="ctr">
              <a:buNone/>
            </a:pPr>
            <a:r>
              <a:rPr lang="en-US" sz="1400" b="1" dirty="0">
                <a:solidFill>
                  <a:srgbClr val="F5F9FC"/>
                </a:solidFill>
              </a:rPr>
              <a:t>CAPTEURS</a:t>
            </a:r>
            <a:endParaRPr lang="en-US" sz="1400" dirty="0"/>
          </a:p>
        </p:txBody>
      </p:sp>
      <p:sp>
        <p:nvSpPr>
          <p:cNvPr id="7" name="Text 5"/>
          <p:cNvSpPr/>
          <p:nvPr/>
        </p:nvSpPr>
        <p:spPr>
          <a:xfrm>
            <a:off x="640080" y="3429000"/>
            <a:ext cx="1645920" cy="731520"/>
          </a:xfrm>
          <a:prstGeom prst="rect">
            <a:avLst/>
          </a:prstGeom>
          <a:noFill/>
          <a:ln/>
        </p:spPr>
        <p:txBody>
          <a:bodyPr wrap="square" lIns="0" tIns="0" rIns="0" bIns="0" rtlCol="0" anchor="ctr"/>
          <a:lstStyle/>
          <a:p>
            <a:pPr marL="0" indent="0" algn="ctr">
              <a:buNone/>
            </a:pPr>
            <a:r>
              <a:rPr lang="en-US" sz="1150" dirty="0">
                <a:solidFill>
                  <a:srgbClr val="A5B7C8"/>
                </a:solidFill>
              </a:rPr>
              <a:t>DHT22 • PIR</a:t>
            </a:r>
            <a:endParaRPr lang="en-US" sz="1150" dirty="0"/>
          </a:p>
          <a:p>
            <a:pPr marL="0" indent="0" algn="ctr">
              <a:buNone/>
            </a:pPr>
            <a:r>
              <a:rPr lang="en-US" sz="1150" dirty="0">
                <a:solidFill>
                  <a:srgbClr val="A5B7C8"/>
                </a:solidFill>
              </a:rPr>
              <a:t>MQ2 • LDR</a:t>
            </a:r>
            <a:endParaRPr lang="en-US" sz="1150" dirty="0"/>
          </a:p>
        </p:txBody>
      </p:sp>
      <p:sp>
        <p:nvSpPr>
          <p:cNvPr id="8" name="Shape 6"/>
          <p:cNvSpPr/>
          <p:nvPr/>
        </p:nvSpPr>
        <p:spPr>
          <a:xfrm>
            <a:off x="2496312" y="3063240"/>
            <a:ext cx="246888" cy="365760"/>
          </a:xfrm>
          <a:prstGeom prst="chevron">
            <a:avLst/>
          </a:prstGeom>
          <a:solidFill>
            <a:srgbClr val="20C7E8"/>
          </a:solidFill>
          <a:ln w="12700">
            <a:solidFill>
              <a:srgbClr val="20C7E8"/>
            </a:solidFill>
            <a:prstDash val="solid"/>
          </a:ln>
        </p:spPr>
      </p:sp>
      <p:sp>
        <p:nvSpPr>
          <p:cNvPr id="9" name="Shape 7"/>
          <p:cNvSpPr/>
          <p:nvPr/>
        </p:nvSpPr>
        <p:spPr>
          <a:xfrm>
            <a:off x="2834640" y="1828800"/>
            <a:ext cx="1920240" cy="2926080"/>
          </a:xfrm>
          <a:prstGeom prst="roundRect">
            <a:avLst>
              <a:gd name="adj" fmla="val 2857"/>
            </a:avLst>
          </a:prstGeom>
          <a:solidFill>
            <a:srgbClr val="0D1B2A"/>
          </a:solidFill>
          <a:ln w="15240">
            <a:solidFill>
              <a:srgbClr val="19D3C5"/>
            </a:solidFill>
            <a:prstDash val="solid"/>
          </a:ln>
        </p:spPr>
      </p:sp>
      <p:sp>
        <p:nvSpPr>
          <p:cNvPr id="10" name="Text 8"/>
          <p:cNvSpPr/>
          <p:nvPr/>
        </p:nvSpPr>
        <p:spPr>
          <a:xfrm>
            <a:off x="3520440" y="2148840"/>
            <a:ext cx="548640" cy="274320"/>
          </a:xfrm>
          <a:prstGeom prst="rect">
            <a:avLst/>
          </a:prstGeom>
          <a:noFill/>
          <a:ln/>
        </p:spPr>
        <p:txBody>
          <a:bodyPr wrap="square" lIns="0" tIns="0" rIns="0" bIns="0" rtlCol="0" anchor="ctr"/>
          <a:lstStyle/>
          <a:p>
            <a:pPr marL="0" indent="0" algn="ctr">
              <a:buNone/>
            </a:pPr>
            <a:r>
              <a:rPr lang="en-US" sz="1800" b="1" dirty="0">
                <a:solidFill>
                  <a:srgbClr val="19D3C5"/>
                </a:solidFill>
              </a:rPr>
              <a:t>02</a:t>
            </a:r>
            <a:endParaRPr lang="en-US" sz="1800" dirty="0"/>
          </a:p>
        </p:txBody>
      </p:sp>
      <p:sp>
        <p:nvSpPr>
          <p:cNvPr id="11" name="Text 9"/>
          <p:cNvSpPr/>
          <p:nvPr/>
        </p:nvSpPr>
        <p:spPr>
          <a:xfrm>
            <a:off x="2971800" y="2788920"/>
            <a:ext cx="1645920" cy="274320"/>
          </a:xfrm>
          <a:prstGeom prst="rect">
            <a:avLst/>
          </a:prstGeom>
          <a:noFill/>
          <a:ln/>
        </p:spPr>
        <p:txBody>
          <a:bodyPr wrap="square" lIns="0" tIns="0" rIns="0" bIns="0" rtlCol="0" anchor="ctr"/>
          <a:lstStyle/>
          <a:p>
            <a:pPr marL="0" indent="0" algn="ctr">
              <a:buNone/>
            </a:pPr>
            <a:r>
              <a:rPr lang="en-US" sz="1400" b="1" dirty="0">
                <a:solidFill>
                  <a:srgbClr val="F5F9FC"/>
                </a:solidFill>
              </a:rPr>
              <a:t>MQTT</a:t>
            </a:r>
            <a:endParaRPr lang="en-US" sz="1400" dirty="0"/>
          </a:p>
        </p:txBody>
      </p:sp>
      <p:sp>
        <p:nvSpPr>
          <p:cNvPr id="12" name="Text 10"/>
          <p:cNvSpPr/>
          <p:nvPr/>
        </p:nvSpPr>
        <p:spPr>
          <a:xfrm>
            <a:off x="2971800" y="3429000"/>
            <a:ext cx="1645920" cy="731520"/>
          </a:xfrm>
          <a:prstGeom prst="rect">
            <a:avLst/>
          </a:prstGeom>
          <a:noFill/>
          <a:ln/>
        </p:spPr>
        <p:txBody>
          <a:bodyPr wrap="square" lIns="0" tIns="0" rIns="0" bIns="0" rtlCol="0" anchor="ctr"/>
          <a:lstStyle/>
          <a:p>
            <a:pPr marL="0" indent="0" algn="ctr">
              <a:buNone/>
            </a:pPr>
            <a:r>
              <a:rPr lang="en-US" sz="1150" dirty="0">
                <a:solidFill>
                  <a:srgbClr val="A5B7C8"/>
                </a:solidFill>
              </a:rPr>
              <a:t>HiveMQ public</a:t>
            </a:r>
            <a:endParaRPr lang="en-US" sz="1150" dirty="0"/>
          </a:p>
          <a:p>
            <a:pPr marL="0" indent="0" algn="ctr">
              <a:buNone/>
            </a:pPr>
            <a:r>
              <a:rPr lang="en-US" sz="1150" dirty="0">
                <a:solidFill>
                  <a:srgbClr val="A5B7C8"/>
                </a:solidFill>
              </a:rPr>
              <a:t>iot/sensors</a:t>
            </a:r>
            <a:endParaRPr lang="en-US" sz="1150" dirty="0"/>
          </a:p>
        </p:txBody>
      </p:sp>
      <p:sp>
        <p:nvSpPr>
          <p:cNvPr id="13" name="Shape 11"/>
          <p:cNvSpPr/>
          <p:nvPr/>
        </p:nvSpPr>
        <p:spPr>
          <a:xfrm>
            <a:off x="4828032" y="3063240"/>
            <a:ext cx="246888" cy="365760"/>
          </a:xfrm>
          <a:prstGeom prst="chevron">
            <a:avLst/>
          </a:prstGeom>
          <a:solidFill>
            <a:srgbClr val="19D3C5"/>
          </a:solidFill>
          <a:ln w="12700">
            <a:solidFill>
              <a:srgbClr val="19D3C5"/>
            </a:solidFill>
            <a:prstDash val="solid"/>
          </a:ln>
        </p:spPr>
      </p:sp>
      <p:sp>
        <p:nvSpPr>
          <p:cNvPr id="14" name="Shape 12"/>
          <p:cNvSpPr/>
          <p:nvPr/>
        </p:nvSpPr>
        <p:spPr>
          <a:xfrm>
            <a:off x="5166360" y="1828800"/>
            <a:ext cx="1920240" cy="2926080"/>
          </a:xfrm>
          <a:prstGeom prst="roundRect">
            <a:avLst>
              <a:gd name="adj" fmla="val 2857"/>
            </a:avLst>
          </a:prstGeom>
          <a:solidFill>
            <a:srgbClr val="0D1B2A"/>
          </a:solidFill>
          <a:ln w="15240">
            <a:solidFill>
              <a:srgbClr val="FFB547"/>
            </a:solidFill>
            <a:prstDash val="solid"/>
          </a:ln>
        </p:spPr>
      </p:sp>
      <p:sp>
        <p:nvSpPr>
          <p:cNvPr id="15" name="Text 13"/>
          <p:cNvSpPr/>
          <p:nvPr/>
        </p:nvSpPr>
        <p:spPr>
          <a:xfrm>
            <a:off x="5852160" y="2148840"/>
            <a:ext cx="548640" cy="274320"/>
          </a:xfrm>
          <a:prstGeom prst="rect">
            <a:avLst/>
          </a:prstGeom>
          <a:noFill/>
          <a:ln/>
        </p:spPr>
        <p:txBody>
          <a:bodyPr wrap="square" lIns="0" tIns="0" rIns="0" bIns="0" rtlCol="0" anchor="ctr"/>
          <a:lstStyle/>
          <a:p>
            <a:pPr marL="0" indent="0" algn="ctr">
              <a:buNone/>
            </a:pPr>
            <a:r>
              <a:rPr lang="en-US" sz="1800" b="1" dirty="0">
                <a:solidFill>
                  <a:srgbClr val="FFB547"/>
                </a:solidFill>
              </a:rPr>
              <a:t>03</a:t>
            </a:r>
            <a:endParaRPr lang="en-US" sz="1800" dirty="0"/>
          </a:p>
        </p:txBody>
      </p:sp>
      <p:sp>
        <p:nvSpPr>
          <p:cNvPr id="16" name="Text 14"/>
          <p:cNvSpPr/>
          <p:nvPr/>
        </p:nvSpPr>
        <p:spPr>
          <a:xfrm>
            <a:off x="5303520" y="2788920"/>
            <a:ext cx="1645920" cy="274320"/>
          </a:xfrm>
          <a:prstGeom prst="rect">
            <a:avLst/>
          </a:prstGeom>
          <a:noFill/>
          <a:ln/>
        </p:spPr>
        <p:txBody>
          <a:bodyPr wrap="square" lIns="0" tIns="0" rIns="0" bIns="0" rtlCol="0" anchor="ctr"/>
          <a:lstStyle/>
          <a:p>
            <a:pPr marL="0" indent="0" algn="ctr">
              <a:buNone/>
            </a:pPr>
            <a:r>
              <a:rPr lang="en-US" sz="1400" b="1" dirty="0">
                <a:solidFill>
                  <a:srgbClr val="F5F9FC"/>
                </a:solidFill>
              </a:rPr>
              <a:t>CONSUMER</a:t>
            </a:r>
            <a:endParaRPr lang="en-US" sz="1400" dirty="0"/>
          </a:p>
        </p:txBody>
      </p:sp>
      <p:sp>
        <p:nvSpPr>
          <p:cNvPr id="17" name="Text 15"/>
          <p:cNvSpPr/>
          <p:nvPr/>
        </p:nvSpPr>
        <p:spPr>
          <a:xfrm>
            <a:off x="5303520" y="3429000"/>
            <a:ext cx="1645920" cy="731520"/>
          </a:xfrm>
          <a:prstGeom prst="rect">
            <a:avLst/>
          </a:prstGeom>
          <a:noFill/>
          <a:ln/>
        </p:spPr>
        <p:txBody>
          <a:bodyPr wrap="square" lIns="0" tIns="0" rIns="0" bIns="0" rtlCol="0" anchor="ctr"/>
          <a:lstStyle/>
          <a:p>
            <a:pPr marL="0" indent="0" algn="ctr">
              <a:buNone/>
            </a:pPr>
            <a:r>
              <a:rPr lang="en-US" sz="1150" dirty="0">
                <a:solidFill>
                  <a:srgbClr val="A5B7C8"/>
                </a:solidFill>
              </a:rPr>
              <a:t>Python</a:t>
            </a:r>
            <a:endParaRPr lang="en-US" sz="1150" dirty="0"/>
          </a:p>
          <a:p>
            <a:pPr marL="0" indent="0" algn="ctr">
              <a:buNone/>
            </a:pPr>
            <a:r>
              <a:rPr lang="en-US" sz="1150" dirty="0">
                <a:solidFill>
                  <a:srgbClr val="A5B7C8"/>
                </a:solidFill>
              </a:rPr>
              <a:t>seuils + cooldown</a:t>
            </a:r>
            <a:endParaRPr lang="en-US" sz="1150" dirty="0"/>
          </a:p>
        </p:txBody>
      </p:sp>
      <p:sp>
        <p:nvSpPr>
          <p:cNvPr id="18" name="Shape 16"/>
          <p:cNvSpPr/>
          <p:nvPr/>
        </p:nvSpPr>
        <p:spPr>
          <a:xfrm>
            <a:off x="7159752" y="3063240"/>
            <a:ext cx="246888" cy="365760"/>
          </a:xfrm>
          <a:prstGeom prst="chevron">
            <a:avLst/>
          </a:prstGeom>
          <a:solidFill>
            <a:srgbClr val="FFB547"/>
          </a:solidFill>
          <a:ln w="12700">
            <a:solidFill>
              <a:srgbClr val="FFB547"/>
            </a:solidFill>
            <a:prstDash val="solid"/>
          </a:ln>
        </p:spPr>
      </p:sp>
      <p:sp>
        <p:nvSpPr>
          <p:cNvPr id="19" name="Shape 17"/>
          <p:cNvSpPr/>
          <p:nvPr/>
        </p:nvSpPr>
        <p:spPr>
          <a:xfrm>
            <a:off x="7498080" y="1828800"/>
            <a:ext cx="1920240" cy="2926080"/>
          </a:xfrm>
          <a:prstGeom prst="roundRect">
            <a:avLst>
              <a:gd name="adj" fmla="val 2857"/>
            </a:avLst>
          </a:prstGeom>
          <a:solidFill>
            <a:srgbClr val="0D1B2A"/>
          </a:solidFill>
          <a:ln w="15240">
            <a:solidFill>
              <a:srgbClr val="FF6262"/>
            </a:solidFill>
            <a:prstDash val="solid"/>
          </a:ln>
        </p:spPr>
      </p:sp>
      <p:sp>
        <p:nvSpPr>
          <p:cNvPr id="20" name="Text 18"/>
          <p:cNvSpPr/>
          <p:nvPr/>
        </p:nvSpPr>
        <p:spPr>
          <a:xfrm>
            <a:off x="8183880" y="2148840"/>
            <a:ext cx="548640" cy="274320"/>
          </a:xfrm>
          <a:prstGeom prst="rect">
            <a:avLst/>
          </a:prstGeom>
          <a:noFill/>
          <a:ln/>
        </p:spPr>
        <p:txBody>
          <a:bodyPr wrap="square" lIns="0" tIns="0" rIns="0" bIns="0" rtlCol="0" anchor="ctr"/>
          <a:lstStyle/>
          <a:p>
            <a:pPr marL="0" indent="0" algn="ctr">
              <a:buNone/>
            </a:pPr>
            <a:r>
              <a:rPr lang="en-US" sz="1800" b="1" dirty="0">
                <a:solidFill>
                  <a:srgbClr val="FF6262"/>
                </a:solidFill>
              </a:rPr>
              <a:t>04</a:t>
            </a:r>
            <a:endParaRPr lang="en-US" sz="1800" dirty="0"/>
          </a:p>
        </p:txBody>
      </p:sp>
      <p:sp>
        <p:nvSpPr>
          <p:cNvPr id="21" name="Text 19"/>
          <p:cNvSpPr/>
          <p:nvPr/>
        </p:nvSpPr>
        <p:spPr>
          <a:xfrm>
            <a:off x="7635240" y="2788920"/>
            <a:ext cx="1645920" cy="274320"/>
          </a:xfrm>
          <a:prstGeom prst="rect">
            <a:avLst/>
          </a:prstGeom>
          <a:noFill/>
          <a:ln/>
        </p:spPr>
        <p:txBody>
          <a:bodyPr wrap="square" lIns="0" tIns="0" rIns="0" bIns="0" rtlCol="0" anchor="ctr"/>
          <a:lstStyle/>
          <a:p>
            <a:pPr marL="0" indent="0" algn="ctr">
              <a:buNone/>
            </a:pPr>
            <a:r>
              <a:rPr lang="en-US" sz="1400" b="1" dirty="0">
                <a:solidFill>
                  <a:srgbClr val="F5F9FC"/>
                </a:solidFill>
              </a:rPr>
              <a:t>DATA</a:t>
            </a:r>
            <a:endParaRPr lang="en-US" sz="1400" dirty="0"/>
          </a:p>
        </p:txBody>
      </p:sp>
      <p:sp>
        <p:nvSpPr>
          <p:cNvPr id="22" name="Text 20"/>
          <p:cNvSpPr/>
          <p:nvPr/>
        </p:nvSpPr>
        <p:spPr>
          <a:xfrm>
            <a:off x="7635240" y="3429000"/>
            <a:ext cx="1645920" cy="731520"/>
          </a:xfrm>
          <a:prstGeom prst="rect">
            <a:avLst/>
          </a:prstGeom>
          <a:noFill/>
          <a:ln/>
        </p:spPr>
        <p:txBody>
          <a:bodyPr wrap="square" lIns="0" tIns="0" rIns="0" bIns="0" rtlCol="0" anchor="ctr"/>
          <a:lstStyle/>
          <a:p>
            <a:pPr marL="0" indent="0" algn="ctr">
              <a:buNone/>
            </a:pPr>
            <a:r>
              <a:rPr lang="en-US" sz="1150" dirty="0">
                <a:solidFill>
                  <a:srgbClr val="A5B7C8"/>
                </a:solidFill>
              </a:rPr>
              <a:t>Elasticsearch</a:t>
            </a:r>
            <a:endParaRPr lang="en-US" sz="1150" dirty="0"/>
          </a:p>
          <a:p>
            <a:pPr marL="0" indent="0" algn="ctr">
              <a:buNone/>
            </a:pPr>
            <a:r>
              <a:rPr lang="en-US" sz="1150" dirty="0">
                <a:solidFill>
                  <a:srgbClr val="A5B7C8"/>
                </a:solidFill>
              </a:rPr>
              <a:t>webhook</a:t>
            </a:r>
            <a:endParaRPr lang="en-US" sz="1150" dirty="0"/>
          </a:p>
        </p:txBody>
      </p:sp>
      <p:sp>
        <p:nvSpPr>
          <p:cNvPr id="23" name="Shape 21"/>
          <p:cNvSpPr/>
          <p:nvPr/>
        </p:nvSpPr>
        <p:spPr>
          <a:xfrm>
            <a:off x="9491472" y="3063240"/>
            <a:ext cx="246888" cy="365760"/>
          </a:xfrm>
          <a:prstGeom prst="chevron">
            <a:avLst/>
          </a:prstGeom>
          <a:solidFill>
            <a:srgbClr val="FF6262"/>
          </a:solidFill>
          <a:ln w="12700">
            <a:solidFill>
              <a:srgbClr val="FF6262"/>
            </a:solidFill>
            <a:prstDash val="solid"/>
          </a:ln>
        </p:spPr>
      </p:sp>
      <p:sp>
        <p:nvSpPr>
          <p:cNvPr id="24" name="Shape 22"/>
          <p:cNvSpPr/>
          <p:nvPr/>
        </p:nvSpPr>
        <p:spPr>
          <a:xfrm>
            <a:off x="9829800" y="1828800"/>
            <a:ext cx="1920240" cy="2926080"/>
          </a:xfrm>
          <a:prstGeom prst="roundRect">
            <a:avLst>
              <a:gd name="adj" fmla="val 2857"/>
            </a:avLst>
          </a:prstGeom>
          <a:solidFill>
            <a:srgbClr val="0D1B2A"/>
          </a:solidFill>
          <a:ln w="15240">
            <a:solidFill>
              <a:srgbClr val="3DDC97"/>
            </a:solidFill>
            <a:prstDash val="solid"/>
          </a:ln>
        </p:spPr>
      </p:sp>
      <p:sp>
        <p:nvSpPr>
          <p:cNvPr id="25" name="Text 23"/>
          <p:cNvSpPr/>
          <p:nvPr/>
        </p:nvSpPr>
        <p:spPr>
          <a:xfrm>
            <a:off x="10515600" y="2148840"/>
            <a:ext cx="548640" cy="274320"/>
          </a:xfrm>
          <a:prstGeom prst="rect">
            <a:avLst/>
          </a:prstGeom>
          <a:noFill/>
          <a:ln/>
        </p:spPr>
        <p:txBody>
          <a:bodyPr wrap="square" lIns="0" tIns="0" rIns="0" bIns="0" rtlCol="0" anchor="ctr"/>
          <a:lstStyle/>
          <a:p>
            <a:pPr marL="0" indent="0" algn="ctr">
              <a:buNone/>
            </a:pPr>
            <a:r>
              <a:rPr lang="en-US" sz="1800" b="1" dirty="0">
                <a:solidFill>
                  <a:srgbClr val="3DDC97"/>
                </a:solidFill>
              </a:rPr>
              <a:t>05</a:t>
            </a:r>
            <a:endParaRPr lang="en-US" sz="1800" dirty="0"/>
          </a:p>
        </p:txBody>
      </p:sp>
      <p:sp>
        <p:nvSpPr>
          <p:cNvPr id="26" name="Text 24"/>
          <p:cNvSpPr/>
          <p:nvPr/>
        </p:nvSpPr>
        <p:spPr>
          <a:xfrm>
            <a:off x="9966960" y="2788920"/>
            <a:ext cx="1645920" cy="274320"/>
          </a:xfrm>
          <a:prstGeom prst="rect">
            <a:avLst/>
          </a:prstGeom>
          <a:noFill/>
          <a:ln/>
        </p:spPr>
        <p:txBody>
          <a:bodyPr wrap="square" lIns="0" tIns="0" rIns="0" bIns="0" rtlCol="0" anchor="ctr"/>
          <a:lstStyle/>
          <a:p>
            <a:pPr marL="0" indent="0" algn="ctr">
              <a:buNone/>
            </a:pPr>
            <a:r>
              <a:rPr lang="en-US" sz="1400" b="1" dirty="0">
                <a:solidFill>
                  <a:srgbClr val="F5F9FC"/>
                </a:solidFill>
              </a:rPr>
              <a:t>EXPLOITATION</a:t>
            </a:r>
            <a:endParaRPr lang="en-US" sz="1400" dirty="0"/>
          </a:p>
        </p:txBody>
      </p:sp>
      <p:sp>
        <p:nvSpPr>
          <p:cNvPr id="27" name="Text 25"/>
          <p:cNvSpPr/>
          <p:nvPr/>
        </p:nvSpPr>
        <p:spPr>
          <a:xfrm>
            <a:off x="9966960" y="3429000"/>
            <a:ext cx="1645920" cy="731520"/>
          </a:xfrm>
          <a:prstGeom prst="rect">
            <a:avLst/>
          </a:prstGeom>
          <a:noFill/>
          <a:ln/>
        </p:spPr>
        <p:txBody>
          <a:bodyPr wrap="square" lIns="0" tIns="0" rIns="0" bIns="0" rtlCol="0" anchor="ctr"/>
          <a:lstStyle/>
          <a:p>
            <a:pPr marL="0" indent="0" algn="ctr">
              <a:buNone/>
            </a:pPr>
            <a:r>
              <a:rPr lang="en-US" sz="1150" dirty="0">
                <a:solidFill>
                  <a:srgbClr val="A5B7C8"/>
                </a:solidFill>
              </a:rPr>
              <a:t>FastAPI</a:t>
            </a:r>
            <a:endParaRPr lang="en-US" sz="1150" dirty="0"/>
          </a:p>
          <a:p>
            <a:pPr marL="0" indent="0" algn="ctr">
              <a:buNone/>
            </a:pPr>
            <a:r>
              <a:rPr lang="en-US" sz="1150" dirty="0">
                <a:solidFill>
                  <a:srgbClr val="A5B7C8"/>
                </a:solidFill>
              </a:rPr>
              <a:t>Kibana</a:t>
            </a:r>
            <a:endParaRPr lang="en-US" sz="1150" dirty="0"/>
          </a:p>
        </p:txBody>
      </p:sp>
      <p:sp>
        <p:nvSpPr>
          <p:cNvPr id="28" name="Text 26"/>
          <p:cNvSpPr/>
          <p:nvPr/>
        </p:nvSpPr>
        <p:spPr>
          <a:xfrm>
            <a:off x="1828800" y="5577840"/>
            <a:ext cx="8503920" cy="274320"/>
          </a:xfrm>
          <a:prstGeom prst="rect">
            <a:avLst/>
          </a:prstGeom>
          <a:noFill/>
          <a:ln/>
        </p:spPr>
        <p:txBody>
          <a:bodyPr wrap="square" lIns="0" tIns="0" rIns="0" bIns="0" rtlCol="0" anchor="ctr"/>
          <a:lstStyle/>
          <a:p>
            <a:pPr marL="0" indent="0" algn="ctr">
              <a:buNone/>
            </a:pPr>
            <a:r>
              <a:rPr lang="en-US" sz="1300" dirty="0">
                <a:solidFill>
                  <a:srgbClr val="A5B7C8"/>
                </a:solidFill>
              </a:rPr>
              <a:t>Flux principal : JSON temps réel  |  Flux secondaire : alertes et consultation</a:t>
            </a:r>
            <a:endParaRPr lang="en-US" sz="1300" dirty="0"/>
          </a:p>
        </p:txBody>
      </p:sp>
      <p:sp>
        <p:nvSpPr>
          <p:cNvPr id="29" name="Slide Number Placeholder 0"/>
          <p:cNvSpPr>
            <a:spLocks noGrp="1"/>
          </p:cNvSpPr>
          <p:nvPr>
            <p:ph type="sldNum" sz="quarter" idx="4294967295"/>
          </p:nvPr>
        </p:nvSpPr>
        <p:spPr>
          <a:xfrm>
            <a:off x="11612880" y="649224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1859A"/>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48640" y="292608"/>
            <a:ext cx="3657600" cy="182880"/>
          </a:xfrm>
          <a:prstGeom prst="rect">
            <a:avLst/>
          </a:prstGeom>
          <a:noFill/>
          <a:ln/>
        </p:spPr>
        <p:txBody>
          <a:bodyPr wrap="square" lIns="0" tIns="0" rIns="0" bIns="0" rtlCol="0" anchor="ctr"/>
          <a:lstStyle/>
          <a:p>
            <a:pPr marL="0" indent="0">
              <a:buNone/>
            </a:pPr>
            <a:r>
              <a:rPr lang="en-US" sz="900" b="1" kern="0" spc="160" dirty="0">
                <a:solidFill>
                  <a:srgbClr val="19D3C5"/>
                </a:solidFill>
              </a:rPr>
              <a:t>03 • EDGE &amp; WOKWI</a:t>
            </a:r>
            <a:endParaRPr lang="en-US" sz="900" dirty="0"/>
          </a:p>
        </p:txBody>
      </p:sp>
      <p:sp>
        <p:nvSpPr>
          <p:cNvPr id="3" name="Text 1"/>
          <p:cNvSpPr/>
          <p:nvPr/>
        </p:nvSpPr>
        <p:spPr>
          <a:xfrm>
            <a:off x="548640" y="621792"/>
            <a:ext cx="10972800" cy="438912"/>
          </a:xfrm>
          <a:prstGeom prst="rect">
            <a:avLst/>
          </a:prstGeom>
          <a:noFill/>
          <a:ln/>
        </p:spPr>
        <p:txBody>
          <a:bodyPr wrap="square" lIns="0" tIns="0" rIns="0" bIns="0" rtlCol="0" anchor="ctr"/>
          <a:lstStyle/>
          <a:p>
            <a:pPr marL="0" indent="0">
              <a:buNone/>
            </a:pPr>
            <a:r>
              <a:rPr lang="en-US" sz="2700" b="1" dirty="0">
                <a:solidFill>
                  <a:srgbClr val="F5F9FC"/>
                </a:solidFill>
              </a:rPr>
              <a:t>Le nœud capteur ESP32</a:t>
            </a:r>
            <a:endParaRPr lang="en-US" sz="2700" dirty="0"/>
          </a:p>
        </p:txBody>
      </p:sp>
      <p:pic>
        <p:nvPicPr>
          <p:cNvPr id="4" name="Image 0" descr="/mnt/data/Image (10).jpg"/>
          <p:cNvPicPr>
            <a:picLocks noChangeAspect="1"/>
          </p:cNvPicPr>
          <p:nvPr/>
        </p:nvPicPr>
        <p:blipFill>
          <a:blip r:embed="rId3"/>
          <a:srcRect l="17500" r="17500"/>
          <a:stretch/>
        </p:blipFill>
        <p:spPr>
          <a:xfrm>
            <a:off x="548640" y="1234440"/>
            <a:ext cx="6492240" cy="4892040"/>
          </a:xfrm>
          <a:prstGeom prst="rect">
            <a:avLst/>
          </a:prstGeom>
        </p:spPr>
      </p:pic>
      <p:sp>
        <p:nvSpPr>
          <p:cNvPr id="5" name="Shape 2"/>
          <p:cNvSpPr/>
          <p:nvPr/>
        </p:nvSpPr>
        <p:spPr>
          <a:xfrm>
            <a:off x="7315200" y="1234440"/>
            <a:ext cx="4297680" cy="914400"/>
          </a:xfrm>
          <a:prstGeom prst="roundRect">
            <a:avLst>
              <a:gd name="adj" fmla="val 6000"/>
            </a:avLst>
          </a:prstGeom>
          <a:solidFill>
            <a:srgbClr val="0D1B2A"/>
          </a:solidFill>
          <a:ln w="15240">
            <a:solidFill>
              <a:srgbClr val="20C7E8"/>
            </a:solidFill>
            <a:prstDash val="solid"/>
          </a:ln>
          <a:effectLst>
            <a:outerShdw blurRad="25400" dist="12700" dir="2700000" algn="bl" rotWithShape="0">
              <a:srgbClr val="000000">
                <a:alpha val="18000"/>
              </a:srgbClr>
            </a:outerShdw>
          </a:effectLst>
        </p:spPr>
      </p:sp>
      <p:sp>
        <p:nvSpPr>
          <p:cNvPr id="6" name="Text 3"/>
          <p:cNvSpPr/>
          <p:nvPr/>
        </p:nvSpPr>
        <p:spPr>
          <a:xfrm>
            <a:off x="7516368" y="1417320"/>
            <a:ext cx="3895344" cy="246888"/>
          </a:xfrm>
          <a:prstGeom prst="rect">
            <a:avLst/>
          </a:prstGeom>
          <a:noFill/>
          <a:ln/>
        </p:spPr>
        <p:txBody>
          <a:bodyPr wrap="square" lIns="0" tIns="0" rIns="0" bIns="0" rtlCol="0" anchor="ctr"/>
          <a:lstStyle/>
          <a:p>
            <a:pPr marL="0" indent="0">
              <a:buNone/>
            </a:pPr>
            <a:r>
              <a:rPr lang="en-US" sz="1500" b="1" dirty="0">
                <a:solidFill>
                  <a:srgbClr val="20C7E8"/>
                </a:solidFill>
              </a:rPr>
              <a:t>DHT22</a:t>
            </a:r>
            <a:endParaRPr lang="en-US" sz="1500" dirty="0"/>
          </a:p>
        </p:txBody>
      </p:sp>
      <p:sp>
        <p:nvSpPr>
          <p:cNvPr id="7" name="Text 4"/>
          <p:cNvSpPr/>
          <p:nvPr/>
        </p:nvSpPr>
        <p:spPr>
          <a:xfrm>
            <a:off x="7516368" y="1828800"/>
            <a:ext cx="3895344" cy="1645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Température et humidité</a:t>
            </a:r>
            <a:endParaRPr lang="en-US" sz="1100" dirty="0"/>
          </a:p>
        </p:txBody>
      </p:sp>
      <p:sp>
        <p:nvSpPr>
          <p:cNvPr id="8" name="Shape 5"/>
          <p:cNvSpPr/>
          <p:nvPr/>
        </p:nvSpPr>
        <p:spPr>
          <a:xfrm>
            <a:off x="7315200" y="2331720"/>
            <a:ext cx="4297680" cy="914400"/>
          </a:xfrm>
          <a:prstGeom prst="roundRect">
            <a:avLst>
              <a:gd name="adj" fmla="val 6000"/>
            </a:avLst>
          </a:prstGeom>
          <a:solidFill>
            <a:srgbClr val="0D1B2A"/>
          </a:solidFill>
          <a:ln w="15240">
            <a:solidFill>
              <a:srgbClr val="19D3C5"/>
            </a:solidFill>
            <a:prstDash val="solid"/>
          </a:ln>
          <a:effectLst>
            <a:outerShdw blurRad="25400" dist="12700" dir="2700000" algn="bl" rotWithShape="0">
              <a:srgbClr val="000000">
                <a:alpha val="18000"/>
              </a:srgbClr>
            </a:outerShdw>
          </a:effectLst>
        </p:spPr>
      </p:sp>
      <p:sp>
        <p:nvSpPr>
          <p:cNvPr id="9" name="Text 6"/>
          <p:cNvSpPr/>
          <p:nvPr/>
        </p:nvSpPr>
        <p:spPr>
          <a:xfrm>
            <a:off x="7516368" y="2514600"/>
            <a:ext cx="3895344" cy="246888"/>
          </a:xfrm>
          <a:prstGeom prst="rect">
            <a:avLst/>
          </a:prstGeom>
          <a:noFill/>
          <a:ln/>
        </p:spPr>
        <p:txBody>
          <a:bodyPr wrap="square" lIns="0" tIns="0" rIns="0" bIns="0" rtlCol="0" anchor="ctr"/>
          <a:lstStyle/>
          <a:p>
            <a:pPr marL="0" indent="0">
              <a:buNone/>
            </a:pPr>
            <a:r>
              <a:rPr lang="en-US" sz="1500" b="1" dirty="0">
                <a:solidFill>
                  <a:srgbClr val="19D3C5"/>
                </a:solidFill>
              </a:rPr>
              <a:t>PIR + LDR</a:t>
            </a:r>
            <a:endParaRPr lang="en-US" sz="1500" dirty="0"/>
          </a:p>
        </p:txBody>
      </p:sp>
      <p:sp>
        <p:nvSpPr>
          <p:cNvPr id="10" name="Text 7"/>
          <p:cNvSpPr/>
          <p:nvPr/>
        </p:nvSpPr>
        <p:spPr>
          <a:xfrm>
            <a:off x="7516368" y="2926080"/>
            <a:ext cx="3895344" cy="1645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Mouvement et luminosité</a:t>
            </a:r>
            <a:endParaRPr lang="en-US" sz="1100" dirty="0"/>
          </a:p>
        </p:txBody>
      </p:sp>
      <p:sp>
        <p:nvSpPr>
          <p:cNvPr id="11" name="Shape 8"/>
          <p:cNvSpPr/>
          <p:nvPr/>
        </p:nvSpPr>
        <p:spPr>
          <a:xfrm>
            <a:off x="7315200" y="3429000"/>
            <a:ext cx="4297680" cy="914400"/>
          </a:xfrm>
          <a:prstGeom prst="roundRect">
            <a:avLst>
              <a:gd name="adj" fmla="val 6000"/>
            </a:avLst>
          </a:prstGeom>
          <a:solidFill>
            <a:srgbClr val="0D1B2A"/>
          </a:solidFill>
          <a:ln w="15240">
            <a:solidFill>
              <a:srgbClr val="FFB547"/>
            </a:solidFill>
            <a:prstDash val="solid"/>
          </a:ln>
          <a:effectLst>
            <a:outerShdw blurRad="25400" dist="12700" dir="2700000" algn="bl" rotWithShape="0">
              <a:srgbClr val="000000">
                <a:alpha val="18000"/>
              </a:srgbClr>
            </a:outerShdw>
          </a:effectLst>
        </p:spPr>
      </p:sp>
      <p:sp>
        <p:nvSpPr>
          <p:cNvPr id="12" name="Text 9"/>
          <p:cNvSpPr/>
          <p:nvPr/>
        </p:nvSpPr>
        <p:spPr>
          <a:xfrm>
            <a:off x="7516368" y="3611880"/>
            <a:ext cx="3895344" cy="246888"/>
          </a:xfrm>
          <a:prstGeom prst="rect">
            <a:avLst/>
          </a:prstGeom>
          <a:noFill/>
          <a:ln/>
        </p:spPr>
        <p:txBody>
          <a:bodyPr wrap="square" lIns="0" tIns="0" rIns="0" bIns="0" rtlCol="0" anchor="ctr"/>
          <a:lstStyle/>
          <a:p>
            <a:pPr marL="0" indent="0">
              <a:buNone/>
            </a:pPr>
            <a:r>
              <a:rPr lang="en-US" sz="1500" b="1" dirty="0">
                <a:solidFill>
                  <a:srgbClr val="FFB547"/>
                </a:solidFill>
              </a:rPr>
              <a:t>MQ2</a:t>
            </a:r>
            <a:endParaRPr lang="en-US" sz="1500" dirty="0"/>
          </a:p>
        </p:txBody>
      </p:sp>
      <p:sp>
        <p:nvSpPr>
          <p:cNvPr id="13" name="Text 10"/>
          <p:cNvSpPr/>
          <p:nvPr/>
        </p:nvSpPr>
        <p:spPr>
          <a:xfrm>
            <a:off x="7516368" y="4023360"/>
            <a:ext cx="3895344" cy="1645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Niveau de gaz simulé</a:t>
            </a:r>
            <a:endParaRPr lang="en-US" sz="1100" dirty="0"/>
          </a:p>
        </p:txBody>
      </p:sp>
      <p:sp>
        <p:nvSpPr>
          <p:cNvPr id="14" name="Shape 11"/>
          <p:cNvSpPr/>
          <p:nvPr/>
        </p:nvSpPr>
        <p:spPr>
          <a:xfrm>
            <a:off x="7315200" y="4526280"/>
            <a:ext cx="4297680" cy="1280160"/>
          </a:xfrm>
          <a:prstGeom prst="roundRect">
            <a:avLst>
              <a:gd name="adj" fmla="val 4286"/>
            </a:avLst>
          </a:prstGeom>
          <a:solidFill>
            <a:srgbClr val="0D1B2A"/>
          </a:solidFill>
          <a:ln w="15240">
            <a:solidFill>
              <a:srgbClr val="FF6262"/>
            </a:solidFill>
            <a:prstDash val="solid"/>
          </a:ln>
          <a:effectLst>
            <a:outerShdw blurRad="25400" dist="12700" dir="2700000" algn="bl" rotWithShape="0">
              <a:srgbClr val="000000">
                <a:alpha val="18000"/>
              </a:srgbClr>
            </a:outerShdw>
          </a:effectLst>
        </p:spPr>
      </p:sp>
      <p:sp>
        <p:nvSpPr>
          <p:cNvPr id="15" name="Text 12"/>
          <p:cNvSpPr/>
          <p:nvPr/>
        </p:nvSpPr>
        <p:spPr>
          <a:xfrm>
            <a:off x="7516368" y="4709160"/>
            <a:ext cx="3895344" cy="246888"/>
          </a:xfrm>
          <a:prstGeom prst="rect">
            <a:avLst/>
          </a:prstGeom>
          <a:noFill/>
          <a:ln/>
        </p:spPr>
        <p:txBody>
          <a:bodyPr wrap="square" lIns="0" tIns="0" rIns="0" bIns="0" rtlCol="0" anchor="ctr"/>
          <a:lstStyle/>
          <a:p>
            <a:pPr marL="0" indent="0">
              <a:buNone/>
            </a:pPr>
            <a:r>
              <a:rPr lang="en-US" sz="1500" b="1" dirty="0">
                <a:solidFill>
                  <a:srgbClr val="FF6262"/>
                </a:solidFill>
              </a:rPr>
              <a:t>LED + buzzer</a:t>
            </a:r>
            <a:endParaRPr lang="en-US" sz="1500" dirty="0"/>
          </a:p>
        </p:txBody>
      </p:sp>
      <p:sp>
        <p:nvSpPr>
          <p:cNvPr id="16" name="Text 13"/>
          <p:cNvSpPr/>
          <p:nvPr/>
        </p:nvSpPr>
        <p:spPr>
          <a:xfrm>
            <a:off x="7516368" y="5120640"/>
            <a:ext cx="3895344" cy="53035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Alerte locale immédiate en cas de dépassement.</a:t>
            </a:r>
            <a:endParaRPr lang="en-US" sz="1100" dirty="0"/>
          </a:p>
        </p:txBody>
      </p:sp>
      <p:sp>
        <p:nvSpPr>
          <p:cNvPr id="25" name="Slide Number Placeholder 0"/>
          <p:cNvSpPr>
            <a:spLocks noGrp="1"/>
          </p:cNvSpPr>
          <p:nvPr>
            <p:ph type="sldNum" sz="quarter" idx="4294967295"/>
          </p:nvPr>
        </p:nvSpPr>
        <p:spPr>
          <a:xfrm>
            <a:off x="11612880" y="649224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1859A"/>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48640" y="292608"/>
            <a:ext cx="3657600" cy="182880"/>
          </a:xfrm>
          <a:prstGeom prst="rect">
            <a:avLst/>
          </a:prstGeom>
          <a:noFill/>
          <a:ln/>
        </p:spPr>
        <p:txBody>
          <a:bodyPr wrap="square" lIns="0" tIns="0" rIns="0" bIns="0" rtlCol="0" anchor="ctr"/>
          <a:lstStyle/>
          <a:p>
            <a:pPr marL="0" indent="0">
              <a:buNone/>
            </a:pPr>
            <a:r>
              <a:rPr lang="en-US" sz="900" b="1" kern="0" spc="160" dirty="0">
                <a:solidFill>
                  <a:srgbClr val="19D3C5"/>
                </a:solidFill>
              </a:rPr>
              <a:t>04 • TRANSPORT</a:t>
            </a:r>
            <a:endParaRPr lang="en-US" sz="900" dirty="0"/>
          </a:p>
        </p:txBody>
      </p:sp>
      <p:sp>
        <p:nvSpPr>
          <p:cNvPr id="3" name="Text 1"/>
          <p:cNvSpPr/>
          <p:nvPr/>
        </p:nvSpPr>
        <p:spPr>
          <a:xfrm>
            <a:off x="548640" y="621792"/>
            <a:ext cx="10972800" cy="438912"/>
          </a:xfrm>
          <a:prstGeom prst="rect">
            <a:avLst/>
          </a:prstGeom>
          <a:noFill/>
          <a:ln/>
        </p:spPr>
        <p:txBody>
          <a:bodyPr wrap="square" lIns="0" tIns="0" rIns="0" bIns="0" rtlCol="0" anchor="ctr"/>
          <a:lstStyle/>
          <a:p>
            <a:pPr marL="0" indent="0">
              <a:buNone/>
            </a:pPr>
            <a:r>
              <a:rPr lang="en-US" sz="2700" b="1" dirty="0">
                <a:solidFill>
                  <a:srgbClr val="F5F9FC"/>
                </a:solidFill>
              </a:rPr>
              <a:t>Pipeline MQTT et message JSON</a:t>
            </a:r>
            <a:endParaRPr lang="en-US" sz="2700" dirty="0"/>
          </a:p>
        </p:txBody>
      </p:sp>
      <p:sp>
        <p:nvSpPr>
          <p:cNvPr id="4" name="Shape 2"/>
          <p:cNvSpPr/>
          <p:nvPr/>
        </p:nvSpPr>
        <p:spPr>
          <a:xfrm>
            <a:off x="594360" y="1325880"/>
            <a:ext cx="2331720" cy="1143000"/>
          </a:xfrm>
          <a:prstGeom prst="roundRect">
            <a:avLst>
              <a:gd name="adj" fmla="val 4800"/>
            </a:avLst>
          </a:prstGeom>
          <a:solidFill>
            <a:srgbClr val="0D1B2A"/>
          </a:solidFill>
          <a:ln w="15240">
            <a:solidFill>
              <a:srgbClr val="20C7E8"/>
            </a:solidFill>
            <a:prstDash val="solid"/>
          </a:ln>
          <a:effectLst>
            <a:outerShdw blurRad="25400" dist="12700" dir="2700000" algn="bl" rotWithShape="0">
              <a:srgbClr val="000000">
                <a:alpha val="18000"/>
              </a:srgbClr>
            </a:outerShdw>
          </a:effectLst>
        </p:spPr>
      </p:sp>
      <p:sp>
        <p:nvSpPr>
          <p:cNvPr id="5" name="Text 3"/>
          <p:cNvSpPr/>
          <p:nvPr/>
        </p:nvSpPr>
        <p:spPr>
          <a:xfrm>
            <a:off x="795528" y="1508760"/>
            <a:ext cx="1929384" cy="246888"/>
          </a:xfrm>
          <a:prstGeom prst="rect">
            <a:avLst/>
          </a:prstGeom>
          <a:noFill/>
          <a:ln/>
        </p:spPr>
        <p:txBody>
          <a:bodyPr wrap="square" lIns="0" tIns="0" rIns="0" bIns="0" rtlCol="0" anchor="ctr"/>
          <a:lstStyle/>
          <a:p>
            <a:pPr marL="0" indent="0">
              <a:buNone/>
            </a:pPr>
            <a:r>
              <a:rPr lang="en-US" sz="1500" b="1" dirty="0">
                <a:solidFill>
                  <a:srgbClr val="20C7E8"/>
                </a:solidFill>
              </a:rPr>
              <a:t>ESP32</a:t>
            </a:r>
            <a:endParaRPr lang="en-US" sz="1500" dirty="0"/>
          </a:p>
        </p:txBody>
      </p:sp>
      <p:sp>
        <p:nvSpPr>
          <p:cNvPr id="6" name="Text 4"/>
          <p:cNvSpPr/>
          <p:nvPr/>
        </p:nvSpPr>
        <p:spPr>
          <a:xfrm>
            <a:off x="795528" y="1920240"/>
            <a:ext cx="1929384" cy="3931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Publication toutes les 5 s</a:t>
            </a:r>
            <a:endParaRPr lang="en-US" sz="1100" dirty="0"/>
          </a:p>
        </p:txBody>
      </p:sp>
      <p:sp>
        <p:nvSpPr>
          <p:cNvPr id="7" name="Shape 5"/>
          <p:cNvSpPr/>
          <p:nvPr/>
        </p:nvSpPr>
        <p:spPr>
          <a:xfrm>
            <a:off x="3154680" y="1325880"/>
            <a:ext cx="2331720" cy="1143000"/>
          </a:xfrm>
          <a:prstGeom prst="roundRect">
            <a:avLst>
              <a:gd name="adj" fmla="val 4800"/>
            </a:avLst>
          </a:prstGeom>
          <a:solidFill>
            <a:srgbClr val="0D1B2A"/>
          </a:solidFill>
          <a:ln w="15240">
            <a:solidFill>
              <a:srgbClr val="19D3C5"/>
            </a:solidFill>
            <a:prstDash val="solid"/>
          </a:ln>
          <a:effectLst>
            <a:outerShdw blurRad="25400" dist="12700" dir="2700000" algn="bl" rotWithShape="0">
              <a:srgbClr val="000000">
                <a:alpha val="18000"/>
              </a:srgbClr>
            </a:outerShdw>
          </a:effectLst>
        </p:spPr>
      </p:sp>
      <p:sp>
        <p:nvSpPr>
          <p:cNvPr id="8" name="Text 6"/>
          <p:cNvSpPr/>
          <p:nvPr/>
        </p:nvSpPr>
        <p:spPr>
          <a:xfrm>
            <a:off x="3355848" y="1508760"/>
            <a:ext cx="1929384" cy="246888"/>
          </a:xfrm>
          <a:prstGeom prst="rect">
            <a:avLst/>
          </a:prstGeom>
          <a:noFill/>
          <a:ln/>
        </p:spPr>
        <p:txBody>
          <a:bodyPr wrap="square" lIns="0" tIns="0" rIns="0" bIns="0" rtlCol="0" anchor="ctr"/>
          <a:lstStyle/>
          <a:p>
            <a:pPr marL="0" indent="0">
              <a:buNone/>
            </a:pPr>
            <a:r>
              <a:rPr lang="en-US" sz="1500" b="1" dirty="0">
                <a:solidFill>
                  <a:srgbClr val="19D3C5"/>
                </a:solidFill>
              </a:rPr>
              <a:t>Broker public</a:t>
            </a:r>
            <a:endParaRPr lang="en-US" sz="1500" dirty="0"/>
          </a:p>
        </p:txBody>
      </p:sp>
      <p:sp>
        <p:nvSpPr>
          <p:cNvPr id="9" name="Text 7"/>
          <p:cNvSpPr/>
          <p:nvPr/>
        </p:nvSpPr>
        <p:spPr>
          <a:xfrm>
            <a:off x="3355848" y="1920240"/>
            <a:ext cx="1929384" cy="3931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broker.hivemq.com:1883</a:t>
            </a:r>
            <a:endParaRPr lang="en-US" sz="1100" dirty="0"/>
          </a:p>
        </p:txBody>
      </p:sp>
      <p:sp>
        <p:nvSpPr>
          <p:cNvPr id="10" name="Shape 8"/>
          <p:cNvSpPr/>
          <p:nvPr/>
        </p:nvSpPr>
        <p:spPr>
          <a:xfrm>
            <a:off x="5715000" y="1325880"/>
            <a:ext cx="2331720" cy="1143000"/>
          </a:xfrm>
          <a:prstGeom prst="roundRect">
            <a:avLst>
              <a:gd name="adj" fmla="val 4800"/>
            </a:avLst>
          </a:prstGeom>
          <a:solidFill>
            <a:srgbClr val="0D1B2A"/>
          </a:solidFill>
          <a:ln w="15240">
            <a:solidFill>
              <a:srgbClr val="FFB547"/>
            </a:solidFill>
            <a:prstDash val="solid"/>
          </a:ln>
          <a:effectLst>
            <a:outerShdw blurRad="25400" dist="12700" dir="2700000" algn="bl" rotWithShape="0">
              <a:srgbClr val="000000">
                <a:alpha val="18000"/>
              </a:srgbClr>
            </a:outerShdw>
          </a:effectLst>
        </p:spPr>
      </p:sp>
      <p:sp>
        <p:nvSpPr>
          <p:cNvPr id="11" name="Text 9"/>
          <p:cNvSpPr/>
          <p:nvPr/>
        </p:nvSpPr>
        <p:spPr>
          <a:xfrm>
            <a:off x="5916168" y="1508760"/>
            <a:ext cx="1929384" cy="246888"/>
          </a:xfrm>
          <a:prstGeom prst="rect">
            <a:avLst/>
          </a:prstGeom>
          <a:noFill/>
          <a:ln/>
        </p:spPr>
        <p:txBody>
          <a:bodyPr wrap="square" lIns="0" tIns="0" rIns="0" bIns="0" rtlCol="0" anchor="ctr"/>
          <a:lstStyle/>
          <a:p>
            <a:pPr marL="0" indent="0">
              <a:buNone/>
            </a:pPr>
            <a:r>
              <a:rPr lang="en-US" sz="1500" b="1" dirty="0">
                <a:solidFill>
                  <a:srgbClr val="FFB547"/>
                </a:solidFill>
              </a:rPr>
              <a:t>Topic</a:t>
            </a:r>
            <a:endParaRPr lang="en-US" sz="1500" dirty="0"/>
          </a:p>
        </p:txBody>
      </p:sp>
      <p:sp>
        <p:nvSpPr>
          <p:cNvPr id="12" name="Text 10"/>
          <p:cNvSpPr/>
          <p:nvPr/>
        </p:nvSpPr>
        <p:spPr>
          <a:xfrm>
            <a:off x="5916168" y="1920240"/>
            <a:ext cx="1929384" cy="3931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iot/sensors</a:t>
            </a:r>
            <a:endParaRPr lang="en-US" sz="1100" dirty="0"/>
          </a:p>
        </p:txBody>
      </p:sp>
      <p:sp>
        <p:nvSpPr>
          <p:cNvPr id="13" name="Shape 11"/>
          <p:cNvSpPr/>
          <p:nvPr/>
        </p:nvSpPr>
        <p:spPr>
          <a:xfrm>
            <a:off x="8275320" y="1325880"/>
            <a:ext cx="2834640" cy="1143000"/>
          </a:xfrm>
          <a:prstGeom prst="roundRect">
            <a:avLst>
              <a:gd name="adj" fmla="val 4800"/>
            </a:avLst>
          </a:prstGeom>
          <a:solidFill>
            <a:srgbClr val="0D1B2A"/>
          </a:solidFill>
          <a:ln w="15240">
            <a:solidFill>
              <a:srgbClr val="3DDC97"/>
            </a:solidFill>
            <a:prstDash val="solid"/>
          </a:ln>
          <a:effectLst>
            <a:outerShdw blurRad="25400" dist="12700" dir="2700000" algn="bl" rotWithShape="0">
              <a:srgbClr val="000000">
                <a:alpha val="18000"/>
              </a:srgbClr>
            </a:outerShdw>
          </a:effectLst>
        </p:spPr>
      </p:sp>
      <p:sp>
        <p:nvSpPr>
          <p:cNvPr id="14" name="Text 12"/>
          <p:cNvSpPr/>
          <p:nvPr/>
        </p:nvSpPr>
        <p:spPr>
          <a:xfrm>
            <a:off x="8476488" y="1508760"/>
            <a:ext cx="2432304" cy="246888"/>
          </a:xfrm>
          <a:prstGeom prst="rect">
            <a:avLst/>
          </a:prstGeom>
          <a:noFill/>
          <a:ln/>
        </p:spPr>
        <p:txBody>
          <a:bodyPr wrap="square" lIns="0" tIns="0" rIns="0" bIns="0" rtlCol="0" anchor="ctr"/>
          <a:lstStyle/>
          <a:p>
            <a:pPr marL="0" indent="0">
              <a:buNone/>
            </a:pPr>
            <a:r>
              <a:rPr lang="en-US" sz="1500" b="1" dirty="0">
                <a:solidFill>
                  <a:srgbClr val="3DDC97"/>
                </a:solidFill>
              </a:rPr>
              <a:t>Consumer</a:t>
            </a:r>
            <a:endParaRPr lang="en-US" sz="1500" dirty="0"/>
          </a:p>
        </p:txBody>
      </p:sp>
      <p:sp>
        <p:nvSpPr>
          <p:cNvPr id="15" name="Text 13"/>
          <p:cNvSpPr/>
          <p:nvPr/>
        </p:nvSpPr>
        <p:spPr>
          <a:xfrm>
            <a:off x="8476488" y="1920240"/>
            <a:ext cx="2432304" cy="3931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Abonnement persistant</a:t>
            </a:r>
            <a:endParaRPr lang="en-US" sz="1100" dirty="0"/>
          </a:p>
        </p:txBody>
      </p:sp>
      <p:sp>
        <p:nvSpPr>
          <p:cNvPr id="16" name="Shape 14"/>
          <p:cNvSpPr/>
          <p:nvPr/>
        </p:nvSpPr>
        <p:spPr>
          <a:xfrm>
            <a:off x="594360" y="2971800"/>
            <a:ext cx="5120640" cy="2560320"/>
          </a:xfrm>
          <a:prstGeom prst="roundRect">
            <a:avLst>
              <a:gd name="adj" fmla="val 1786"/>
            </a:avLst>
          </a:prstGeom>
          <a:solidFill>
            <a:srgbClr val="050D16"/>
          </a:solidFill>
          <a:ln w="12700">
            <a:solidFill>
              <a:srgbClr val="27445D"/>
            </a:solidFill>
            <a:prstDash val="solid"/>
          </a:ln>
        </p:spPr>
      </p:sp>
      <p:sp>
        <p:nvSpPr>
          <p:cNvPr id="17" name="Text 15"/>
          <p:cNvSpPr/>
          <p:nvPr/>
        </p:nvSpPr>
        <p:spPr>
          <a:xfrm>
            <a:off x="914400" y="3273552"/>
            <a:ext cx="4480560" cy="1920240"/>
          </a:xfrm>
          <a:prstGeom prst="rect">
            <a:avLst/>
          </a:prstGeom>
          <a:noFill/>
          <a:ln/>
        </p:spPr>
        <p:txBody>
          <a:bodyPr wrap="square" lIns="0" tIns="0" rIns="0" bIns="0" rtlCol="0" anchor="ctr"/>
          <a:lstStyle/>
          <a:p>
            <a:pPr marL="0" indent="0">
              <a:buNone/>
            </a:pPr>
            <a:r>
              <a:rPr lang="en-US" sz="1300" dirty="0">
                <a:solidFill>
                  <a:srgbClr val="F5F9FC"/>
                </a:solidFill>
                <a:latin typeface="Aptos Mono" pitchFamily="34" charset="0"/>
                <a:ea typeface="Aptos Mono" pitchFamily="34" charset="-122"/>
                <a:cs typeface="Aptos Mono" pitchFamily="34" charset="-120"/>
              </a:rPr>
              <a:t>{</a:t>
            </a:r>
            <a:endParaRPr lang="en-US" sz="1300" dirty="0"/>
          </a:p>
          <a:p>
            <a:pPr marL="0" indent="0">
              <a:buNone/>
            </a:pPr>
            <a:r>
              <a:rPr lang="en-US" sz="1300" dirty="0">
                <a:solidFill>
                  <a:srgbClr val="F5F9FC"/>
                </a:solidFill>
                <a:latin typeface="Aptos Mono" pitchFamily="34" charset="0"/>
                <a:ea typeface="Aptos Mono" pitchFamily="34" charset="-122"/>
                <a:cs typeface="Aptos Mono" pitchFamily="34" charset="-120"/>
              </a:rPr>
              <a:t>  "device_id": "esp32-01",</a:t>
            </a:r>
            <a:endParaRPr lang="en-US" sz="1300" dirty="0"/>
          </a:p>
          <a:p>
            <a:pPr marL="0" indent="0">
              <a:buNone/>
            </a:pPr>
            <a:r>
              <a:rPr lang="en-US" sz="1300" dirty="0">
                <a:solidFill>
                  <a:srgbClr val="F5F9FC"/>
                </a:solidFill>
                <a:latin typeface="Aptos Mono" pitchFamily="34" charset="0"/>
                <a:ea typeface="Aptos Mono" pitchFamily="34" charset="-122"/>
                <a:cs typeface="Aptos Mono" pitchFamily="34" charset="-120"/>
              </a:rPr>
              <a:t>  "temperature": 24.0,</a:t>
            </a:r>
            <a:endParaRPr lang="en-US" sz="1300" dirty="0"/>
          </a:p>
          <a:p>
            <a:pPr marL="0" indent="0">
              <a:buNone/>
            </a:pPr>
            <a:r>
              <a:rPr lang="en-US" sz="1300" dirty="0">
                <a:solidFill>
                  <a:srgbClr val="F5F9FC"/>
                </a:solidFill>
                <a:latin typeface="Aptos Mono" pitchFamily="34" charset="0"/>
                <a:ea typeface="Aptos Mono" pitchFamily="34" charset="-122"/>
                <a:cs typeface="Aptos Mono" pitchFamily="34" charset="-120"/>
              </a:rPr>
              <a:t>  "humidity": 40.0,</a:t>
            </a:r>
            <a:endParaRPr lang="en-US" sz="1300" dirty="0"/>
          </a:p>
          <a:p>
            <a:pPr marL="0" indent="0">
              <a:buNone/>
            </a:pPr>
            <a:r>
              <a:rPr lang="en-US" sz="1300" dirty="0">
                <a:solidFill>
                  <a:srgbClr val="F5F9FC"/>
                </a:solidFill>
                <a:latin typeface="Aptos Mono" pitchFamily="34" charset="0"/>
                <a:ea typeface="Aptos Mono" pitchFamily="34" charset="-122"/>
                <a:cs typeface="Aptos Mono" pitchFamily="34" charset="-120"/>
              </a:rPr>
              <a:t>  "motion": false,</a:t>
            </a:r>
            <a:endParaRPr lang="en-US" sz="1300" dirty="0"/>
          </a:p>
          <a:p>
            <a:pPr marL="0" indent="0">
              <a:buNone/>
            </a:pPr>
            <a:r>
              <a:rPr lang="en-US" sz="1300" dirty="0">
                <a:solidFill>
                  <a:srgbClr val="F5F9FC"/>
                </a:solidFill>
                <a:latin typeface="Aptos Mono" pitchFamily="34" charset="0"/>
                <a:ea typeface="Aptos Mono" pitchFamily="34" charset="-122"/>
                <a:cs typeface="Aptos Mono" pitchFamily="34" charset="-120"/>
              </a:rPr>
              <a:t>  "gas_ppm": 8859.0,</a:t>
            </a:r>
            <a:endParaRPr lang="en-US" sz="1300" dirty="0"/>
          </a:p>
          <a:p>
            <a:pPr marL="0" indent="0">
              <a:buNone/>
            </a:pPr>
            <a:r>
              <a:rPr lang="en-US" sz="1300" dirty="0">
                <a:solidFill>
                  <a:srgbClr val="F5F9FC"/>
                </a:solidFill>
                <a:latin typeface="Aptos Mono" pitchFamily="34" charset="0"/>
                <a:ea typeface="Aptos Mono" pitchFamily="34" charset="-122"/>
                <a:cs typeface="Aptos Mono" pitchFamily="34" charset="-120"/>
              </a:rPr>
              <a:t>  "light": 735</a:t>
            </a:r>
            <a:endParaRPr lang="en-US" sz="1300" dirty="0"/>
          </a:p>
          <a:p>
            <a:pPr marL="0" indent="0">
              <a:buNone/>
            </a:pPr>
            <a:r>
              <a:rPr lang="en-US" sz="1300" dirty="0">
                <a:solidFill>
                  <a:srgbClr val="F5F9FC"/>
                </a:solidFill>
                <a:latin typeface="Aptos Mono" pitchFamily="34" charset="0"/>
                <a:ea typeface="Aptos Mono" pitchFamily="34" charset="-122"/>
                <a:cs typeface="Aptos Mono" pitchFamily="34" charset="-120"/>
              </a:rPr>
              <a:t>}</a:t>
            </a:r>
            <a:endParaRPr lang="en-US" sz="1300" dirty="0"/>
          </a:p>
        </p:txBody>
      </p:sp>
      <p:sp>
        <p:nvSpPr>
          <p:cNvPr id="18" name="Shape 16"/>
          <p:cNvSpPr/>
          <p:nvPr/>
        </p:nvSpPr>
        <p:spPr>
          <a:xfrm>
            <a:off x="6126480" y="2971800"/>
            <a:ext cx="2423160" cy="2560320"/>
          </a:xfrm>
          <a:prstGeom prst="roundRect">
            <a:avLst>
              <a:gd name="adj" fmla="val 2264"/>
            </a:avLst>
          </a:prstGeom>
          <a:solidFill>
            <a:srgbClr val="0D1B2A"/>
          </a:solidFill>
          <a:ln w="15240">
            <a:solidFill>
              <a:srgbClr val="19D3C5"/>
            </a:solidFill>
            <a:prstDash val="solid"/>
          </a:ln>
          <a:effectLst>
            <a:outerShdw blurRad="25400" dist="12700" dir="2700000" algn="bl" rotWithShape="0">
              <a:srgbClr val="000000">
                <a:alpha val="18000"/>
              </a:srgbClr>
            </a:outerShdw>
          </a:effectLst>
        </p:spPr>
      </p:sp>
      <p:sp>
        <p:nvSpPr>
          <p:cNvPr id="19" name="Text 17"/>
          <p:cNvSpPr/>
          <p:nvPr/>
        </p:nvSpPr>
        <p:spPr>
          <a:xfrm>
            <a:off x="6327648" y="3154680"/>
            <a:ext cx="2020824" cy="246888"/>
          </a:xfrm>
          <a:prstGeom prst="rect">
            <a:avLst/>
          </a:prstGeom>
          <a:noFill/>
          <a:ln/>
        </p:spPr>
        <p:txBody>
          <a:bodyPr wrap="square" lIns="0" tIns="0" rIns="0" bIns="0" rtlCol="0" anchor="ctr"/>
          <a:lstStyle/>
          <a:p>
            <a:pPr marL="0" indent="0">
              <a:buNone/>
            </a:pPr>
            <a:r>
              <a:rPr lang="en-US" sz="1500" b="1" dirty="0">
                <a:solidFill>
                  <a:srgbClr val="19D3C5"/>
                </a:solidFill>
              </a:rPr>
              <a:t>Découplage</a:t>
            </a:r>
            <a:endParaRPr lang="en-US" sz="1500" dirty="0"/>
          </a:p>
        </p:txBody>
      </p:sp>
      <p:sp>
        <p:nvSpPr>
          <p:cNvPr id="20" name="Text 18"/>
          <p:cNvSpPr/>
          <p:nvPr/>
        </p:nvSpPr>
        <p:spPr>
          <a:xfrm>
            <a:off x="6327648" y="3566160"/>
            <a:ext cx="2020824" cy="181051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Le firmware ne dépend ni du stockage ni du dashboard.</a:t>
            </a:r>
            <a:endParaRPr lang="en-US" sz="1100" dirty="0"/>
          </a:p>
        </p:txBody>
      </p:sp>
      <p:sp>
        <p:nvSpPr>
          <p:cNvPr id="21" name="Shape 19"/>
          <p:cNvSpPr/>
          <p:nvPr/>
        </p:nvSpPr>
        <p:spPr>
          <a:xfrm>
            <a:off x="8778240" y="2971800"/>
            <a:ext cx="2423160" cy="2560320"/>
          </a:xfrm>
          <a:prstGeom prst="roundRect">
            <a:avLst>
              <a:gd name="adj" fmla="val 2264"/>
            </a:avLst>
          </a:prstGeom>
          <a:solidFill>
            <a:srgbClr val="0D1B2A"/>
          </a:solidFill>
          <a:ln w="15240">
            <a:solidFill>
              <a:srgbClr val="FFB547"/>
            </a:solidFill>
            <a:prstDash val="solid"/>
          </a:ln>
          <a:effectLst>
            <a:outerShdw blurRad="25400" dist="12700" dir="2700000" algn="bl" rotWithShape="0">
              <a:srgbClr val="000000">
                <a:alpha val="18000"/>
              </a:srgbClr>
            </a:outerShdw>
          </a:effectLst>
        </p:spPr>
      </p:sp>
      <p:sp>
        <p:nvSpPr>
          <p:cNvPr id="22" name="Text 20"/>
          <p:cNvSpPr/>
          <p:nvPr/>
        </p:nvSpPr>
        <p:spPr>
          <a:xfrm>
            <a:off x="8979408" y="3154680"/>
            <a:ext cx="2020824" cy="246888"/>
          </a:xfrm>
          <a:prstGeom prst="rect">
            <a:avLst/>
          </a:prstGeom>
          <a:noFill/>
          <a:ln/>
        </p:spPr>
        <p:txBody>
          <a:bodyPr wrap="square" lIns="0" tIns="0" rIns="0" bIns="0" rtlCol="0" anchor="ctr"/>
          <a:lstStyle/>
          <a:p>
            <a:pPr marL="0" indent="0">
              <a:buNone/>
            </a:pPr>
            <a:r>
              <a:rPr lang="en-US" sz="1500" b="1" dirty="0">
                <a:solidFill>
                  <a:srgbClr val="FFB547"/>
                </a:solidFill>
              </a:rPr>
              <a:t>Robustesse</a:t>
            </a:r>
            <a:endParaRPr lang="en-US" sz="1500" dirty="0"/>
          </a:p>
        </p:txBody>
      </p:sp>
      <p:sp>
        <p:nvSpPr>
          <p:cNvPr id="23" name="Text 21"/>
          <p:cNvSpPr/>
          <p:nvPr/>
        </p:nvSpPr>
        <p:spPr>
          <a:xfrm>
            <a:off x="8979408" y="3566160"/>
            <a:ext cx="2020824" cy="181051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Validation JSON, reconnexion et journalisation.</a:t>
            </a:r>
            <a:endParaRPr lang="en-US" sz="1100" dirty="0"/>
          </a:p>
        </p:txBody>
      </p:sp>
      <p:sp>
        <p:nvSpPr>
          <p:cNvPr id="25" name="Slide Number Placeholder 0"/>
          <p:cNvSpPr>
            <a:spLocks noGrp="1"/>
          </p:cNvSpPr>
          <p:nvPr>
            <p:ph type="sldNum" sz="quarter" idx="4294967295"/>
          </p:nvPr>
        </p:nvSpPr>
        <p:spPr>
          <a:xfrm>
            <a:off x="11612880" y="649224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1859A"/>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48640" y="292608"/>
            <a:ext cx="3657600" cy="182880"/>
          </a:xfrm>
          <a:prstGeom prst="rect">
            <a:avLst/>
          </a:prstGeom>
          <a:noFill/>
          <a:ln/>
        </p:spPr>
        <p:txBody>
          <a:bodyPr wrap="square" lIns="0" tIns="0" rIns="0" bIns="0" rtlCol="0" anchor="ctr"/>
          <a:lstStyle/>
          <a:p>
            <a:pPr marL="0" indent="0">
              <a:buNone/>
            </a:pPr>
            <a:r>
              <a:rPr lang="en-US" sz="900" b="1" kern="0" spc="160" dirty="0">
                <a:solidFill>
                  <a:srgbClr val="19D3C5"/>
                </a:solidFill>
              </a:rPr>
              <a:t>05 • TRAITEMENT</a:t>
            </a:r>
            <a:endParaRPr lang="en-US" sz="900" dirty="0"/>
          </a:p>
        </p:txBody>
      </p:sp>
      <p:sp>
        <p:nvSpPr>
          <p:cNvPr id="3" name="Text 1"/>
          <p:cNvSpPr/>
          <p:nvPr/>
        </p:nvSpPr>
        <p:spPr>
          <a:xfrm>
            <a:off x="548640" y="621792"/>
            <a:ext cx="10972800" cy="438912"/>
          </a:xfrm>
          <a:prstGeom prst="rect">
            <a:avLst/>
          </a:prstGeom>
          <a:noFill/>
          <a:ln/>
        </p:spPr>
        <p:txBody>
          <a:bodyPr wrap="square" lIns="0" tIns="0" rIns="0" bIns="0" rtlCol="0" anchor="ctr"/>
          <a:lstStyle/>
          <a:p>
            <a:pPr marL="0" indent="0">
              <a:buNone/>
            </a:pPr>
            <a:r>
              <a:rPr lang="en-US" sz="2700" b="1" dirty="0">
                <a:solidFill>
                  <a:srgbClr val="F5F9FC"/>
                </a:solidFill>
              </a:rPr>
              <a:t>Détection d’anomalies et alerting</a:t>
            </a:r>
            <a:endParaRPr lang="en-US" sz="2700" dirty="0"/>
          </a:p>
        </p:txBody>
      </p:sp>
      <p:sp>
        <p:nvSpPr>
          <p:cNvPr id="4" name="Shape 2"/>
          <p:cNvSpPr/>
          <p:nvPr/>
        </p:nvSpPr>
        <p:spPr>
          <a:xfrm>
            <a:off x="685800" y="1371600"/>
            <a:ext cx="2286000" cy="1325880"/>
          </a:xfrm>
          <a:prstGeom prst="roundRect">
            <a:avLst>
              <a:gd name="adj" fmla="val 4138"/>
            </a:avLst>
          </a:prstGeom>
          <a:solidFill>
            <a:srgbClr val="0D1B2A"/>
          </a:solidFill>
          <a:ln w="15240">
            <a:solidFill>
              <a:srgbClr val="FF6262"/>
            </a:solidFill>
            <a:prstDash val="solid"/>
          </a:ln>
          <a:effectLst>
            <a:outerShdw blurRad="25400" dist="12700" dir="2700000" algn="bl" rotWithShape="0">
              <a:srgbClr val="000000">
                <a:alpha val="18000"/>
              </a:srgbClr>
            </a:outerShdw>
          </a:effectLst>
        </p:spPr>
      </p:sp>
      <p:sp>
        <p:nvSpPr>
          <p:cNvPr id="5" name="Text 3"/>
          <p:cNvSpPr/>
          <p:nvPr/>
        </p:nvSpPr>
        <p:spPr>
          <a:xfrm>
            <a:off x="886968" y="1554480"/>
            <a:ext cx="1883664" cy="246888"/>
          </a:xfrm>
          <a:prstGeom prst="rect">
            <a:avLst/>
          </a:prstGeom>
          <a:noFill/>
          <a:ln/>
        </p:spPr>
        <p:txBody>
          <a:bodyPr wrap="square" lIns="0" tIns="0" rIns="0" bIns="0" rtlCol="0" anchor="ctr"/>
          <a:lstStyle/>
          <a:p>
            <a:pPr marL="0" indent="0">
              <a:buNone/>
            </a:pPr>
            <a:r>
              <a:rPr lang="en-US" sz="1500" b="1" dirty="0">
                <a:solidFill>
                  <a:srgbClr val="FF6262"/>
                </a:solidFill>
              </a:rPr>
              <a:t>Température</a:t>
            </a:r>
            <a:endParaRPr lang="en-US" sz="1500" dirty="0"/>
          </a:p>
        </p:txBody>
      </p:sp>
      <p:sp>
        <p:nvSpPr>
          <p:cNvPr id="6" name="Text 4"/>
          <p:cNvSpPr/>
          <p:nvPr/>
        </p:nvSpPr>
        <p:spPr>
          <a:xfrm>
            <a:off x="886968" y="1965960"/>
            <a:ext cx="1883664" cy="57607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&gt; 35 °C</a:t>
            </a:r>
            <a:endParaRPr lang="en-US" sz="1100" dirty="0"/>
          </a:p>
        </p:txBody>
      </p:sp>
      <p:sp>
        <p:nvSpPr>
          <p:cNvPr id="7" name="Shape 5"/>
          <p:cNvSpPr/>
          <p:nvPr/>
        </p:nvSpPr>
        <p:spPr>
          <a:xfrm>
            <a:off x="3246120" y="1371600"/>
            <a:ext cx="2286000" cy="1325880"/>
          </a:xfrm>
          <a:prstGeom prst="roundRect">
            <a:avLst>
              <a:gd name="adj" fmla="val 4138"/>
            </a:avLst>
          </a:prstGeom>
          <a:solidFill>
            <a:srgbClr val="0D1B2A"/>
          </a:solidFill>
          <a:ln w="15240">
            <a:solidFill>
              <a:srgbClr val="20C7E8"/>
            </a:solidFill>
            <a:prstDash val="solid"/>
          </a:ln>
          <a:effectLst>
            <a:outerShdw blurRad="25400" dist="12700" dir="2700000" algn="bl" rotWithShape="0">
              <a:srgbClr val="000000">
                <a:alpha val="18000"/>
              </a:srgbClr>
            </a:outerShdw>
          </a:effectLst>
        </p:spPr>
      </p:sp>
      <p:sp>
        <p:nvSpPr>
          <p:cNvPr id="8" name="Text 6"/>
          <p:cNvSpPr/>
          <p:nvPr/>
        </p:nvSpPr>
        <p:spPr>
          <a:xfrm>
            <a:off x="3447288" y="1554480"/>
            <a:ext cx="1883664" cy="246888"/>
          </a:xfrm>
          <a:prstGeom prst="rect">
            <a:avLst/>
          </a:prstGeom>
          <a:noFill/>
          <a:ln/>
        </p:spPr>
        <p:txBody>
          <a:bodyPr wrap="square" lIns="0" tIns="0" rIns="0" bIns="0" rtlCol="0" anchor="ctr"/>
          <a:lstStyle/>
          <a:p>
            <a:pPr marL="0" indent="0">
              <a:buNone/>
            </a:pPr>
            <a:r>
              <a:rPr lang="en-US" sz="1500" b="1" dirty="0">
                <a:solidFill>
                  <a:srgbClr val="20C7E8"/>
                </a:solidFill>
              </a:rPr>
              <a:t>Humidité</a:t>
            </a:r>
            <a:endParaRPr lang="en-US" sz="1500" dirty="0"/>
          </a:p>
        </p:txBody>
      </p:sp>
      <p:sp>
        <p:nvSpPr>
          <p:cNvPr id="9" name="Text 7"/>
          <p:cNvSpPr/>
          <p:nvPr/>
        </p:nvSpPr>
        <p:spPr>
          <a:xfrm>
            <a:off x="3447288" y="1965960"/>
            <a:ext cx="1883664" cy="57607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&gt; 80 %</a:t>
            </a:r>
            <a:endParaRPr lang="en-US" sz="1100" dirty="0"/>
          </a:p>
        </p:txBody>
      </p:sp>
      <p:sp>
        <p:nvSpPr>
          <p:cNvPr id="10" name="Shape 8"/>
          <p:cNvSpPr/>
          <p:nvPr/>
        </p:nvSpPr>
        <p:spPr>
          <a:xfrm>
            <a:off x="5806440" y="1371600"/>
            <a:ext cx="2286000" cy="1325880"/>
          </a:xfrm>
          <a:prstGeom prst="roundRect">
            <a:avLst>
              <a:gd name="adj" fmla="val 4138"/>
            </a:avLst>
          </a:prstGeom>
          <a:solidFill>
            <a:srgbClr val="0D1B2A"/>
          </a:solidFill>
          <a:ln w="15240">
            <a:solidFill>
              <a:srgbClr val="FFB547"/>
            </a:solidFill>
            <a:prstDash val="solid"/>
          </a:ln>
          <a:effectLst>
            <a:outerShdw blurRad="25400" dist="12700" dir="2700000" algn="bl" rotWithShape="0">
              <a:srgbClr val="000000">
                <a:alpha val="18000"/>
              </a:srgbClr>
            </a:outerShdw>
          </a:effectLst>
        </p:spPr>
      </p:sp>
      <p:sp>
        <p:nvSpPr>
          <p:cNvPr id="11" name="Text 9"/>
          <p:cNvSpPr/>
          <p:nvPr/>
        </p:nvSpPr>
        <p:spPr>
          <a:xfrm>
            <a:off x="6007608" y="1554480"/>
            <a:ext cx="1883664" cy="246888"/>
          </a:xfrm>
          <a:prstGeom prst="rect">
            <a:avLst/>
          </a:prstGeom>
          <a:noFill/>
          <a:ln/>
        </p:spPr>
        <p:txBody>
          <a:bodyPr wrap="square" lIns="0" tIns="0" rIns="0" bIns="0" rtlCol="0" anchor="ctr"/>
          <a:lstStyle/>
          <a:p>
            <a:pPr marL="0" indent="0">
              <a:buNone/>
            </a:pPr>
            <a:r>
              <a:rPr lang="en-US" sz="1500" b="1" dirty="0">
                <a:solidFill>
                  <a:srgbClr val="FFB547"/>
                </a:solidFill>
              </a:rPr>
              <a:t>Gaz</a:t>
            </a:r>
            <a:endParaRPr lang="en-US" sz="1500" dirty="0"/>
          </a:p>
        </p:txBody>
      </p:sp>
      <p:sp>
        <p:nvSpPr>
          <p:cNvPr id="12" name="Text 10"/>
          <p:cNvSpPr/>
          <p:nvPr/>
        </p:nvSpPr>
        <p:spPr>
          <a:xfrm>
            <a:off x="6007608" y="1965960"/>
            <a:ext cx="1883664" cy="57607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&gt; 1000 ppm</a:t>
            </a:r>
            <a:endParaRPr lang="en-US" sz="1100" dirty="0"/>
          </a:p>
        </p:txBody>
      </p:sp>
      <p:sp>
        <p:nvSpPr>
          <p:cNvPr id="13" name="Shape 11"/>
          <p:cNvSpPr/>
          <p:nvPr/>
        </p:nvSpPr>
        <p:spPr>
          <a:xfrm>
            <a:off x="8503920" y="1371600"/>
            <a:ext cx="2971800" cy="1325880"/>
          </a:xfrm>
          <a:prstGeom prst="roundRect">
            <a:avLst>
              <a:gd name="adj" fmla="val 4138"/>
            </a:avLst>
          </a:prstGeom>
          <a:solidFill>
            <a:srgbClr val="0D1B2A"/>
          </a:solidFill>
          <a:ln w="15240">
            <a:solidFill>
              <a:srgbClr val="3DDC97"/>
            </a:solidFill>
            <a:prstDash val="solid"/>
          </a:ln>
          <a:effectLst>
            <a:outerShdw blurRad="25400" dist="12700" dir="2700000" algn="bl" rotWithShape="0">
              <a:srgbClr val="000000">
                <a:alpha val="18000"/>
              </a:srgbClr>
            </a:outerShdw>
          </a:effectLst>
        </p:spPr>
      </p:sp>
      <p:sp>
        <p:nvSpPr>
          <p:cNvPr id="14" name="Text 12"/>
          <p:cNvSpPr/>
          <p:nvPr/>
        </p:nvSpPr>
        <p:spPr>
          <a:xfrm>
            <a:off x="8705088" y="1554480"/>
            <a:ext cx="2569464" cy="246888"/>
          </a:xfrm>
          <a:prstGeom prst="rect">
            <a:avLst/>
          </a:prstGeom>
          <a:noFill/>
          <a:ln/>
        </p:spPr>
        <p:txBody>
          <a:bodyPr wrap="square" lIns="0" tIns="0" rIns="0" bIns="0" rtlCol="0" anchor="ctr"/>
          <a:lstStyle/>
          <a:p>
            <a:pPr marL="0" indent="0">
              <a:buNone/>
            </a:pPr>
            <a:r>
              <a:rPr lang="en-US" sz="1500" b="1" dirty="0">
                <a:solidFill>
                  <a:srgbClr val="3DDC97"/>
                </a:solidFill>
              </a:rPr>
              <a:t>Configuration</a:t>
            </a:r>
            <a:endParaRPr lang="en-US" sz="1500" dirty="0"/>
          </a:p>
        </p:txBody>
      </p:sp>
      <p:sp>
        <p:nvSpPr>
          <p:cNvPr id="15" name="Text 13"/>
          <p:cNvSpPr/>
          <p:nvPr/>
        </p:nvSpPr>
        <p:spPr>
          <a:xfrm>
            <a:off x="8705088" y="1965960"/>
            <a:ext cx="2569464" cy="57607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Seuils via variables d’environnement</a:t>
            </a:r>
            <a:endParaRPr lang="en-US" sz="1100" dirty="0"/>
          </a:p>
        </p:txBody>
      </p:sp>
      <p:pic>
        <p:nvPicPr>
          <p:cNvPr id="16" name="Image 0" descr="/mnt/data/Image (9).jpg"/>
          <p:cNvPicPr>
            <a:picLocks noChangeAspect="1"/>
          </p:cNvPicPr>
          <p:nvPr/>
        </p:nvPicPr>
        <p:blipFill>
          <a:blip r:embed="rId3"/>
          <a:stretch>
            <a:fillRect/>
          </a:stretch>
        </p:blipFill>
        <p:spPr>
          <a:xfrm>
            <a:off x="731520" y="3596967"/>
            <a:ext cx="5669280" cy="1081386"/>
          </a:xfrm>
          <a:prstGeom prst="rect">
            <a:avLst/>
          </a:prstGeom>
        </p:spPr>
      </p:pic>
      <p:sp>
        <p:nvSpPr>
          <p:cNvPr id="17" name="Shape 14"/>
          <p:cNvSpPr/>
          <p:nvPr/>
        </p:nvSpPr>
        <p:spPr>
          <a:xfrm>
            <a:off x="6720840" y="3200400"/>
            <a:ext cx="4754880" cy="1874520"/>
          </a:xfrm>
          <a:prstGeom prst="roundRect">
            <a:avLst>
              <a:gd name="adj" fmla="val 2927"/>
            </a:avLst>
          </a:prstGeom>
          <a:solidFill>
            <a:srgbClr val="0D1B2A"/>
          </a:solidFill>
          <a:ln w="15240">
            <a:solidFill>
              <a:srgbClr val="FFB547"/>
            </a:solidFill>
            <a:prstDash val="solid"/>
          </a:ln>
          <a:effectLst>
            <a:outerShdw blurRad="25400" dist="12700" dir="2700000" algn="bl" rotWithShape="0">
              <a:srgbClr val="000000">
                <a:alpha val="18000"/>
              </a:srgbClr>
            </a:outerShdw>
          </a:effectLst>
        </p:spPr>
      </p:sp>
      <p:sp>
        <p:nvSpPr>
          <p:cNvPr id="18" name="Text 15"/>
          <p:cNvSpPr/>
          <p:nvPr/>
        </p:nvSpPr>
        <p:spPr>
          <a:xfrm>
            <a:off x="6922008" y="3383280"/>
            <a:ext cx="4352544" cy="246888"/>
          </a:xfrm>
          <a:prstGeom prst="rect">
            <a:avLst/>
          </a:prstGeom>
          <a:noFill/>
          <a:ln/>
        </p:spPr>
        <p:txBody>
          <a:bodyPr wrap="square" lIns="0" tIns="0" rIns="0" bIns="0" rtlCol="0" anchor="ctr"/>
          <a:lstStyle/>
          <a:p>
            <a:pPr marL="0" indent="0">
              <a:buNone/>
            </a:pPr>
            <a:r>
              <a:rPr lang="en-US" sz="1500" b="1" dirty="0">
                <a:solidFill>
                  <a:srgbClr val="FFB547"/>
                </a:solidFill>
              </a:rPr>
              <a:t>Preuve observée</a:t>
            </a:r>
            <a:endParaRPr lang="en-US" sz="1500" dirty="0"/>
          </a:p>
        </p:txBody>
      </p:sp>
      <p:sp>
        <p:nvSpPr>
          <p:cNvPr id="19" name="Text 16"/>
          <p:cNvSpPr/>
          <p:nvPr/>
        </p:nvSpPr>
        <p:spPr>
          <a:xfrm>
            <a:off x="6922008" y="3794760"/>
            <a:ext cx="4352544" cy="112471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gas_ppm = 8859.0</a:t>
            </a:r>
            <a:endParaRPr lang="en-US" sz="1100" dirty="0"/>
          </a:p>
          <a:p>
            <a:pPr marL="0" indent="0">
              <a:buNone/>
            </a:pPr>
            <a:r>
              <a:rPr lang="en-US" sz="1100" dirty="0">
                <a:solidFill>
                  <a:srgbClr val="A5B7C8"/>
                </a:solidFill>
              </a:rPr>
              <a:t>anomaly = True</a:t>
            </a:r>
            <a:endParaRPr lang="en-US" sz="1100" dirty="0"/>
          </a:p>
          <a:p>
            <a:pPr marL="0" indent="0">
              <a:buNone/>
            </a:pPr>
            <a:r>
              <a:rPr lang="en-US" sz="1100" dirty="0">
                <a:solidFill>
                  <a:srgbClr val="A5B7C8"/>
                </a:solidFill>
              </a:rPr>
              <a:t>POST Elasticsearch : status 201</a:t>
            </a:r>
            <a:endParaRPr lang="en-US" sz="1100" dirty="0"/>
          </a:p>
          <a:p>
            <a:pPr marL="0" indent="0">
              <a:buNone/>
            </a:pPr>
            <a:endParaRPr lang="en-US" sz="1100" dirty="0"/>
          </a:p>
          <a:p>
            <a:pPr marL="0" indent="0">
              <a:buNone/>
            </a:pPr>
            <a:r>
              <a:rPr lang="en-US" sz="1100" dirty="0">
                <a:solidFill>
                  <a:srgbClr val="A5B7C8"/>
                </a:solidFill>
              </a:rPr>
              <a:t>Un cooldown limite les notifications répétées.</a:t>
            </a:r>
            <a:endParaRPr lang="en-US" sz="1100" dirty="0"/>
          </a:p>
        </p:txBody>
      </p:sp>
      <p:sp>
        <p:nvSpPr>
          <p:cNvPr id="25" name="Slide Number Placeholder 0"/>
          <p:cNvSpPr>
            <a:spLocks noGrp="1"/>
          </p:cNvSpPr>
          <p:nvPr>
            <p:ph type="sldNum" sz="quarter" idx="4294967295"/>
          </p:nvPr>
        </p:nvSpPr>
        <p:spPr>
          <a:xfrm>
            <a:off x="11612880" y="649224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1859A"/>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48640" y="292608"/>
            <a:ext cx="3657600" cy="182880"/>
          </a:xfrm>
          <a:prstGeom prst="rect">
            <a:avLst/>
          </a:prstGeom>
          <a:noFill/>
          <a:ln/>
        </p:spPr>
        <p:txBody>
          <a:bodyPr wrap="square" lIns="0" tIns="0" rIns="0" bIns="0" rtlCol="0" anchor="ctr"/>
          <a:lstStyle/>
          <a:p>
            <a:pPr marL="0" indent="0">
              <a:buNone/>
            </a:pPr>
            <a:r>
              <a:rPr lang="en-US" sz="900" b="1" kern="0" spc="160" dirty="0">
                <a:solidFill>
                  <a:srgbClr val="19D3C5"/>
                </a:solidFill>
              </a:rPr>
              <a:t>06 • DATA &amp; API</a:t>
            </a:r>
            <a:endParaRPr lang="en-US" sz="900" dirty="0"/>
          </a:p>
        </p:txBody>
      </p:sp>
      <p:sp>
        <p:nvSpPr>
          <p:cNvPr id="3" name="Text 1"/>
          <p:cNvSpPr/>
          <p:nvPr/>
        </p:nvSpPr>
        <p:spPr>
          <a:xfrm>
            <a:off x="548640" y="621792"/>
            <a:ext cx="10972800" cy="438912"/>
          </a:xfrm>
          <a:prstGeom prst="rect">
            <a:avLst/>
          </a:prstGeom>
          <a:noFill/>
          <a:ln/>
        </p:spPr>
        <p:txBody>
          <a:bodyPr wrap="square" lIns="0" tIns="0" rIns="0" bIns="0" rtlCol="0" anchor="ctr"/>
          <a:lstStyle/>
          <a:p>
            <a:pPr marL="0" indent="0">
              <a:buNone/>
            </a:pPr>
            <a:r>
              <a:rPr lang="en-US" sz="2700" b="1" dirty="0">
                <a:solidFill>
                  <a:srgbClr val="F5F9FC"/>
                </a:solidFill>
              </a:rPr>
              <a:t>Stockage Elasticsearch et API FastAPI</a:t>
            </a:r>
            <a:endParaRPr lang="en-US" sz="2700" dirty="0"/>
          </a:p>
        </p:txBody>
      </p:sp>
      <p:sp>
        <p:nvSpPr>
          <p:cNvPr id="4" name="Shape 2"/>
          <p:cNvSpPr/>
          <p:nvPr/>
        </p:nvSpPr>
        <p:spPr>
          <a:xfrm>
            <a:off x="594360" y="1280160"/>
            <a:ext cx="3749040" cy="4480560"/>
          </a:xfrm>
          <a:prstGeom prst="roundRect">
            <a:avLst>
              <a:gd name="adj" fmla="val 1463"/>
            </a:avLst>
          </a:prstGeom>
          <a:solidFill>
            <a:srgbClr val="0D1B2A"/>
          </a:solidFill>
          <a:ln w="15240">
            <a:solidFill>
              <a:srgbClr val="20C7E8"/>
            </a:solidFill>
            <a:prstDash val="solid"/>
          </a:ln>
          <a:effectLst>
            <a:outerShdw blurRad="25400" dist="12700" dir="2700000" algn="bl" rotWithShape="0">
              <a:srgbClr val="000000">
                <a:alpha val="18000"/>
              </a:srgbClr>
            </a:outerShdw>
          </a:effectLst>
        </p:spPr>
      </p:sp>
      <p:sp>
        <p:nvSpPr>
          <p:cNvPr id="5" name="Text 3"/>
          <p:cNvSpPr/>
          <p:nvPr/>
        </p:nvSpPr>
        <p:spPr>
          <a:xfrm>
            <a:off x="795528" y="1463040"/>
            <a:ext cx="3346704" cy="246888"/>
          </a:xfrm>
          <a:prstGeom prst="rect">
            <a:avLst/>
          </a:prstGeom>
          <a:noFill/>
          <a:ln/>
        </p:spPr>
        <p:txBody>
          <a:bodyPr wrap="square" lIns="0" tIns="0" rIns="0" bIns="0" rtlCol="0" anchor="ctr"/>
          <a:lstStyle/>
          <a:p>
            <a:pPr marL="0" indent="0">
              <a:buNone/>
            </a:pPr>
            <a:r>
              <a:rPr lang="en-US" sz="1500" b="1" dirty="0">
                <a:solidFill>
                  <a:srgbClr val="20C7E8"/>
                </a:solidFill>
              </a:rPr>
              <a:t>Document indexé</a:t>
            </a:r>
            <a:endParaRPr lang="en-US" sz="1500" dirty="0"/>
          </a:p>
        </p:txBody>
      </p:sp>
      <p:sp>
        <p:nvSpPr>
          <p:cNvPr id="6" name="Text 4"/>
          <p:cNvSpPr/>
          <p:nvPr/>
        </p:nvSpPr>
        <p:spPr>
          <a:xfrm>
            <a:off x="795528" y="1874520"/>
            <a:ext cx="3346704" cy="373075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@timestamp</a:t>
            </a:r>
            <a:endParaRPr lang="en-US" sz="1100" dirty="0"/>
          </a:p>
          <a:p>
            <a:pPr marL="0" indent="0">
              <a:buNone/>
            </a:pPr>
            <a:r>
              <a:rPr lang="en-US" sz="1100" dirty="0">
                <a:solidFill>
                  <a:srgbClr val="A5B7C8"/>
                </a:solidFill>
              </a:rPr>
              <a:t>device_id</a:t>
            </a:r>
            <a:endParaRPr lang="en-US" sz="1100" dirty="0"/>
          </a:p>
          <a:p>
            <a:pPr marL="0" indent="0">
              <a:buNone/>
            </a:pPr>
            <a:r>
              <a:rPr lang="en-US" sz="1100" dirty="0">
                <a:solidFill>
                  <a:srgbClr val="A5B7C8"/>
                </a:solidFill>
              </a:rPr>
              <a:t>temperature / humidity</a:t>
            </a:r>
            <a:endParaRPr lang="en-US" sz="1100" dirty="0"/>
          </a:p>
          <a:p>
            <a:pPr marL="0" indent="0">
              <a:buNone/>
            </a:pPr>
            <a:r>
              <a:rPr lang="en-US" sz="1100" dirty="0">
                <a:solidFill>
                  <a:srgbClr val="A5B7C8"/>
                </a:solidFill>
              </a:rPr>
              <a:t>gas_ppm / light / motion</a:t>
            </a:r>
            <a:endParaRPr lang="en-US" sz="1100" dirty="0"/>
          </a:p>
          <a:p>
            <a:pPr marL="0" indent="0">
              <a:buNone/>
            </a:pPr>
            <a:r>
              <a:rPr lang="en-US" sz="1100" dirty="0">
                <a:solidFill>
                  <a:srgbClr val="A5B7C8"/>
                </a:solidFill>
              </a:rPr>
              <a:t>anomaly / anomaly_types</a:t>
            </a:r>
            <a:endParaRPr lang="en-US" sz="1100" dirty="0"/>
          </a:p>
          <a:p>
            <a:pPr marL="0" indent="0">
              <a:buNone/>
            </a:pPr>
            <a:endParaRPr lang="en-US" sz="1100" dirty="0"/>
          </a:p>
          <a:p>
            <a:pPr marL="0" indent="0">
              <a:buNone/>
            </a:pPr>
            <a:r>
              <a:rPr lang="en-US" sz="1100" dirty="0">
                <a:solidFill>
                  <a:srgbClr val="A5B7C8"/>
                </a:solidFill>
              </a:rPr>
              <a:t>Mapping explicite pour les filtres et agrégations.</a:t>
            </a:r>
            <a:endParaRPr lang="en-US" sz="1100" dirty="0"/>
          </a:p>
        </p:txBody>
      </p:sp>
      <p:pic>
        <p:nvPicPr>
          <p:cNvPr id="7" name="Image 0" descr="/mnt/data/Image (6).jpg"/>
          <p:cNvPicPr>
            <a:picLocks noChangeAspect="1"/>
          </p:cNvPicPr>
          <p:nvPr/>
        </p:nvPicPr>
        <p:blipFill>
          <a:blip r:embed="rId3"/>
          <a:srcRect t="18517" b="18517"/>
          <a:stretch/>
        </p:blipFill>
        <p:spPr>
          <a:xfrm>
            <a:off x="4617720" y="1280160"/>
            <a:ext cx="6949440" cy="2103120"/>
          </a:xfrm>
          <a:prstGeom prst="rect">
            <a:avLst/>
          </a:prstGeom>
        </p:spPr>
      </p:pic>
      <p:pic>
        <p:nvPicPr>
          <p:cNvPr id="8" name="Image 1" descr="/mnt/data/Image (5).jpg"/>
          <p:cNvPicPr>
            <a:picLocks noChangeAspect="1"/>
          </p:cNvPicPr>
          <p:nvPr/>
        </p:nvPicPr>
        <p:blipFill>
          <a:blip r:embed="rId4"/>
          <a:srcRect t="7376" b="7376"/>
          <a:stretch/>
        </p:blipFill>
        <p:spPr>
          <a:xfrm>
            <a:off x="4617720" y="3611880"/>
            <a:ext cx="6949440" cy="2103120"/>
          </a:xfrm>
          <a:prstGeom prst="rect">
            <a:avLst/>
          </a:prstGeom>
        </p:spPr>
      </p:pic>
      <p:sp>
        <p:nvSpPr>
          <p:cNvPr id="9" name="Text 5"/>
          <p:cNvSpPr/>
          <p:nvPr/>
        </p:nvSpPr>
        <p:spPr>
          <a:xfrm>
            <a:off x="5669280" y="5824728"/>
            <a:ext cx="4937760" cy="228600"/>
          </a:xfrm>
          <a:prstGeom prst="rect">
            <a:avLst/>
          </a:prstGeom>
          <a:noFill/>
          <a:ln/>
        </p:spPr>
        <p:txBody>
          <a:bodyPr wrap="square" lIns="0" tIns="0" rIns="0" bIns="0" rtlCol="0" anchor="ctr"/>
          <a:lstStyle/>
          <a:p>
            <a:pPr marL="0" indent="0" algn="ctr">
              <a:buNone/>
            </a:pPr>
            <a:r>
              <a:rPr lang="en-US" sz="1150" b="1" dirty="0">
                <a:solidFill>
                  <a:srgbClr val="3DDC97"/>
                </a:solidFill>
              </a:rPr>
              <a:t>Swagger UI • Réponse HTTP 200 • anomaly_count = 50</a:t>
            </a:r>
            <a:endParaRPr lang="en-US" sz="1150" dirty="0"/>
          </a:p>
        </p:txBody>
      </p:sp>
      <p:sp>
        <p:nvSpPr>
          <p:cNvPr id="25" name="Slide Number Placeholder 0"/>
          <p:cNvSpPr>
            <a:spLocks noGrp="1"/>
          </p:cNvSpPr>
          <p:nvPr>
            <p:ph type="sldNum" sz="quarter" idx="4294967295"/>
          </p:nvPr>
        </p:nvSpPr>
        <p:spPr>
          <a:xfrm>
            <a:off x="11612880" y="649224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1859A"/>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48640" y="292608"/>
            <a:ext cx="3657600" cy="182880"/>
          </a:xfrm>
          <a:prstGeom prst="rect">
            <a:avLst/>
          </a:prstGeom>
          <a:noFill/>
          <a:ln/>
        </p:spPr>
        <p:txBody>
          <a:bodyPr wrap="square" lIns="0" tIns="0" rIns="0" bIns="0" rtlCol="0" anchor="ctr"/>
          <a:lstStyle/>
          <a:p>
            <a:pPr marL="0" indent="0">
              <a:buNone/>
            </a:pPr>
            <a:r>
              <a:rPr lang="en-US" sz="900" b="1" kern="0" spc="160" dirty="0">
                <a:solidFill>
                  <a:srgbClr val="19D3C5"/>
                </a:solidFill>
              </a:rPr>
              <a:t>07 • VISUALISATION</a:t>
            </a:r>
            <a:endParaRPr lang="en-US" sz="900" dirty="0"/>
          </a:p>
        </p:txBody>
      </p:sp>
      <p:sp>
        <p:nvSpPr>
          <p:cNvPr id="3" name="Text 1"/>
          <p:cNvSpPr/>
          <p:nvPr/>
        </p:nvSpPr>
        <p:spPr>
          <a:xfrm>
            <a:off x="548640" y="621792"/>
            <a:ext cx="10972800" cy="438912"/>
          </a:xfrm>
          <a:prstGeom prst="rect">
            <a:avLst/>
          </a:prstGeom>
          <a:noFill/>
          <a:ln/>
        </p:spPr>
        <p:txBody>
          <a:bodyPr wrap="square" lIns="0" tIns="0" rIns="0" bIns="0" rtlCol="0" anchor="ctr"/>
          <a:lstStyle/>
          <a:p>
            <a:pPr marL="0" indent="0">
              <a:buNone/>
            </a:pPr>
            <a:r>
              <a:rPr lang="en-US" sz="2700" b="1" dirty="0">
                <a:solidFill>
                  <a:srgbClr val="F5F9FC"/>
                </a:solidFill>
              </a:rPr>
              <a:t>Kibana : supervision et historique</a:t>
            </a:r>
            <a:endParaRPr lang="en-US" sz="2700" dirty="0"/>
          </a:p>
        </p:txBody>
      </p:sp>
      <p:pic>
        <p:nvPicPr>
          <p:cNvPr id="4" name="Image 0" descr="/mnt/data/944ad86330.png"/>
          <p:cNvPicPr>
            <a:picLocks noChangeAspect="1"/>
          </p:cNvPicPr>
          <p:nvPr/>
        </p:nvPicPr>
        <p:blipFill>
          <a:blip r:embed="rId3"/>
          <a:srcRect t="1067" b="1067"/>
          <a:stretch/>
        </p:blipFill>
        <p:spPr>
          <a:xfrm>
            <a:off x="548640" y="1234440"/>
            <a:ext cx="7498080" cy="4892040"/>
          </a:xfrm>
          <a:prstGeom prst="rect">
            <a:avLst/>
          </a:prstGeom>
        </p:spPr>
      </p:pic>
      <p:sp>
        <p:nvSpPr>
          <p:cNvPr id="5" name="Shape 2"/>
          <p:cNvSpPr/>
          <p:nvPr/>
        </p:nvSpPr>
        <p:spPr>
          <a:xfrm>
            <a:off x="8321040" y="1234440"/>
            <a:ext cx="3246120" cy="1280160"/>
          </a:xfrm>
          <a:prstGeom prst="roundRect">
            <a:avLst>
              <a:gd name="adj" fmla="val 4286"/>
            </a:avLst>
          </a:prstGeom>
          <a:solidFill>
            <a:srgbClr val="0D1B2A"/>
          </a:solidFill>
          <a:ln w="15240">
            <a:solidFill>
              <a:srgbClr val="20C7E8"/>
            </a:solidFill>
            <a:prstDash val="solid"/>
          </a:ln>
          <a:effectLst>
            <a:outerShdw blurRad="25400" dist="12700" dir="2700000" algn="bl" rotWithShape="0">
              <a:srgbClr val="000000">
                <a:alpha val="18000"/>
              </a:srgbClr>
            </a:outerShdw>
          </a:effectLst>
        </p:spPr>
      </p:sp>
      <p:sp>
        <p:nvSpPr>
          <p:cNvPr id="6" name="Text 3"/>
          <p:cNvSpPr/>
          <p:nvPr/>
        </p:nvSpPr>
        <p:spPr>
          <a:xfrm>
            <a:off x="8522208" y="1417320"/>
            <a:ext cx="2843784" cy="246888"/>
          </a:xfrm>
          <a:prstGeom prst="rect">
            <a:avLst/>
          </a:prstGeom>
          <a:noFill/>
          <a:ln/>
        </p:spPr>
        <p:txBody>
          <a:bodyPr wrap="square" lIns="0" tIns="0" rIns="0" bIns="0" rtlCol="0" anchor="ctr"/>
          <a:lstStyle/>
          <a:p>
            <a:pPr marL="0" indent="0">
              <a:buNone/>
            </a:pPr>
            <a:r>
              <a:rPr lang="en-US" sz="1500" b="1" dirty="0">
                <a:solidFill>
                  <a:srgbClr val="20C7E8"/>
                </a:solidFill>
              </a:rPr>
              <a:t>Instantané</a:t>
            </a:r>
            <a:endParaRPr lang="en-US" sz="1500" dirty="0"/>
          </a:p>
        </p:txBody>
      </p:sp>
      <p:sp>
        <p:nvSpPr>
          <p:cNvPr id="7" name="Text 4"/>
          <p:cNvSpPr/>
          <p:nvPr/>
        </p:nvSpPr>
        <p:spPr>
          <a:xfrm>
            <a:off x="8522208" y="1828800"/>
            <a:ext cx="2843784" cy="53035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Dernières valeurs et état du device.</a:t>
            </a:r>
            <a:endParaRPr lang="en-US" sz="1100" dirty="0"/>
          </a:p>
        </p:txBody>
      </p:sp>
      <p:sp>
        <p:nvSpPr>
          <p:cNvPr id="8" name="Shape 5"/>
          <p:cNvSpPr/>
          <p:nvPr/>
        </p:nvSpPr>
        <p:spPr>
          <a:xfrm>
            <a:off x="8321040" y="2743200"/>
            <a:ext cx="3246120" cy="1280160"/>
          </a:xfrm>
          <a:prstGeom prst="roundRect">
            <a:avLst>
              <a:gd name="adj" fmla="val 4286"/>
            </a:avLst>
          </a:prstGeom>
          <a:solidFill>
            <a:srgbClr val="0D1B2A"/>
          </a:solidFill>
          <a:ln w="15240">
            <a:solidFill>
              <a:srgbClr val="19D3C5"/>
            </a:solidFill>
            <a:prstDash val="solid"/>
          </a:ln>
          <a:effectLst>
            <a:outerShdw blurRad="25400" dist="12700" dir="2700000" algn="bl" rotWithShape="0">
              <a:srgbClr val="000000">
                <a:alpha val="18000"/>
              </a:srgbClr>
            </a:outerShdw>
          </a:effectLst>
        </p:spPr>
      </p:sp>
      <p:sp>
        <p:nvSpPr>
          <p:cNvPr id="9" name="Text 6"/>
          <p:cNvSpPr/>
          <p:nvPr/>
        </p:nvSpPr>
        <p:spPr>
          <a:xfrm>
            <a:off x="8522208" y="2926080"/>
            <a:ext cx="2843784" cy="246888"/>
          </a:xfrm>
          <a:prstGeom prst="rect">
            <a:avLst/>
          </a:prstGeom>
          <a:noFill/>
          <a:ln/>
        </p:spPr>
        <p:txBody>
          <a:bodyPr wrap="square" lIns="0" tIns="0" rIns="0" bIns="0" rtlCol="0" anchor="ctr"/>
          <a:lstStyle/>
          <a:p>
            <a:pPr marL="0" indent="0">
              <a:buNone/>
            </a:pPr>
            <a:r>
              <a:rPr lang="en-US" sz="1500" b="1" dirty="0">
                <a:solidFill>
                  <a:srgbClr val="19D3C5"/>
                </a:solidFill>
              </a:rPr>
              <a:t>Historique</a:t>
            </a:r>
            <a:endParaRPr lang="en-US" sz="1500" dirty="0"/>
          </a:p>
        </p:txBody>
      </p:sp>
      <p:sp>
        <p:nvSpPr>
          <p:cNvPr id="10" name="Text 7"/>
          <p:cNvSpPr/>
          <p:nvPr/>
        </p:nvSpPr>
        <p:spPr>
          <a:xfrm>
            <a:off x="8522208" y="3337560"/>
            <a:ext cx="2843784" cy="53035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Courbes, périodes et filtres device.</a:t>
            </a:r>
            <a:endParaRPr lang="en-US" sz="1100" dirty="0"/>
          </a:p>
        </p:txBody>
      </p:sp>
      <p:sp>
        <p:nvSpPr>
          <p:cNvPr id="11" name="Shape 8"/>
          <p:cNvSpPr/>
          <p:nvPr/>
        </p:nvSpPr>
        <p:spPr>
          <a:xfrm>
            <a:off x="8321040" y="4251960"/>
            <a:ext cx="3246120" cy="1874520"/>
          </a:xfrm>
          <a:prstGeom prst="roundRect">
            <a:avLst>
              <a:gd name="adj" fmla="val 2927"/>
            </a:avLst>
          </a:prstGeom>
          <a:solidFill>
            <a:srgbClr val="0D1B2A"/>
          </a:solidFill>
          <a:ln w="15240">
            <a:solidFill>
              <a:srgbClr val="FFB547"/>
            </a:solidFill>
            <a:prstDash val="solid"/>
          </a:ln>
          <a:effectLst>
            <a:outerShdw blurRad="25400" dist="12700" dir="2700000" algn="bl" rotWithShape="0">
              <a:srgbClr val="000000">
                <a:alpha val="18000"/>
              </a:srgbClr>
            </a:outerShdw>
          </a:effectLst>
        </p:spPr>
      </p:sp>
      <p:sp>
        <p:nvSpPr>
          <p:cNvPr id="12" name="Text 9"/>
          <p:cNvSpPr/>
          <p:nvPr/>
        </p:nvSpPr>
        <p:spPr>
          <a:xfrm>
            <a:off x="8522208" y="4434840"/>
            <a:ext cx="2843784" cy="246888"/>
          </a:xfrm>
          <a:prstGeom prst="rect">
            <a:avLst/>
          </a:prstGeom>
          <a:noFill/>
          <a:ln/>
        </p:spPr>
        <p:txBody>
          <a:bodyPr wrap="square" lIns="0" tIns="0" rIns="0" bIns="0" rtlCol="0" anchor="ctr"/>
          <a:lstStyle/>
          <a:p>
            <a:pPr marL="0" indent="0">
              <a:buNone/>
            </a:pPr>
            <a:r>
              <a:rPr lang="en-US" sz="1500" b="1" dirty="0">
                <a:solidFill>
                  <a:srgbClr val="FFB547"/>
                </a:solidFill>
              </a:rPr>
              <a:t>Anomalies</a:t>
            </a:r>
            <a:endParaRPr lang="en-US" sz="1500" dirty="0"/>
          </a:p>
        </p:txBody>
      </p:sp>
      <p:sp>
        <p:nvSpPr>
          <p:cNvPr id="13" name="Text 10"/>
          <p:cNvSpPr/>
          <p:nvPr/>
        </p:nvSpPr>
        <p:spPr>
          <a:xfrm>
            <a:off x="8522208" y="4846320"/>
            <a:ext cx="2843784" cy="112471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Compteurs, chronologie et répartition par type.</a:t>
            </a:r>
            <a:endParaRPr lang="en-US" sz="1100" dirty="0"/>
          </a:p>
        </p:txBody>
      </p:sp>
      <p:sp>
        <p:nvSpPr>
          <p:cNvPr id="25" name="Slide Number Placeholder 0"/>
          <p:cNvSpPr>
            <a:spLocks noGrp="1"/>
          </p:cNvSpPr>
          <p:nvPr>
            <p:ph type="sldNum" sz="quarter" idx="4294967295"/>
          </p:nvPr>
        </p:nvSpPr>
        <p:spPr>
          <a:xfrm>
            <a:off x="11612880" y="649224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1859A"/>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548640" y="292608"/>
            <a:ext cx="3657600" cy="182880"/>
          </a:xfrm>
          <a:prstGeom prst="rect">
            <a:avLst/>
          </a:prstGeom>
          <a:noFill/>
          <a:ln/>
        </p:spPr>
        <p:txBody>
          <a:bodyPr wrap="square" lIns="0" tIns="0" rIns="0" bIns="0" rtlCol="0" anchor="ctr"/>
          <a:lstStyle/>
          <a:p>
            <a:pPr marL="0" indent="0">
              <a:buNone/>
            </a:pPr>
            <a:r>
              <a:rPr lang="en-US" sz="900" b="1" kern="0" spc="160" dirty="0">
                <a:solidFill>
                  <a:srgbClr val="19D3C5"/>
                </a:solidFill>
              </a:rPr>
              <a:t>08 • DÉPLOIEMENT</a:t>
            </a:r>
            <a:endParaRPr lang="en-US" sz="900" dirty="0"/>
          </a:p>
        </p:txBody>
      </p:sp>
      <p:sp>
        <p:nvSpPr>
          <p:cNvPr id="3" name="Text 1"/>
          <p:cNvSpPr/>
          <p:nvPr/>
        </p:nvSpPr>
        <p:spPr>
          <a:xfrm>
            <a:off x="548640" y="621792"/>
            <a:ext cx="10972800" cy="438912"/>
          </a:xfrm>
          <a:prstGeom prst="rect">
            <a:avLst/>
          </a:prstGeom>
          <a:noFill/>
          <a:ln/>
        </p:spPr>
        <p:txBody>
          <a:bodyPr wrap="square" lIns="0" tIns="0" rIns="0" bIns="0" rtlCol="0" anchor="ctr"/>
          <a:lstStyle/>
          <a:p>
            <a:pPr marL="0" indent="0">
              <a:buNone/>
            </a:pPr>
            <a:r>
              <a:rPr lang="en-US" sz="2700" b="1" dirty="0">
                <a:solidFill>
                  <a:srgbClr val="F5F9FC"/>
                </a:solidFill>
              </a:rPr>
              <a:t>Docker Compose : une stack reproductible</a:t>
            </a:r>
            <a:endParaRPr lang="en-US" sz="2700" dirty="0"/>
          </a:p>
        </p:txBody>
      </p:sp>
      <p:pic>
        <p:nvPicPr>
          <p:cNvPr id="4" name="Image 0" descr="/mnt/data/Image (7).jpg"/>
          <p:cNvPicPr>
            <a:picLocks noChangeAspect="1"/>
          </p:cNvPicPr>
          <p:nvPr/>
        </p:nvPicPr>
        <p:blipFill>
          <a:blip r:embed="rId3"/>
          <a:stretch>
            <a:fillRect/>
          </a:stretch>
        </p:blipFill>
        <p:spPr>
          <a:xfrm>
            <a:off x="548640" y="2394786"/>
            <a:ext cx="7315200" cy="2205588"/>
          </a:xfrm>
          <a:prstGeom prst="rect">
            <a:avLst/>
          </a:prstGeom>
        </p:spPr>
      </p:pic>
      <p:sp>
        <p:nvSpPr>
          <p:cNvPr id="5" name="Shape 2"/>
          <p:cNvSpPr/>
          <p:nvPr/>
        </p:nvSpPr>
        <p:spPr>
          <a:xfrm>
            <a:off x="8183880" y="1234440"/>
            <a:ext cx="3383280" cy="1005840"/>
          </a:xfrm>
          <a:prstGeom prst="roundRect">
            <a:avLst>
              <a:gd name="adj" fmla="val 5455"/>
            </a:avLst>
          </a:prstGeom>
          <a:solidFill>
            <a:srgbClr val="0D1B2A"/>
          </a:solidFill>
          <a:ln w="15240">
            <a:solidFill>
              <a:srgbClr val="3DDC97"/>
            </a:solidFill>
            <a:prstDash val="solid"/>
          </a:ln>
          <a:effectLst>
            <a:outerShdw blurRad="25400" dist="12700" dir="2700000" algn="bl" rotWithShape="0">
              <a:srgbClr val="000000">
                <a:alpha val="18000"/>
              </a:srgbClr>
            </a:outerShdw>
          </a:effectLst>
        </p:spPr>
      </p:sp>
      <p:sp>
        <p:nvSpPr>
          <p:cNvPr id="6" name="Text 3"/>
          <p:cNvSpPr/>
          <p:nvPr/>
        </p:nvSpPr>
        <p:spPr>
          <a:xfrm>
            <a:off x="8385048" y="1417320"/>
            <a:ext cx="2980944" cy="246888"/>
          </a:xfrm>
          <a:prstGeom prst="rect">
            <a:avLst/>
          </a:prstGeom>
          <a:noFill/>
          <a:ln/>
        </p:spPr>
        <p:txBody>
          <a:bodyPr wrap="square" lIns="0" tIns="0" rIns="0" bIns="0" rtlCol="0" anchor="ctr"/>
          <a:lstStyle/>
          <a:p>
            <a:pPr marL="0" indent="0">
              <a:buNone/>
            </a:pPr>
            <a:r>
              <a:rPr lang="en-US" sz="1500" b="1" dirty="0">
                <a:solidFill>
                  <a:srgbClr val="3DDC97"/>
                </a:solidFill>
              </a:rPr>
              <a:t>API</a:t>
            </a:r>
            <a:endParaRPr lang="en-US" sz="1500" dirty="0"/>
          </a:p>
        </p:txBody>
      </p:sp>
      <p:sp>
        <p:nvSpPr>
          <p:cNvPr id="7" name="Text 4"/>
          <p:cNvSpPr/>
          <p:nvPr/>
        </p:nvSpPr>
        <p:spPr>
          <a:xfrm>
            <a:off x="8385048" y="1828800"/>
            <a:ext cx="2980944" cy="25603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Port 8000 • Up 2 hours</a:t>
            </a:r>
            <a:endParaRPr lang="en-US" sz="1100" dirty="0"/>
          </a:p>
        </p:txBody>
      </p:sp>
      <p:sp>
        <p:nvSpPr>
          <p:cNvPr id="8" name="Shape 5"/>
          <p:cNvSpPr/>
          <p:nvPr/>
        </p:nvSpPr>
        <p:spPr>
          <a:xfrm>
            <a:off x="8183880" y="2468880"/>
            <a:ext cx="3383280" cy="1005840"/>
          </a:xfrm>
          <a:prstGeom prst="roundRect">
            <a:avLst>
              <a:gd name="adj" fmla="val 5455"/>
            </a:avLst>
          </a:prstGeom>
          <a:solidFill>
            <a:srgbClr val="0D1B2A"/>
          </a:solidFill>
          <a:ln w="15240">
            <a:solidFill>
              <a:srgbClr val="19D3C5"/>
            </a:solidFill>
            <a:prstDash val="solid"/>
          </a:ln>
          <a:effectLst>
            <a:outerShdw blurRad="25400" dist="12700" dir="2700000" algn="bl" rotWithShape="0">
              <a:srgbClr val="000000">
                <a:alpha val="18000"/>
              </a:srgbClr>
            </a:outerShdw>
          </a:effectLst>
        </p:spPr>
      </p:sp>
      <p:sp>
        <p:nvSpPr>
          <p:cNvPr id="9" name="Text 6"/>
          <p:cNvSpPr/>
          <p:nvPr/>
        </p:nvSpPr>
        <p:spPr>
          <a:xfrm>
            <a:off x="8385048" y="2651760"/>
            <a:ext cx="2980944" cy="246888"/>
          </a:xfrm>
          <a:prstGeom prst="rect">
            <a:avLst/>
          </a:prstGeom>
          <a:noFill/>
          <a:ln/>
        </p:spPr>
        <p:txBody>
          <a:bodyPr wrap="square" lIns="0" tIns="0" rIns="0" bIns="0" rtlCol="0" anchor="ctr"/>
          <a:lstStyle/>
          <a:p>
            <a:pPr marL="0" indent="0">
              <a:buNone/>
            </a:pPr>
            <a:r>
              <a:rPr lang="en-US" sz="1500" b="1" dirty="0">
                <a:solidFill>
                  <a:srgbClr val="19D3C5"/>
                </a:solidFill>
              </a:rPr>
              <a:t>Kibana 8.15</a:t>
            </a:r>
            <a:endParaRPr lang="en-US" sz="1500" dirty="0"/>
          </a:p>
        </p:txBody>
      </p:sp>
      <p:sp>
        <p:nvSpPr>
          <p:cNvPr id="10" name="Text 7"/>
          <p:cNvSpPr/>
          <p:nvPr/>
        </p:nvSpPr>
        <p:spPr>
          <a:xfrm>
            <a:off x="8385048" y="3063240"/>
            <a:ext cx="2980944" cy="25603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Port 5601 • Up 2 hours</a:t>
            </a:r>
            <a:endParaRPr lang="en-US" sz="1100" dirty="0"/>
          </a:p>
        </p:txBody>
      </p:sp>
      <p:sp>
        <p:nvSpPr>
          <p:cNvPr id="11" name="Shape 8"/>
          <p:cNvSpPr/>
          <p:nvPr/>
        </p:nvSpPr>
        <p:spPr>
          <a:xfrm>
            <a:off x="8183880" y="3703320"/>
            <a:ext cx="3383280" cy="1005840"/>
          </a:xfrm>
          <a:prstGeom prst="roundRect">
            <a:avLst>
              <a:gd name="adj" fmla="val 5455"/>
            </a:avLst>
          </a:prstGeom>
          <a:solidFill>
            <a:srgbClr val="0D1B2A"/>
          </a:solidFill>
          <a:ln w="15240">
            <a:solidFill>
              <a:srgbClr val="20C7E8"/>
            </a:solidFill>
            <a:prstDash val="solid"/>
          </a:ln>
          <a:effectLst>
            <a:outerShdw blurRad="25400" dist="12700" dir="2700000" algn="bl" rotWithShape="0">
              <a:srgbClr val="000000">
                <a:alpha val="18000"/>
              </a:srgbClr>
            </a:outerShdw>
          </a:effectLst>
        </p:spPr>
      </p:sp>
      <p:sp>
        <p:nvSpPr>
          <p:cNvPr id="12" name="Text 9"/>
          <p:cNvSpPr/>
          <p:nvPr/>
        </p:nvSpPr>
        <p:spPr>
          <a:xfrm>
            <a:off x="8385048" y="3886200"/>
            <a:ext cx="2980944" cy="246888"/>
          </a:xfrm>
          <a:prstGeom prst="rect">
            <a:avLst/>
          </a:prstGeom>
          <a:noFill/>
          <a:ln/>
        </p:spPr>
        <p:txBody>
          <a:bodyPr wrap="square" lIns="0" tIns="0" rIns="0" bIns="0" rtlCol="0" anchor="ctr"/>
          <a:lstStyle/>
          <a:p>
            <a:pPr marL="0" indent="0">
              <a:buNone/>
            </a:pPr>
            <a:r>
              <a:rPr lang="en-US" sz="1500" b="1" dirty="0">
                <a:solidFill>
                  <a:srgbClr val="20C7E8"/>
                </a:solidFill>
              </a:rPr>
              <a:t>Elasticsearch 8.15</a:t>
            </a:r>
            <a:endParaRPr lang="en-US" sz="1500" dirty="0"/>
          </a:p>
        </p:txBody>
      </p:sp>
      <p:sp>
        <p:nvSpPr>
          <p:cNvPr id="13" name="Text 10"/>
          <p:cNvSpPr/>
          <p:nvPr/>
        </p:nvSpPr>
        <p:spPr>
          <a:xfrm>
            <a:off x="8385048" y="4297680"/>
            <a:ext cx="2980944" cy="25603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Port 9200 • healthy</a:t>
            </a:r>
            <a:endParaRPr lang="en-US" sz="1100" dirty="0"/>
          </a:p>
        </p:txBody>
      </p:sp>
      <p:sp>
        <p:nvSpPr>
          <p:cNvPr id="14" name="Shape 11"/>
          <p:cNvSpPr/>
          <p:nvPr/>
        </p:nvSpPr>
        <p:spPr>
          <a:xfrm>
            <a:off x="8183880" y="5074920"/>
            <a:ext cx="3383280" cy="594360"/>
          </a:xfrm>
          <a:prstGeom prst="roundRect">
            <a:avLst>
              <a:gd name="adj" fmla="val 6154"/>
            </a:avLst>
          </a:prstGeom>
          <a:solidFill>
            <a:srgbClr val="050D16"/>
          </a:solidFill>
          <a:ln w="12700">
            <a:solidFill>
              <a:srgbClr val="27445D"/>
            </a:solidFill>
            <a:prstDash val="solid"/>
          </a:ln>
        </p:spPr>
      </p:sp>
      <p:sp>
        <p:nvSpPr>
          <p:cNvPr id="15" name="Text 12"/>
          <p:cNvSpPr/>
          <p:nvPr/>
        </p:nvSpPr>
        <p:spPr>
          <a:xfrm>
            <a:off x="8366760" y="5285232"/>
            <a:ext cx="3017520" cy="182880"/>
          </a:xfrm>
          <a:prstGeom prst="rect">
            <a:avLst/>
          </a:prstGeom>
          <a:noFill/>
          <a:ln/>
        </p:spPr>
        <p:txBody>
          <a:bodyPr wrap="square" lIns="0" tIns="0" rIns="0" bIns="0" rtlCol="0" anchor="ctr"/>
          <a:lstStyle/>
          <a:p>
            <a:pPr marL="0" indent="0" algn="ctr">
              <a:buNone/>
            </a:pPr>
            <a:r>
              <a:rPr lang="en-US" sz="1200" b="1" dirty="0">
                <a:solidFill>
                  <a:srgbClr val="F5F9FC"/>
                </a:solidFill>
                <a:latin typeface="Aptos Mono" pitchFamily="34" charset="0"/>
                <a:ea typeface="Aptos Mono" pitchFamily="34" charset="-122"/>
                <a:cs typeface="Aptos Mono" pitchFamily="34" charset="-120"/>
              </a:rPr>
              <a:t>docker compose up -d</a:t>
            </a:r>
            <a:endParaRPr lang="en-US" sz="1200" dirty="0"/>
          </a:p>
        </p:txBody>
      </p:sp>
      <p:sp>
        <p:nvSpPr>
          <p:cNvPr id="25" name="Slide Number Placeholder 0"/>
          <p:cNvSpPr>
            <a:spLocks noGrp="1"/>
          </p:cNvSpPr>
          <p:nvPr>
            <p:ph type="sldNum" sz="quarter" idx="4294967295"/>
          </p:nvPr>
        </p:nvSpPr>
        <p:spPr>
          <a:xfrm>
            <a:off x="11612880" y="649224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1859A"/>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548640" y="292608"/>
            <a:ext cx="3657600" cy="182880"/>
          </a:xfrm>
          <a:prstGeom prst="rect">
            <a:avLst/>
          </a:prstGeom>
          <a:noFill/>
          <a:ln/>
        </p:spPr>
        <p:txBody>
          <a:bodyPr wrap="square" lIns="0" tIns="0" rIns="0" bIns="0" rtlCol="0" anchor="ctr"/>
          <a:lstStyle/>
          <a:p>
            <a:pPr marL="0" indent="0">
              <a:buNone/>
            </a:pPr>
            <a:r>
              <a:rPr lang="en-US" sz="900" b="1" kern="0" spc="160" dirty="0">
                <a:solidFill>
                  <a:srgbClr val="19D3C5"/>
                </a:solidFill>
              </a:rPr>
              <a:t>09 • TECHNOLOGIES</a:t>
            </a:r>
            <a:endParaRPr lang="en-US" sz="900" dirty="0"/>
          </a:p>
        </p:txBody>
      </p:sp>
      <p:sp>
        <p:nvSpPr>
          <p:cNvPr id="3" name="Text 1"/>
          <p:cNvSpPr/>
          <p:nvPr/>
        </p:nvSpPr>
        <p:spPr>
          <a:xfrm>
            <a:off x="548640" y="621792"/>
            <a:ext cx="10972800" cy="438912"/>
          </a:xfrm>
          <a:prstGeom prst="rect">
            <a:avLst/>
          </a:prstGeom>
          <a:noFill/>
          <a:ln/>
        </p:spPr>
        <p:txBody>
          <a:bodyPr wrap="square" lIns="0" tIns="0" rIns="0" bIns="0" rtlCol="0" anchor="ctr"/>
          <a:lstStyle/>
          <a:p>
            <a:pPr marL="0" indent="0">
              <a:buNone/>
            </a:pPr>
            <a:r>
              <a:rPr lang="en-US" sz="2700" b="1" dirty="0">
                <a:solidFill>
                  <a:srgbClr val="F5F9FC"/>
                </a:solidFill>
              </a:rPr>
              <a:t>Stack technique</a:t>
            </a:r>
            <a:endParaRPr lang="en-US" sz="2700" dirty="0"/>
          </a:p>
        </p:txBody>
      </p:sp>
      <p:sp>
        <p:nvSpPr>
          <p:cNvPr id="4" name="Shape 2"/>
          <p:cNvSpPr/>
          <p:nvPr/>
        </p:nvSpPr>
        <p:spPr>
          <a:xfrm>
            <a:off x="640080" y="1234440"/>
            <a:ext cx="5303520" cy="914400"/>
          </a:xfrm>
          <a:prstGeom prst="roundRect">
            <a:avLst>
              <a:gd name="adj" fmla="val 6000"/>
            </a:avLst>
          </a:prstGeom>
          <a:solidFill>
            <a:srgbClr val="0D1B2A"/>
          </a:solidFill>
          <a:ln w="15240">
            <a:solidFill>
              <a:srgbClr val="20C7E8"/>
            </a:solidFill>
            <a:prstDash val="solid"/>
          </a:ln>
          <a:effectLst>
            <a:outerShdw blurRad="25400" dist="12700" dir="2700000" algn="bl" rotWithShape="0">
              <a:srgbClr val="000000">
                <a:alpha val="18000"/>
              </a:srgbClr>
            </a:outerShdw>
          </a:effectLst>
        </p:spPr>
      </p:sp>
      <p:sp>
        <p:nvSpPr>
          <p:cNvPr id="5" name="Text 3"/>
          <p:cNvSpPr/>
          <p:nvPr/>
        </p:nvSpPr>
        <p:spPr>
          <a:xfrm>
            <a:off x="841248" y="1417320"/>
            <a:ext cx="4901184" cy="246888"/>
          </a:xfrm>
          <a:prstGeom prst="rect">
            <a:avLst/>
          </a:prstGeom>
          <a:noFill/>
          <a:ln/>
        </p:spPr>
        <p:txBody>
          <a:bodyPr wrap="square" lIns="0" tIns="0" rIns="0" bIns="0" rtlCol="0" anchor="ctr"/>
          <a:lstStyle/>
          <a:p>
            <a:pPr marL="0" indent="0">
              <a:buNone/>
            </a:pPr>
            <a:r>
              <a:rPr lang="en-US" sz="1500" b="1" dirty="0">
                <a:solidFill>
                  <a:srgbClr val="20C7E8"/>
                </a:solidFill>
              </a:rPr>
              <a:t>Wokwi</a:t>
            </a:r>
            <a:endParaRPr lang="en-US" sz="1500" dirty="0"/>
          </a:p>
        </p:txBody>
      </p:sp>
      <p:sp>
        <p:nvSpPr>
          <p:cNvPr id="6" name="Text 4"/>
          <p:cNvSpPr/>
          <p:nvPr/>
        </p:nvSpPr>
        <p:spPr>
          <a:xfrm>
            <a:off x="841248" y="1828800"/>
            <a:ext cx="4901184" cy="1645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Simulation du circuit</a:t>
            </a:r>
            <a:endParaRPr lang="en-US" sz="1100" dirty="0"/>
          </a:p>
        </p:txBody>
      </p:sp>
      <p:sp>
        <p:nvSpPr>
          <p:cNvPr id="7" name="Shape 5"/>
          <p:cNvSpPr/>
          <p:nvPr/>
        </p:nvSpPr>
        <p:spPr>
          <a:xfrm>
            <a:off x="6309360" y="1234440"/>
            <a:ext cx="5303520" cy="914400"/>
          </a:xfrm>
          <a:prstGeom prst="roundRect">
            <a:avLst>
              <a:gd name="adj" fmla="val 6000"/>
            </a:avLst>
          </a:prstGeom>
          <a:solidFill>
            <a:srgbClr val="0D1B2A"/>
          </a:solidFill>
          <a:ln w="15240">
            <a:solidFill>
              <a:srgbClr val="19D3C5"/>
            </a:solidFill>
            <a:prstDash val="solid"/>
          </a:ln>
          <a:effectLst>
            <a:outerShdw blurRad="25400" dist="12700" dir="2700000" algn="bl" rotWithShape="0">
              <a:srgbClr val="000000">
                <a:alpha val="18000"/>
              </a:srgbClr>
            </a:outerShdw>
          </a:effectLst>
        </p:spPr>
      </p:sp>
      <p:sp>
        <p:nvSpPr>
          <p:cNvPr id="8" name="Text 6"/>
          <p:cNvSpPr/>
          <p:nvPr/>
        </p:nvSpPr>
        <p:spPr>
          <a:xfrm>
            <a:off x="6510528" y="1417320"/>
            <a:ext cx="4901184" cy="246888"/>
          </a:xfrm>
          <a:prstGeom prst="rect">
            <a:avLst/>
          </a:prstGeom>
          <a:noFill/>
          <a:ln/>
        </p:spPr>
        <p:txBody>
          <a:bodyPr wrap="square" lIns="0" tIns="0" rIns="0" bIns="0" rtlCol="0" anchor="ctr"/>
          <a:lstStyle/>
          <a:p>
            <a:pPr marL="0" indent="0">
              <a:buNone/>
            </a:pPr>
            <a:r>
              <a:rPr lang="en-US" sz="1500" b="1" dirty="0">
                <a:solidFill>
                  <a:srgbClr val="19D3C5"/>
                </a:solidFill>
              </a:rPr>
              <a:t>ESP32 / C++</a:t>
            </a:r>
            <a:endParaRPr lang="en-US" sz="1500" dirty="0"/>
          </a:p>
        </p:txBody>
      </p:sp>
      <p:sp>
        <p:nvSpPr>
          <p:cNvPr id="9" name="Text 7"/>
          <p:cNvSpPr/>
          <p:nvPr/>
        </p:nvSpPr>
        <p:spPr>
          <a:xfrm>
            <a:off x="6510528" y="1828800"/>
            <a:ext cx="4901184" cy="1645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Acquisition et alerte locale</a:t>
            </a:r>
            <a:endParaRPr lang="en-US" sz="1100" dirty="0"/>
          </a:p>
        </p:txBody>
      </p:sp>
      <p:sp>
        <p:nvSpPr>
          <p:cNvPr id="10" name="Shape 8"/>
          <p:cNvSpPr/>
          <p:nvPr/>
        </p:nvSpPr>
        <p:spPr>
          <a:xfrm>
            <a:off x="640080" y="2423160"/>
            <a:ext cx="5303520" cy="914400"/>
          </a:xfrm>
          <a:prstGeom prst="roundRect">
            <a:avLst>
              <a:gd name="adj" fmla="val 6000"/>
            </a:avLst>
          </a:prstGeom>
          <a:solidFill>
            <a:srgbClr val="0D1B2A"/>
          </a:solidFill>
          <a:ln w="15240">
            <a:solidFill>
              <a:srgbClr val="FFB547"/>
            </a:solidFill>
            <a:prstDash val="solid"/>
          </a:ln>
          <a:effectLst>
            <a:outerShdw blurRad="25400" dist="12700" dir="2700000" algn="bl" rotWithShape="0">
              <a:srgbClr val="000000">
                <a:alpha val="18000"/>
              </a:srgbClr>
            </a:outerShdw>
          </a:effectLst>
        </p:spPr>
      </p:sp>
      <p:sp>
        <p:nvSpPr>
          <p:cNvPr id="11" name="Text 9"/>
          <p:cNvSpPr/>
          <p:nvPr/>
        </p:nvSpPr>
        <p:spPr>
          <a:xfrm>
            <a:off x="841248" y="2606040"/>
            <a:ext cx="4901184" cy="246888"/>
          </a:xfrm>
          <a:prstGeom prst="rect">
            <a:avLst/>
          </a:prstGeom>
          <a:noFill/>
          <a:ln/>
        </p:spPr>
        <p:txBody>
          <a:bodyPr wrap="square" lIns="0" tIns="0" rIns="0" bIns="0" rtlCol="0" anchor="ctr"/>
          <a:lstStyle/>
          <a:p>
            <a:pPr marL="0" indent="0">
              <a:buNone/>
            </a:pPr>
            <a:r>
              <a:rPr lang="en-US" sz="1500" b="1" dirty="0">
                <a:solidFill>
                  <a:srgbClr val="FFB547"/>
                </a:solidFill>
              </a:rPr>
              <a:t>MQTT / HiveMQ</a:t>
            </a:r>
            <a:endParaRPr lang="en-US" sz="1500" dirty="0"/>
          </a:p>
        </p:txBody>
      </p:sp>
      <p:sp>
        <p:nvSpPr>
          <p:cNvPr id="12" name="Text 10"/>
          <p:cNvSpPr/>
          <p:nvPr/>
        </p:nvSpPr>
        <p:spPr>
          <a:xfrm>
            <a:off x="841248" y="3017520"/>
            <a:ext cx="4901184" cy="1645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Transport publish-subscribe</a:t>
            </a:r>
            <a:endParaRPr lang="en-US" sz="1100" dirty="0"/>
          </a:p>
        </p:txBody>
      </p:sp>
      <p:sp>
        <p:nvSpPr>
          <p:cNvPr id="13" name="Shape 11"/>
          <p:cNvSpPr/>
          <p:nvPr/>
        </p:nvSpPr>
        <p:spPr>
          <a:xfrm>
            <a:off x="6309360" y="2423160"/>
            <a:ext cx="5303520" cy="914400"/>
          </a:xfrm>
          <a:prstGeom prst="roundRect">
            <a:avLst>
              <a:gd name="adj" fmla="val 6000"/>
            </a:avLst>
          </a:prstGeom>
          <a:solidFill>
            <a:srgbClr val="0D1B2A"/>
          </a:solidFill>
          <a:ln w="15240">
            <a:solidFill>
              <a:srgbClr val="3DDC97"/>
            </a:solidFill>
            <a:prstDash val="solid"/>
          </a:ln>
          <a:effectLst>
            <a:outerShdw blurRad="25400" dist="12700" dir="2700000" algn="bl" rotWithShape="0">
              <a:srgbClr val="000000">
                <a:alpha val="18000"/>
              </a:srgbClr>
            </a:outerShdw>
          </a:effectLst>
        </p:spPr>
      </p:sp>
      <p:sp>
        <p:nvSpPr>
          <p:cNvPr id="14" name="Text 12"/>
          <p:cNvSpPr/>
          <p:nvPr/>
        </p:nvSpPr>
        <p:spPr>
          <a:xfrm>
            <a:off x="6510528" y="2606040"/>
            <a:ext cx="4901184" cy="246888"/>
          </a:xfrm>
          <a:prstGeom prst="rect">
            <a:avLst/>
          </a:prstGeom>
          <a:noFill/>
          <a:ln/>
        </p:spPr>
        <p:txBody>
          <a:bodyPr wrap="square" lIns="0" tIns="0" rIns="0" bIns="0" rtlCol="0" anchor="ctr"/>
          <a:lstStyle/>
          <a:p>
            <a:pPr marL="0" indent="0">
              <a:buNone/>
            </a:pPr>
            <a:r>
              <a:rPr lang="en-US" sz="1500" b="1" dirty="0">
                <a:solidFill>
                  <a:srgbClr val="3DDC97"/>
                </a:solidFill>
              </a:rPr>
              <a:t>Python</a:t>
            </a:r>
            <a:endParaRPr lang="en-US" sz="1500" dirty="0"/>
          </a:p>
        </p:txBody>
      </p:sp>
      <p:sp>
        <p:nvSpPr>
          <p:cNvPr id="15" name="Text 13"/>
          <p:cNvSpPr/>
          <p:nvPr/>
        </p:nvSpPr>
        <p:spPr>
          <a:xfrm>
            <a:off x="6510528" y="3017520"/>
            <a:ext cx="4901184" cy="1645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Consumer et règles</a:t>
            </a:r>
            <a:endParaRPr lang="en-US" sz="1100" dirty="0"/>
          </a:p>
        </p:txBody>
      </p:sp>
      <p:sp>
        <p:nvSpPr>
          <p:cNvPr id="16" name="Shape 14"/>
          <p:cNvSpPr/>
          <p:nvPr/>
        </p:nvSpPr>
        <p:spPr>
          <a:xfrm>
            <a:off x="640080" y="3611880"/>
            <a:ext cx="5303520" cy="914400"/>
          </a:xfrm>
          <a:prstGeom prst="roundRect">
            <a:avLst>
              <a:gd name="adj" fmla="val 6000"/>
            </a:avLst>
          </a:prstGeom>
          <a:solidFill>
            <a:srgbClr val="0D1B2A"/>
          </a:solidFill>
          <a:ln w="15240">
            <a:solidFill>
              <a:srgbClr val="20C7E8"/>
            </a:solidFill>
            <a:prstDash val="solid"/>
          </a:ln>
          <a:effectLst>
            <a:outerShdw blurRad="25400" dist="12700" dir="2700000" algn="bl" rotWithShape="0">
              <a:srgbClr val="000000">
                <a:alpha val="18000"/>
              </a:srgbClr>
            </a:outerShdw>
          </a:effectLst>
        </p:spPr>
      </p:sp>
      <p:sp>
        <p:nvSpPr>
          <p:cNvPr id="17" name="Text 15"/>
          <p:cNvSpPr/>
          <p:nvPr/>
        </p:nvSpPr>
        <p:spPr>
          <a:xfrm>
            <a:off x="841248" y="3794760"/>
            <a:ext cx="4901184" cy="246888"/>
          </a:xfrm>
          <a:prstGeom prst="rect">
            <a:avLst/>
          </a:prstGeom>
          <a:noFill/>
          <a:ln/>
        </p:spPr>
        <p:txBody>
          <a:bodyPr wrap="square" lIns="0" tIns="0" rIns="0" bIns="0" rtlCol="0" anchor="ctr"/>
          <a:lstStyle/>
          <a:p>
            <a:pPr marL="0" indent="0">
              <a:buNone/>
            </a:pPr>
            <a:r>
              <a:rPr lang="en-US" sz="1500" b="1" dirty="0">
                <a:solidFill>
                  <a:srgbClr val="20C7E8"/>
                </a:solidFill>
              </a:rPr>
              <a:t>Elasticsearch</a:t>
            </a:r>
            <a:endParaRPr lang="en-US" sz="1500" dirty="0"/>
          </a:p>
        </p:txBody>
      </p:sp>
      <p:sp>
        <p:nvSpPr>
          <p:cNvPr id="18" name="Text 16"/>
          <p:cNvSpPr/>
          <p:nvPr/>
        </p:nvSpPr>
        <p:spPr>
          <a:xfrm>
            <a:off x="841248" y="4206240"/>
            <a:ext cx="4901184" cy="1645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Stockage et recherche</a:t>
            </a:r>
            <a:endParaRPr lang="en-US" sz="1100" dirty="0"/>
          </a:p>
        </p:txBody>
      </p:sp>
      <p:sp>
        <p:nvSpPr>
          <p:cNvPr id="19" name="Shape 17"/>
          <p:cNvSpPr/>
          <p:nvPr/>
        </p:nvSpPr>
        <p:spPr>
          <a:xfrm>
            <a:off x="6309360" y="3611880"/>
            <a:ext cx="5303520" cy="914400"/>
          </a:xfrm>
          <a:prstGeom prst="roundRect">
            <a:avLst>
              <a:gd name="adj" fmla="val 6000"/>
            </a:avLst>
          </a:prstGeom>
          <a:solidFill>
            <a:srgbClr val="0D1B2A"/>
          </a:solidFill>
          <a:ln w="15240">
            <a:solidFill>
              <a:srgbClr val="19D3C5"/>
            </a:solidFill>
            <a:prstDash val="solid"/>
          </a:ln>
          <a:effectLst>
            <a:outerShdw blurRad="25400" dist="12700" dir="2700000" algn="bl" rotWithShape="0">
              <a:srgbClr val="000000">
                <a:alpha val="18000"/>
              </a:srgbClr>
            </a:outerShdw>
          </a:effectLst>
        </p:spPr>
      </p:sp>
      <p:sp>
        <p:nvSpPr>
          <p:cNvPr id="20" name="Text 18"/>
          <p:cNvSpPr/>
          <p:nvPr/>
        </p:nvSpPr>
        <p:spPr>
          <a:xfrm>
            <a:off x="6510528" y="3794760"/>
            <a:ext cx="4901184" cy="246888"/>
          </a:xfrm>
          <a:prstGeom prst="rect">
            <a:avLst/>
          </a:prstGeom>
          <a:noFill/>
          <a:ln/>
        </p:spPr>
        <p:txBody>
          <a:bodyPr wrap="square" lIns="0" tIns="0" rIns="0" bIns="0" rtlCol="0" anchor="ctr"/>
          <a:lstStyle/>
          <a:p>
            <a:pPr marL="0" indent="0">
              <a:buNone/>
            </a:pPr>
            <a:r>
              <a:rPr lang="en-US" sz="1500" b="1" dirty="0">
                <a:solidFill>
                  <a:srgbClr val="19D3C5"/>
                </a:solidFill>
              </a:rPr>
              <a:t>FastAPI</a:t>
            </a:r>
            <a:endParaRPr lang="en-US" sz="1500" dirty="0"/>
          </a:p>
        </p:txBody>
      </p:sp>
      <p:sp>
        <p:nvSpPr>
          <p:cNvPr id="21" name="Text 19"/>
          <p:cNvSpPr/>
          <p:nvPr/>
        </p:nvSpPr>
        <p:spPr>
          <a:xfrm>
            <a:off x="6510528" y="4206240"/>
            <a:ext cx="4901184" cy="1645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API REST en lecture seule</a:t>
            </a:r>
            <a:endParaRPr lang="en-US" sz="1100" dirty="0"/>
          </a:p>
        </p:txBody>
      </p:sp>
      <p:sp>
        <p:nvSpPr>
          <p:cNvPr id="22" name="Shape 20"/>
          <p:cNvSpPr/>
          <p:nvPr/>
        </p:nvSpPr>
        <p:spPr>
          <a:xfrm>
            <a:off x="640080" y="4800600"/>
            <a:ext cx="5303520" cy="914400"/>
          </a:xfrm>
          <a:prstGeom prst="roundRect">
            <a:avLst>
              <a:gd name="adj" fmla="val 6000"/>
            </a:avLst>
          </a:prstGeom>
          <a:solidFill>
            <a:srgbClr val="0D1B2A"/>
          </a:solidFill>
          <a:ln w="15240">
            <a:solidFill>
              <a:srgbClr val="FFB547"/>
            </a:solidFill>
            <a:prstDash val="solid"/>
          </a:ln>
          <a:effectLst>
            <a:outerShdw blurRad="25400" dist="12700" dir="2700000" algn="bl" rotWithShape="0">
              <a:srgbClr val="000000">
                <a:alpha val="18000"/>
              </a:srgbClr>
            </a:outerShdw>
          </a:effectLst>
        </p:spPr>
      </p:sp>
      <p:sp>
        <p:nvSpPr>
          <p:cNvPr id="23" name="Text 21"/>
          <p:cNvSpPr/>
          <p:nvPr/>
        </p:nvSpPr>
        <p:spPr>
          <a:xfrm>
            <a:off x="841248" y="4983480"/>
            <a:ext cx="4901184" cy="246888"/>
          </a:xfrm>
          <a:prstGeom prst="rect">
            <a:avLst/>
          </a:prstGeom>
          <a:noFill/>
          <a:ln/>
        </p:spPr>
        <p:txBody>
          <a:bodyPr wrap="square" lIns="0" tIns="0" rIns="0" bIns="0" rtlCol="0" anchor="ctr"/>
          <a:lstStyle/>
          <a:p>
            <a:pPr marL="0" indent="0">
              <a:buNone/>
            </a:pPr>
            <a:r>
              <a:rPr lang="en-US" sz="1500" b="1" dirty="0">
                <a:solidFill>
                  <a:srgbClr val="FFB547"/>
                </a:solidFill>
              </a:rPr>
              <a:t>Kibana</a:t>
            </a:r>
            <a:endParaRPr lang="en-US" sz="1500" dirty="0"/>
          </a:p>
        </p:txBody>
      </p:sp>
      <p:sp>
        <p:nvSpPr>
          <p:cNvPr id="24" name="Text 22"/>
          <p:cNvSpPr/>
          <p:nvPr/>
        </p:nvSpPr>
        <p:spPr>
          <a:xfrm>
            <a:off x="841248" y="5394960"/>
            <a:ext cx="4901184" cy="1645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Dashboards</a:t>
            </a:r>
            <a:endParaRPr lang="en-US" sz="1100" dirty="0"/>
          </a:p>
        </p:txBody>
      </p:sp>
      <p:sp>
        <p:nvSpPr>
          <p:cNvPr id="25" name="Shape 23"/>
          <p:cNvSpPr/>
          <p:nvPr/>
        </p:nvSpPr>
        <p:spPr>
          <a:xfrm>
            <a:off x="6309360" y="4800600"/>
            <a:ext cx="5303520" cy="914400"/>
          </a:xfrm>
          <a:prstGeom prst="roundRect">
            <a:avLst>
              <a:gd name="adj" fmla="val 6000"/>
            </a:avLst>
          </a:prstGeom>
          <a:solidFill>
            <a:srgbClr val="0D1B2A"/>
          </a:solidFill>
          <a:ln w="15240">
            <a:solidFill>
              <a:srgbClr val="3DDC97"/>
            </a:solidFill>
            <a:prstDash val="solid"/>
          </a:ln>
          <a:effectLst>
            <a:outerShdw blurRad="25400" dist="12700" dir="2700000" algn="bl" rotWithShape="0">
              <a:srgbClr val="000000">
                <a:alpha val="18000"/>
              </a:srgbClr>
            </a:outerShdw>
          </a:effectLst>
        </p:spPr>
      </p:sp>
      <p:sp>
        <p:nvSpPr>
          <p:cNvPr id="26" name="Text 24"/>
          <p:cNvSpPr/>
          <p:nvPr/>
        </p:nvSpPr>
        <p:spPr>
          <a:xfrm>
            <a:off x="6510528" y="4983480"/>
            <a:ext cx="4901184" cy="246888"/>
          </a:xfrm>
          <a:prstGeom prst="rect">
            <a:avLst/>
          </a:prstGeom>
          <a:noFill/>
          <a:ln/>
        </p:spPr>
        <p:txBody>
          <a:bodyPr wrap="square" lIns="0" tIns="0" rIns="0" bIns="0" rtlCol="0" anchor="ctr"/>
          <a:lstStyle/>
          <a:p>
            <a:pPr marL="0" indent="0">
              <a:buNone/>
            </a:pPr>
            <a:r>
              <a:rPr lang="en-US" sz="1500" b="1" dirty="0">
                <a:solidFill>
                  <a:srgbClr val="3DDC97"/>
                </a:solidFill>
              </a:rPr>
              <a:t>Docker Compose</a:t>
            </a:r>
            <a:endParaRPr lang="en-US" sz="1500" dirty="0"/>
          </a:p>
        </p:txBody>
      </p:sp>
      <p:sp>
        <p:nvSpPr>
          <p:cNvPr id="27" name="Text 25"/>
          <p:cNvSpPr/>
          <p:nvPr/>
        </p:nvSpPr>
        <p:spPr>
          <a:xfrm>
            <a:off x="6510528" y="5394960"/>
            <a:ext cx="4901184" cy="16459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Orchestration locale</a:t>
            </a:r>
            <a:endParaRPr lang="en-US" sz="1100" dirty="0"/>
          </a:p>
        </p:txBody>
      </p:sp>
      <p:sp>
        <p:nvSpPr>
          <p:cNvPr id="28" name="Slide Number Placeholder 0"/>
          <p:cNvSpPr>
            <a:spLocks noGrp="1"/>
          </p:cNvSpPr>
          <p:nvPr>
            <p:ph type="sldNum" sz="quarter" idx="4294967295"/>
          </p:nvPr>
        </p:nvSpPr>
        <p:spPr>
          <a:xfrm>
            <a:off x="11612880" y="649224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1859A"/>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548640" y="292608"/>
            <a:ext cx="3657600" cy="182880"/>
          </a:xfrm>
          <a:prstGeom prst="rect">
            <a:avLst/>
          </a:prstGeom>
          <a:noFill/>
          <a:ln/>
        </p:spPr>
        <p:txBody>
          <a:bodyPr wrap="square" lIns="0" tIns="0" rIns="0" bIns="0" rtlCol="0" anchor="ctr"/>
          <a:lstStyle/>
          <a:p>
            <a:pPr marL="0" indent="0">
              <a:buNone/>
            </a:pPr>
            <a:r>
              <a:rPr lang="en-US" sz="900" b="1" kern="0" spc="160" dirty="0">
                <a:solidFill>
                  <a:srgbClr val="19D3C5"/>
                </a:solidFill>
              </a:rPr>
              <a:t>10 • RÉSULTATS</a:t>
            </a:r>
            <a:endParaRPr lang="en-US" sz="900" dirty="0"/>
          </a:p>
        </p:txBody>
      </p:sp>
      <p:sp>
        <p:nvSpPr>
          <p:cNvPr id="3" name="Text 1"/>
          <p:cNvSpPr/>
          <p:nvPr/>
        </p:nvSpPr>
        <p:spPr>
          <a:xfrm>
            <a:off x="548640" y="621792"/>
            <a:ext cx="10972800" cy="438912"/>
          </a:xfrm>
          <a:prstGeom prst="rect">
            <a:avLst/>
          </a:prstGeom>
          <a:noFill/>
          <a:ln/>
        </p:spPr>
        <p:txBody>
          <a:bodyPr wrap="square" lIns="0" tIns="0" rIns="0" bIns="0" rtlCol="0" anchor="ctr"/>
          <a:lstStyle/>
          <a:p>
            <a:pPr marL="0" indent="0">
              <a:buNone/>
            </a:pPr>
            <a:r>
              <a:rPr lang="en-US" sz="2700" b="1" dirty="0">
                <a:solidFill>
                  <a:srgbClr val="F5F9FC"/>
                </a:solidFill>
              </a:rPr>
              <a:t>Démonstration : preuves de fonctionnement</a:t>
            </a:r>
            <a:endParaRPr lang="en-US" sz="2700" dirty="0"/>
          </a:p>
        </p:txBody>
      </p:sp>
      <p:pic>
        <p:nvPicPr>
          <p:cNvPr id="4" name="Image 0" descr="/mnt/data/Image (8).jpg"/>
          <p:cNvPicPr>
            <a:picLocks noChangeAspect="1"/>
          </p:cNvPicPr>
          <p:nvPr/>
        </p:nvPicPr>
        <p:blipFill>
          <a:blip r:embed="rId3"/>
          <a:srcRect t="7662" b="7662"/>
          <a:stretch/>
        </p:blipFill>
        <p:spPr>
          <a:xfrm>
            <a:off x="502920" y="1234440"/>
            <a:ext cx="3611880" cy="2148840"/>
          </a:xfrm>
          <a:prstGeom prst="rect">
            <a:avLst/>
          </a:prstGeom>
        </p:spPr>
      </p:pic>
      <p:pic>
        <p:nvPicPr>
          <p:cNvPr id="5" name="Image 1" descr="/mnt/data/Image (9).jpg"/>
          <p:cNvPicPr>
            <a:picLocks noChangeAspect="1"/>
          </p:cNvPicPr>
          <p:nvPr/>
        </p:nvPicPr>
        <p:blipFill>
          <a:blip r:embed="rId4"/>
          <a:stretch>
            <a:fillRect/>
          </a:stretch>
        </p:blipFill>
        <p:spPr>
          <a:xfrm>
            <a:off x="4297680" y="1964386"/>
            <a:ext cx="3611880" cy="688948"/>
          </a:xfrm>
          <a:prstGeom prst="rect">
            <a:avLst/>
          </a:prstGeom>
        </p:spPr>
      </p:pic>
      <p:pic>
        <p:nvPicPr>
          <p:cNvPr id="6" name="Image 2" descr="/mnt/data/Image (5).jpg"/>
          <p:cNvPicPr>
            <a:picLocks noChangeAspect="1"/>
          </p:cNvPicPr>
          <p:nvPr/>
        </p:nvPicPr>
        <p:blipFill>
          <a:blip r:embed="rId5"/>
          <a:srcRect l="20165" r="20165"/>
          <a:stretch/>
        </p:blipFill>
        <p:spPr>
          <a:xfrm>
            <a:off x="8092440" y="1234440"/>
            <a:ext cx="3611880" cy="2148840"/>
          </a:xfrm>
          <a:prstGeom prst="rect">
            <a:avLst/>
          </a:prstGeom>
        </p:spPr>
      </p:pic>
      <p:sp>
        <p:nvSpPr>
          <p:cNvPr id="7" name="Text 2"/>
          <p:cNvSpPr/>
          <p:nvPr/>
        </p:nvSpPr>
        <p:spPr>
          <a:xfrm>
            <a:off x="502920" y="3520440"/>
            <a:ext cx="3611880" cy="228600"/>
          </a:xfrm>
          <a:prstGeom prst="rect">
            <a:avLst/>
          </a:prstGeom>
          <a:noFill/>
          <a:ln/>
        </p:spPr>
        <p:txBody>
          <a:bodyPr wrap="square" lIns="0" tIns="0" rIns="0" bIns="0" rtlCol="0" anchor="ctr"/>
          <a:lstStyle/>
          <a:p>
            <a:pPr marL="0" indent="0" algn="ctr">
              <a:buNone/>
            </a:pPr>
            <a:r>
              <a:rPr lang="en-US" sz="1200" b="1" dirty="0">
                <a:solidFill>
                  <a:srgbClr val="20C7E8"/>
                </a:solidFill>
              </a:rPr>
              <a:t>1 • Simulation Wokwi</a:t>
            </a:r>
            <a:endParaRPr lang="en-US" sz="1200" dirty="0"/>
          </a:p>
        </p:txBody>
      </p:sp>
      <p:sp>
        <p:nvSpPr>
          <p:cNvPr id="8" name="Text 3"/>
          <p:cNvSpPr/>
          <p:nvPr/>
        </p:nvSpPr>
        <p:spPr>
          <a:xfrm>
            <a:off x="4297680" y="3520440"/>
            <a:ext cx="3611880" cy="228600"/>
          </a:xfrm>
          <a:prstGeom prst="rect">
            <a:avLst/>
          </a:prstGeom>
          <a:noFill/>
          <a:ln/>
        </p:spPr>
        <p:txBody>
          <a:bodyPr wrap="square" lIns="0" tIns="0" rIns="0" bIns="0" rtlCol="0" anchor="ctr"/>
          <a:lstStyle/>
          <a:p>
            <a:pPr marL="0" indent="0" algn="ctr">
              <a:buNone/>
            </a:pPr>
            <a:r>
              <a:rPr lang="en-US" sz="1200" b="1" dirty="0">
                <a:solidFill>
                  <a:srgbClr val="FFB547"/>
                </a:solidFill>
              </a:rPr>
              <a:t>2 • Indexation + anomalie</a:t>
            </a:r>
            <a:endParaRPr lang="en-US" sz="1200" dirty="0"/>
          </a:p>
        </p:txBody>
      </p:sp>
      <p:sp>
        <p:nvSpPr>
          <p:cNvPr id="9" name="Text 4"/>
          <p:cNvSpPr/>
          <p:nvPr/>
        </p:nvSpPr>
        <p:spPr>
          <a:xfrm>
            <a:off x="8092440" y="3520440"/>
            <a:ext cx="3611880" cy="228600"/>
          </a:xfrm>
          <a:prstGeom prst="rect">
            <a:avLst/>
          </a:prstGeom>
          <a:noFill/>
          <a:ln/>
        </p:spPr>
        <p:txBody>
          <a:bodyPr wrap="square" lIns="0" tIns="0" rIns="0" bIns="0" rtlCol="0" anchor="ctr"/>
          <a:lstStyle/>
          <a:p>
            <a:pPr marL="0" indent="0" algn="ctr">
              <a:buNone/>
            </a:pPr>
            <a:r>
              <a:rPr lang="en-US" sz="1200" b="1" dirty="0">
                <a:solidFill>
                  <a:srgbClr val="3DDC97"/>
                </a:solidFill>
              </a:rPr>
              <a:t>3 • API HTTP 200</a:t>
            </a:r>
            <a:endParaRPr lang="en-US" sz="1200" dirty="0"/>
          </a:p>
        </p:txBody>
      </p:sp>
      <p:sp>
        <p:nvSpPr>
          <p:cNvPr id="10" name="Shape 5"/>
          <p:cNvSpPr/>
          <p:nvPr/>
        </p:nvSpPr>
        <p:spPr>
          <a:xfrm>
            <a:off x="685800" y="4160520"/>
            <a:ext cx="3383280" cy="1325880"/>
          </a:xfrm>
          <a:prstGeom prst="roundRect">
            <a:avLst>
              <a:gd name="adj" fmla="val 4138"/>
            </a:avLst>
          </a:prstGeom>
          <a:solidFill>
            <a:srgbClr val="0D1B2A"/>
          </a:solidFill>
          <a:ln w="15240">
            <a:solidFill>
              <a:srgbClr val="20C7E8"/>
            </a:solidFill>
            <a:prstDash val="solid"/>
          </a:ln>
          <a:effectLst>
            <a:outerShdw blurRad="25400" dist="12700" dir="2700000" algn="bl" rotWithShape="0">
              <a:srgbClr val="000000">
                <a:alpha val="18000"/>
              </a:srgbClr>
            </a:outerShdw>
          </a:effectLst>
        </p:spPr>
      </p:sp>
      <p:sp>
        <p:nvSpPr>
          <p:cNvPr id="11" name="Text 6"/>
          <p:cNvSpPr/>
          <p:nvPr/>
        </p:nvSpPr>
        <p:spPr>
          <a:xfrm>
            <a:off x="886968" y="4343400"/>
            <a:ext cx="2980944" cy="246888"/>
          </a:xfrm>
          <a:prstGeom prst="rect">
            <a:avLst/>
          </a:prstGeom>
          <a:noFill/>
          <a:ln/>
        </p:spPr>
        <p:txBody>
          <a:bodyPr wrap="square" lIns="0" tIns="0" rIns="0" bIns="0" rtlCol="0" anchor="ctr"/>
          <a:lstStyle/>
          <a:p>
            <a:pPr marL="0" indent="0">
              <a:buNone/>
            </a:pPr>
            <a:r>
              <a:rPr lang="en-US" sz="1500" b="1" dirty="0">
                <a:solidFill>
                  <a:srgbClr val="20C7E8"/>
                </a:solidFill>
              </a:rPr>
              <a:t>Terrain</a:t>
            </a:r>
            <a:endParaRPr lang="en-US" sz="1500" dirty="0"/>
          </a:p>
        </p:txBody>
      </p:sp>
      <p:sp>
        <p:nvSpPr>
          <p:cNvPr id="12" name="Text 7"/>
          <p:cNvSpPr/>
          <p:nvPr/>
        </p:nvSpPr>
        <p:spPr>
          <a:xfrm>
            <a:off x="886968" y="4754880"/>
            <a:ext cx="2980944" cy="57607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Capteurs visibles et simulation active.</a:t>
            </a:r>
            <a:endParaRPr lang="en-US" sz="1100" dirty="0"/>
          </a:p>
        </p:txBody>
      </p:sp>
      <p:sp>
        <p:nvSpPr>
          <p:cNvPr id="13" name="Shape 8"/>
          <p:cNvSpPr/>
          <p:nvPr/>
        </p:nvSpPr>
        <p:spPr>
          <a:xfrm>
            <a:off x="4407408" y="4160520"/>
            <a:ext cx="3383280" cy="1325880"/>
          </a:xfrm>
          <a:prstGeom prst="roundRect">
            <a:avLst>
              <a:gd name="adj" fmla="val 4138"/>
            </a:avLst>
          </a:prstGeom>
          <a:solidFill>
            <a:srgbClr val="0D1B2A"/>
          </a:solidFill>
          <a:ln w="15240">
            <a:solidFill>
              <a:srgbClr val="FFB547"/>
            </a:solidFill>
            <a:prstDash val="solid"/>
          </a:ln>
          <a:effectLst>
            <a:outerShdw blurRad="25400" dist="12700" dir="2700000" algn="bl" rotWithShape="0">
              <a:srgbClr val="000000">
                <a:alpha val="18000"/>
              </a:srgbClr>
            </a:outerShdw>
          </a:effectLst>
        </p:spPr>
      </p:sp>
      <p:sp>
        <p:nvSpPr>
          <p:cNvPr id="14" name="Text 9"/>
          <p:cNvSpPr/>
          <p:nvPr/>
        </p:nvSpPr>
        <p:spPr>
          <a:xfrm>
            <a:off x="4608576" y="4343400"/>
            <a:ext cx="2980944" cy="246888"/>
          </a:xfrm>
          <a:prstGeom prst="rect">
            <a:avLst/>
          </a:prstGeom>
          <a:noFill/>
          <a:ln/>
        </p:spPr>
        <p:txBody>
          <a:bodyPr wrap="square" lIns="0" tIns="0" rIns="0" bIns="0" rtlCol="0" anchor="ctr"/>
          <a:lstStyle/>
          <a:p>
            <a:pPr marL="0" indent="0">
              <a:buNone/>
            </a:pPr>
            <a:r>
              <a:rPr lang="en-US" sz="1500" b="1" dirty="0">
                <a:solidFill>
                  <a:srgbClr val="FFB547"/>
                </a:solidFill>
              </a:rPr>
              <a:t>Traitement</a:t>
            </a:r>
            <a:endParaRPr lang="en-US" sz="1500" dirty="0"/>
          </a:p>
        </p:txBody>
      </p:sp>
      <p:sp>
        <p:nvSpPr>
          <p:cNvPr id="15" name="Text 10"/>
          <p:cNvSpPr/>
          <p:nvPr/>
        </p:nvSpPr>
        <p:spPr>
          <a:xfrm>
            <a:off x="4608576" y="4754880"/>
            <a:ext cx="2980944" cy="57607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Anomalie gaz détectée et document créé.</a:t>
            </a:r>
            <a:endParaRPr lang="en-US" sz="1100" dirty="0"/>
          </a:p>
        </p:txBody>
      </p:sp>
      <p:sp>
        <p:nvSpPr>
          <p:cNvPr id="16" name="Shape 11"/>
          <p:cNvSpPr/>
          <p:nvPr/>
        </p:nvSpPr>
        <p:spPr>
          <a:xfrm>
            <a:off x="8138160" y="4160520"/>
            <a:ext cx="3383280" cy="1325880"/>
          </a:xfrm>
          <a:prstGeom prst="roundRect">
            <a:avLst>
              <a:gd name="adj" fmla="val 4138"/>
            </a:avLst>
          </a:prstGeom>
          <a:solidFill>
            <a:srgbClr val="0D1B2A"/>
          </a:solidFill>
          <a:ln w="15240">
            <a:solidFill>
              <a:srgbClr val="3DDC97"/>
            </a:solidFill>
            <a:prstDash val="solid"/>
          </a:ln>
          <a:effectLst>
            <a:outerShdw blurRad="25400" dist="12700" dir="2700000" algn="bl" rotWithShape="0">
              <a:srgbClr val="000000">
                <a:alpha val="18000"/>
              </a:srgbClr>
            </a:outerShdw>
          </a:effectLst>
        </p:spPr>
      </p:sp>
      <p:sp>
        <p:nvSpPr>
          <p:cNvPr id="17" name="Text 12"/>
          <p:cNvSpPr/>
          <p:nvPr/>
        </p:nvSpPr>
        <p:spPr>
          <a:xfrm>
            <a:off x="8339328" y="4343400"/>
            <a:ext cx="2980944" cy="246888"/>
          </a:xfrm>
          <a:prstGeom prst="rect">
            <a:avLst/>
          </a:prstGeom>
          <a:noFill/>
          <a:ln/>
        </p:spPr>
        <p:txBody>
          <a:bodyPr wrap="square" lIns="0" tIns="0" rIns="0" bIns="0" rtlCol="0" anchor="ctr"/>
          <a:lstStyle/>
          <a:p>
            <a:pPr marL="0" indent="0">
              <a:buNone/>
            </a:pPr>
            <a:r>
              <a:rPr lang="en-US" sz="1500" b="1" dirty="0">
                <a:solidFill>
                  <a:srgbClr val="3DDC97"/>
                </a:solidFill>
              </a:rPr>
              <a:t>Exploitation</a:t>
            </a:r>
            <a:endParaRPr lang="en-US" sz="1500" dirty="0"/>
          </a:p>
        </p:txBody>
      </p:sp>
      <p:sp>
        <p:nvSpPr>
          <p:cNvPr id="18" name="Text 13"/>
          <p:cNvSpPr/>
          <p:nvPr/>
        </p:nvSpPr>
        <p:spPr>
          <a:xfrm>
            <a:off x="8339328" y="4754880"/>
            <a:ext cx="2980944" cy="57607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Compteur d’anomalies accessible par API.</a:t>
            </a:r>
            <a:endParaRPr lang="en-US" sz="1100" dirty="0"/>
          </a:p>
        </p:txBody>
      </p:sp>
      <p:sp>
        <p:nvSpPr>
          <p:cNvPr id="25" name="Slide Number Placeholder 0"/>
          <p:cNvSpPr>
            <a:spLocks noGrp="1"/>
          </p:cNvSpPr>
          <p:nvPr>
            <p:ph type="sldNum" sz="quarter" idx="4294967295"/>
          </p:nvPr>
        </p:nvSpPr>
        <p:spPr>
          <a:xfrm>
            <a:off x="11612880" y="649224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1859A"/>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548640" y="292608"/>
            <a:ext cx="3657600" cy="182880"/>
          </a:xfrm>
          <a:prstGeom prst="rect">
            <a:avLst/>
          </a:prstGeom>
          <a:noFill/>
          <a:ln/>
        </p:spPr>
        <p:txBody>
          <a:bodyPr wrap="square" lIns="0" tIns="0" rIns="0" bIns="0" rtlCol="0" anchor="ctr"/>
          <a:lstStyle/>
          <a:p>
            <a:pPr marL="0" indent="0">
              <a:buNone/>
            </a:pPr>
            <a:r>
              <a:rPr lang="en-US" sz="900" b="1" kern="0" spc="160" dirty="0">
                <a:solidFill>
                  <a:srgbClr val="19D3C5"/>
                </a:solidFill>
              </a:rPr>
              <a:t>11 • SYNTHÈSE</a:t>
            </a:r>
            <a:endParaRPr lang="en-US" sz="900" dirty="0"/>
          </a:p>
        </p:txBody>
      </p:sp>
      <p:sp>
        <p:nvSpPr>
          <p:cNvPr id="3" name="Text 1"/>
          <p:cNvSpPr/>
          <p:nvPr/>
        </p:nvSpPr>
        <p:spPr>
          <a:xfrm>
            <a:off x="548640" y="621792"/>
            <a:ext cx="10972800" cy="438912"/>
          </a:xfrm>
          <a:prstGeom prst="rect">
            <a:avLst/>
          </a:prstGeom>
          <a:noFill/>
          <a:ln/>
        </p:spPr>
        <p:txBody>
          <a:bodyPr wrap="square" lIns="0" tIns="0" rIns="0" bIns="0" rtlCol="0" anchor="ctr"/>
          <a:lstStyle/>
          <a:p>
            <a:pPr marL="0" indent="0">
              <a:buNone/>
            </a:pPr>
            <a:r>
              <a:rPr lang="en-US" sz="2700" b="1" dirty="0">
                <a:solidFill>
                  <a:srgbClr val="F5F9FC"/>
                </a:solidFill>
              </a:rPr>
              <a:t>Conclusion et perspectives</a:t>
            </a:r>
            <a:endParaRPr lang="en-US" sz="2700" dirty="0"/>
          </a:p>
        </p:txBody>
      </p:sp>
      <p:sp>
        <p:nvSpPr>
          <p:cNvPr id="4" name="Shape 2"/>
          <p:cNvSpPr/>
          <p:nvPr/>
        </p:nvSpPr>
        <p:spPr>
          <a:xfrm>
            <a:off x="594360" y="1280160"/>
            <a:ext cx="4983480" cy="4526280"/>
          </a:xfrm>
          <a:prstGeom prst="roundRect">
            <a:avLst>
              <a:gd name="adj" fmla="val 1212"/>
            </a:avLst>
          </a:prstGeom>
          <a:solidFill>
            <a:srgbClr val="0D1B2A"/>
          </a:solidFill>
          <a:ln w="15240">
            <a:solidFill>
              <a:srgbClr val="3DDC97"/>
            </a:solidFill>
            <a:prstDash val="solid"/>
          </a:ln>
          <a:effectLst>
            <a:outerShdw blurRad="25400" dist="12700" dir="2700000" algn="bl" rotWithShape="0">
              <a:srgbClr val="000000">
                <a:alpha val="18000"/>
              </a:srgbClr>
            </a:outerShdw>
          </a:effectLst>
        </p:spPr>
      </p:sp>
      <p:sp>
        <p:nvSpPr>
          <p:cNvPr id="5" name="Text 3"/>
          <p:cNvSpPr/>
          <p:nvPr/>
        </p:nvSpPr>
        <p:spPr>
          <a:xfrm>
            <a:off x="795528" y="1463040"/>
            <a:ext cx="4581144" cy="246888"/>
          </a:xfrm>
          <a:prstGeom prst="rect">
            <a:avLst/>
          </a:prstGeom>
          <a:noFill/>
          <a:ln/>
        </p:spPr>
        <p:txBody>
          <a:bodyPr wrap="square" lIns="0" tIns="0" rIns="0" bIns="0" rtlCol="0" anchor="ctr"/>
          <a:lstStyle/>
          <a:p>
            <a:pPr marL="0" indent="0">
              <a:buNone/>
            </a:pPr>
            <a:r>
              <a:rPr lang="en-US" sz="1500" b="1" dirty="0">
                <a:solidFill>
                  <a:srgbClr val="3DDC97"/>
                </a:solidFill>
              </a:rPr>
              <a:t>Résultats obtenus</a:t>
            </a:r>
            <a:endParaRPr lang="en-US" sz="1500" dirty="0"/>
          </a:p>
        </p:txBody>
      </p:sp>
      <p:sp>
        <p:nvSpPr>
          <p:cNvPr id="6" name="Text 4"/>
          <p:cNvSpPr/>
          <p:nvPr/>
        </p:nvSpPr>
        <p:spPr>
          <a:xfrm>
            <a:off x="795528" y="1874520"/>
            <a:ext cx="4581144" cy="377647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 Chaîne IoT complète</a:t>
            </a:r>
            <a:endParaRPr lang="en-US" sz="1100" dirty="0"/>
          </a:p>
          <a:p>
            <a:pPr marL="0" indent="0">
              <a:buNone/>
            </a:pPr>
            <a:r>
              <a:rPr lang="en-US" sz="1100" dirty="0">
                <a:solidFill>
                  <a:srgbClr val="A5B7C8"/>
                </a:solidFill>
              </a:rPr>
              <a:t>✓ Quatre capteurs simulés</a:t>
            </a:r>
            <a:endParaRPr lang="en-US" sz="1100" dirty="0"/>
          </a:p>
          <a:p>
            <a:pPr marL="0" indent="0">
              <a:buNone/>
            </a:pPr>
            <a:r>
              <a:rPr lang="en-US" sz="1100" dirty="0">
                <a:solidFill>
                  <a:srgbClr val="A5B7C8"/>
                </a:solidFill>
              </a:rPr>
              <a:t>✓ Détection explicable</a:t>
            </a:r>
            <a:endParaRPr lang="en-US" sz="1100" dirty="0"/>
          </a:p>
          <a:p>
            <a:pPr marL="0" indent="0">
              <a:buNone/>
            </a:pPr>
            <a:r>
              <a:rPr lang="en-US" sz="1100" dirty="0">
                <a:solidFill>
                  <a:srgbClr val="A5B7C8"/>
                </a:solidFill>
              </a:rPr>
              <a:t>✓ Alerte locale et distante</a:t>
            </a:r>
            <a:endParaRPr lang="en-US" sz="1100" dirty="0"/>
          </a:p>
          <a:p>
            <a:pPr marL="0" indent="0">
              <a:buNone/>
            </a:pPr>
            <a:r>
              <a:rPr lang="en-US" sz="1100" dirty="0">
                <a:solidFill>
                  <a:srgbClr val="A5B7C8"/>
                </a:solidFill>
              </a:rPr>
              <a:t>✓ Indexation Elasticsearch</a:t>
            </a:r>
            <a:endParaRPr lang="en-US" sz="1100" dirty="0"/>
          </a:p>
          <a:p>
            <a:pPr marL="0" indent="0">
              <a:buNone/>
            </a:pPr>
            <a:r>
              <a:rPr lang="en-US" sz="1100" dirty="0">
                <a:solidFill>
                  <a:srgbClr val="A5B7C8"/>
                </a:solidFill>
              </a:rPr>
              <a:t>✓ API et visualisation</a:t>
            </a:r>
            <a:endParaRPr lang="en-US" sz="1100" dirty="0"/>
          </a:p>
          <a:p>
            <a:pPr marL="0" indent="0">
              <a:buNone/>
            </a:pPr>
            <a:r>
              <a:rPr lang="en-US" sz="1100" dirty="0">
                <a:solidFill>
                  <a:srgbClr val="A5B7C8"/>
                </a:solidFill>
              </a:rPr>
              <a:t>✓ Déploiement Docker</a:t>
            </a:r>
            <a:endParaRPr lang="en-US" sz="1100" dirty="0"/>
          </a:p>
        </p:txBody>
      </p:sp>
      <p:sp>
        <p:nvSpPr>
          <p:cNvPr id="7" name="Shape 5"/>
          <p:cNvSpPr/>
          <p:nvPr/>
        </p:nvSpPr>
        <p:spPr>
          <a:xfrm>
            <a:off x="5852160" y="1280160"/>
            <a:ext cx="5715000" cy="4526280"/>
          </a:xfrm>
          <a:prstGeom prst="roundRect">
            <a:avLst>
              <a:gd name="adj" fmla="val 1212"/>
            </a:avLst>
          </a:prstGeom>
          <a:solidFill>
            <a:srgbClr val="0D1B2A"/>
          </a:solidFill>
          <a:ln w="15240">
            <a:solidFill>
              <a:srgbClr val="FFB547"/>
            </a:solidFill>
            <a:prstDash val="solid"/>
          </a:ln>
          <a:effectLst>
            <a:outerShdw blurRad="25400" dist="12700" dir="2700000" algn="bl" rotWithShape="0">
              <a:srgbClr val="000000">
                <a:alpha val="18000"/>
              </a:srgbClr>
            </a:outerShdw>
          </a:effectLst>
        </p:spPr>
      </p:sp>
      <p:sp>
        <p:nvSpPr>
          <p:cNvPr id="8" name="Text 6"/>
          <p:cNvSpPr/>
          <p:nvPr/>
        </p:nvSpPr>
        <p:spPr>
          <a:xfrm>
            <a:off x="6053328" y="1463040"/>
            <a:ext cx="5312664" cy="246888"/>
          </a:xfrm>
          <a:prstGeom prst="rect">
            <a:avLst/>
          </a:prstGeom>
          <a:noFill/>
          <a:ln/>
        </p:spPr>
        <p:txBody>
          <a:bodyPr wrap="square" lIns="0" tIns="0" rIns="0" bIns="0" rtlCol="0" anchor="ctr"/>
          <a:lstStyle/>
          <a:p>
            <a:pPr marL="0" indent="0">
              <a:buNone/>
            </a:pPr>
            <a:r>
              <a:rPr lang="en-US" sz="1500" b="1" dirty="0">
                <a:solidFill>
                  <a:srgbClr val="FFB547"/>
                </a:solidFill>
              </a:rPr>
              <a:t>Évolutions prioritaires</a:t>
            </a:r>
            <a:endParaRPr lang="en-US" sz="1500" dirty="0"/>
          </a:p>
        </p:txBody>
      </p:sp>
      <p:sp>
        <p:nvSpPr>
          <p:cNvPr id="9" name="Text 7"/>
          <p:cNvSpPr/>
          <p:nvPr/>
        </p:nvSpPr>
        <p:spPr>
          <a:xfrm>
            <a:off x="6053328" y="1874520"/>
            <a:ext cx="5312664" cy="3776472"/>
          </a:xfrm>
          <a:prstGeom prst="rect">
            <a:avLst/>
          </a:prstGeom>
          <a:noFill/>
          <a:ln/>
        </p:spPr>
        <p:txBody>
          <a:bodyPr wrap="square" lIns="254" tIns="254" rIns="254" bIns="254" rtlCol="0" anchor="ctr">
            <a:normAutofit/>
          </a:bodyPr>
          <a:lstStyle/>
          <a:p>
            <a:pPr marL="0" indent="0">
              <a:buNone/>
            </a:pPr>
            <a:r>
              <a:rPr lang="en-US" sz="1100" dirty="0">
                <a:solidFill>
                  <a:srgbClr val="A5B7C8"/>
                </a:solidFill>
              </a:rPr>
              <a:t>01 • TLS et authentification MQTT</a:t>
            </a:r>
            <a:endParaRPr lang="en-US" sz="1100" dirty="0"/>
          </a:p>
          <a:p>
            <a:pPr marL="0" indent="0">
              <a:buNone/>
            </a:pPr>
            <a:r>
              <a:rPr lang="en-US" sz="1100" dirty="0">
                <a:solidFill>
                  <a:srgbClr val="A5B7C8"/>
                </a:solidFill>
              </a:rPr>
              <a:t>02 • Broker privé et gestion des secrets</a:t>
            </a:r>
            <a:endParaRPr lang="en-US" sz="1100" dirty="0"/>
          </a:p>
          <a:p>
            <a:pPr marL="0" indent="0">
              <a:buNone/>
            </a:pPr>
            <a:r>
              <a:rPr lang="en-US" sz="1100" dirty="0">
                <a:solidFill>
                  <a:srgbClr val="A5B7C8"/>
                </a:solidFill>
              </a:rPr>
              <a:t>03 • Multi-devices et gestion de flotte</a:t>
            </a:r>
            <a:endParaRPr lang="en-US" sz="1100" dirty="0"/>
          </a:p>
          <a:p>
            <a:pPr marL="0" indent="0">
              <a:buNone/>
            </a:pPr>
            <a:r>
              <a:rPr lang="en-US" sz="1100" dirty="0">
                <a:solidFill>
                  <a:srgbClr val="A5B7C8"/>
                </a:solidFill>
              </a:rPr>
              <a:t>04 • Machine learning pour les anomalies</a:t>
            </a:r>
            <a:endParaRPr lang="en-US" sz="1100" dirty="0"/>
          </a:p>
          <a:p>
            <a:pPr marL="0" indent="0">
              <a:buNone/>
            </a:pPr>
            <a:r>
              <a:rPr lang="en-US" sz="1100" dirty="0">
                <a:solidFill>
                  <a:srgbClr val="A5B7C8"/>
                </a:solidFill>
              </a:rPr>
              <a:t>05 • Nouveaux capteurs et tests automatisés</a:t>
            </a:r>
            <a:endParaRPr lang="en-US" sz="1100" dirty="0"/>
          </a:p>
        </p:txBody>
      </p:sp>
      <p:sp>
        <p:nvSpPr>
          <p:cNvPr id="10" name="Text 8"/>
          <p:cNvSpPr/>
          <p:nvPr/>
        </p:nvSpPr>
        <p:spPr>
          <a:xfrm>
            <a:off x="1188720" y="6053328"/>
            <a:ext cx="9784080" cy="274320"/>
          </a:xfrm>
          <a:prstGeom prst="rect">
            <a:avLst/>
          </a:prstGeom>
          <a:noFill/>
          <a:ln/>
        </p:spPr>
        <p:txBody>
          <a:bodyPr wrap="square" lIns="0" tIns="0" rIns="0" bIns="0" rtlCol="0" anchor="ctr"/>
          <a:lstStyle/>
          <a:p>
            <a:pPr marL="0" indent="0" algn="ctr">
              <a:buNone/>
            </a:pPr>
            <a:r>
              <a:rPr lang="en-US" sz="1500" b="1" dirty="0">
                <a:solidFill>
                  <a:srgbClr val="20C7E8"/>
                </a:solidFill>
              </a:rPr>
              <a:t>Un socle reproductible pour évoluer vers un smart building sécurisé et prédictif.</a:t>
            </a:r>
            <a:endParaRPr lang="en-US" sz="1500" dirty="0"/>
          </a:p>
        </p:txBody>
      </p:sp>
      <p:sp>
        <p:nvSpPr>
          <p:cNvPr id="25" name="Slide Number Placeholder 0"/>
          <p:cNvSpPr>
            <a:spLocks noGrp="1"/>
          </p:cNvSpPr>
          <p:nvPr>
            <p:ph type="sldNum" sz="quarter" idx="4294967295"/>
          </p:nvPr>
        </p:nvSpPr>
        <p:spPr>
          <a:xfrm>
            <a:off x="11612880" y="649224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1859A"/>
                </a:solidFill>
              </a:defRPr>
            </a:lvl1pPr>
          </a:lstStyle>
          <a:p>
            <a:pPr algn="l"/>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59934039-ae21-42ab-8848-d62b6328cef8}" enabled="1" method="Privileged" siteId="{61ed2b68-f880-49d7-bbc9-9a645e9dcf7c}"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Monitoring Platform</dc:title>
  <dc:subject>PptxGenJS Presentation</dc:subject>
  <dc:creator>BTECH - EL HAMZI, MOHAMED</dc:creator>
  <cp:lastModifiedBy>BTECH - EL HAMZI, MOHAMED</cp:lastModifiedBy>
  <cp:revision>4</cp:revision>
  <dcterms:created xsi:type="dcterms:W3CDTF">2026-09-08T17:26:06Z</dcterms:created>
  <dcterms:modified xsi:type="dcterms:W3CDTF">2026-09-08T17:27:43Z</dcterms:modified>
</cp:coreProperties>
</file>